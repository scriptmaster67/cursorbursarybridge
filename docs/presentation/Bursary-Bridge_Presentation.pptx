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CPP Mchunu — 0:20.
Say hello, give the project name in one line, and introduce the four of us by name only. Do not read the student numbers out.
Main point: say in one sentence what Bursary-Bridge does. It matches South African students to bursaries they qualify for, and helps companies handle the applications they get.
Words to use: matching, bursary, funder. Then move straight on to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CPP Mchunu — 0:25.
Explain that for most of these students the big question is money, not marks. NSFAS answers it for one group and is easy to find. Everything outside NSFAS is the problem.
Main point: the other bursaries are not badly organised, they are not organised at all. Three different places, all just writing it out as a page for a person to read.
Do not read the three places out one by one. Name them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CPP Mchunu — 0:26.
Walk across the top row once, quickly. Then give the two sides underneath.
Main point: the dark strip at the bottom is what turns this from an opinion into a finding, so say the numbers. A student faces exactly this, with nothing to filter out the unclear ones for them.
Then hand over to Nsibande.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Nsibande — 0:40.
Read the goal out properly. It is marked on its own. Then say we set ten measurable objectives, and these are the ones that shaped what we built.
Main point: the first one is the key. Everything else depends on the rules being stored as data instead of sentences, because a computer cannot check a sentence.
Do not read all six out. Name two or three and let the slide do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Nsibande — 0:44.
This is the main idea slide, so give it room. A student fills in their details once. A company enters its rules once, in boxes instead of sentences. The system uses the two together.
Main point: it works for both sides. Most things that already exist only help one side.
Then hand over to Bikile.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 Bikile — 0:30.
Do not read the technology names out. Explain the shape instead: what the user sees is kept separate from the working parts, and those are kept separate from the matching rules.
Main point: the matching rules do not touch the database, which is why we can test them directly. And we check who is allowed to see what at the top of every request, so if someone is not allowed, they get nothing back rather than another persons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 Bikile — 0:47.
Do not read twelve items out. Walk the student column as a story: profile, matches, apply. Then the company column as a story: advertise, receive, review, choose.
Main point: uploading many forms at once exists because companies also get applications by email. Possible duplicates are flagged for a person to decide on, and nothing is saved until somebody confirms it.
Then hand over to Tshazi.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 Tshazi — 0:40.
This is the strongest technical point in the project. One profile, two separate questions.
Do they qualify? That is checked against the rules the company published, and the answer is qualifies, does not qualify, or we need more information. How well do they fit? That is a score out of 100, with the reason for each rule shown next to it.
Main point: we keep these apart on purpose, so a high score never suggests a student qualifies when they do not. And if we cannot check a rule, it still counts partly and we say so. We never just mark it failed, because that would hide a bursary the student might actually get.
Expect a question here. Answer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 Tshazi — 0:25.
Do not explain what Scrum is. The examiner knows. Explain why this project needed it: we could not know what rules companies use until we looked at what they publish, so the design kept changing. Waterfall would have locked it in too early.
Main point on value: telling a student why they scored what they did is something the current way never gives back.
Keep this quick. It is the shortest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 Tshazi — 0:17.
Three sentences, one per block, then stop and move to the live system.
Main point: this slide exists to hand over to the demo, which carries 30 of the 100 marks. Have the system open and signed in before you start.
Do not add anything new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E24"/>
        </a:solidFill>
      </p:bgPr>
    </p:bg>
    <p:spTree>
      <p:nvGrpSpPr>
        <p:cNvPr id="1" name=""/>
        <p:cNvGrpSpPr/>
        <p:nvPr/>
      </p:nvGrpSpPr>
      <p:grpSpPr>
        <a:xfrm>
          <a:off x="0" y="0"/>
          <a:ext cx="0" cy="0"/>
          <a:chOff x="0" y="0"/>
          <a:chExt cx="0" cy="0"/>
        </a:xfrm>
      </p:grpSpPr>
      <p:sp>
        <p:nvSpPr>
          <p:cNvPr id="2" name="Text 0"/>
          <p:cNvSpPr txBox="1"/>
          <p:nvPr/>
        </p:nvSpPr>
        <p:spPr>
          <a:xfrm>
            <a:off x="566928" y="1325880"/>
            <a:ext cx="11027664" cy="96012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Bursary-Bridge</a:t>
            </a:r>
            <a:endParaRPr lang="en-US" sz="5200" dirty="0"/>
          </a:p>
        </p:txBody>
      </p:sp>
      <p:sp>
        <p:nvSpPr>
          <p:cNvPr id="3" name="Text 1"/>
          <p:cNvSpPr txBox="1"/>
          <p:nvPr/>
        </p:nvSpPr>
        <p:spPr>
          <a:xfrm>
            <a:off x="566928" y="2331720"/>
            <a:ext cx="9509760" cy="777240"/>
          </a:xfrm>
          <a:prstGeom prst="rect">
            <a:avLst/>
          </a:prstGeom>
          <a:noFill/>
          <a:ln/>
        </p:spPr>
        <p:txBody>
          <a:bodyPr wrap="square" lIns="0" tIns="0" rIns="0" bIns="0" rtlCol="0" anchor="ctr"/>
          <a:lstStyle/>
          <a:p>
            <a:pPr indent="0" marL="0">
              <a:lnSpc>
                <a:spcPct val="125000"/>
              </a:lnSpc>
              <a:buNone/>
            </a:pPr>
            <a:r>
              <a:rPr lang="en-US" sz="1600" i="1" dirty="0">
                <a:solidFill>
                  <a:srgbClr val="9DBFA8"/>
                </a:solidFill>
                <a:latin typeface="Calibri" pitchFamily="34" charset="0"/>
                <a:ea typeface="Calibri" pitchFamily="34" charset="-122"/>
                <a:cs typeface="Calibri" pitchFamily="34" charset="-120"/>
              </a:rPr>
              <a:t>A Web-Based Bursary Matching and Application Management System</a:t>
            </a:r>
            <a:endParaRPr lang="en-US" sz="1600" dirty="0"/>
          </a:p>
          <a:p>
            <a:pPr indent="0" marL="0">
              <a:lnSpc>
                <a:spcPct val="125000"/>
              </a:lnSpc>
              <a:buNone/>
            </a:pPr>
            <a:r>
              <a:rPr lang="en-US" sz="1600" i="1" dirty="0">
                <a:solidFill>
                  <a:srgbClr val="9DBFA8"/>
                </a:solidFill>
                <a:latin typeface="Calibri" pitchFamily="34" charset="0"/>
                <a:ea typeface="Calibri" pitchFamily="34" charset="-122"/>
                <a:cs typeface="Calibri" pitchFamily="34" charset="-120"/>
              </a:rPr>
              <a:t>for South African Students and Funding Organisations</a:t>
            </a:r>
            <a:endParaRPr lang="en-US" sz="1600" dirty="0"/>
          </a:p>
        </p:txBody>
      </p:sp>
      <p:sp>
        <p:nvSpPr>
          <p:cNvPr id="4" name="Text 2"/>
          <p:cNvSpPr txBox="1"/>
          <p:nvPr/>
        </p:nvSpPr>
        <p:spPr>
          <a:xfrm>
            <a:off x="566928"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CPP Mchunu</a:t>
            </a:r>
            <a:endParaRPr lang="en-US" sz="1450" dirty="0"/>
          </a:p>
        </p:txBody>
      </p:sp>
      <p:sp>
        <p:nvSpPr>
          <p:cNvPr id="5" name="Text 3"/>
          <p:cNvSpPr txBox="1"/>
          <p:nvPr/>
        </p:nvSpPr>
        <p:spPr>
          <a:xfrm>
            <a:off x="566928"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202242486</a:t>
            </a:r>
            <a:endParaRPr lang="en-US" sz="1250" dirty="0"/>
          </a:p>
        </p:txBody>
      </p:sp>
      <p:sp>
        <p:nvSpPr>
          <p:cNvPr id="6" name="Text 4"/>
          <p:cNvSpPr txBox="1"/>
          <p:nvPr/>
        </p:nvSpPr>
        <p:spPr>
          <a:xfrm>
            <a:off x="3291840"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 Nsibande</a:t>
            </a:r>
            <a:endParaRPr lang="en-US" sz="1450" dirty="0"/>
          </a:p>
        </p:txBody>
      </p:sp>
      <p:sp>
        <p:nvSpPr>
          <p:cNvPr id="7" name="Text 5"/>
          <p:cNvSpPr txBox="1"/>
          <p:nvPr/>
        </p:nvSpPr>
        <p:spPr>
          <a:xfrm>
            <a:off x="3291840"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240079346</a:t>
            </a:r>
            <a:endParaRPr lang="en-US" sz="1250" dirty="0"/>
          </a:p>
        </p:txBody>
      </p:sp>
      <p:sp>
        <p:nvSpPr>
          <p:cNvPr id="8" name="Text 6"/>
          <p:cNvSpPr txBox="1"/>
          <p:nvPr/>
        </p:nvSpPr>
        <p:spPr>
          <a:xfrm>
            <a:off x="6016752"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KN Bikile</a:t>
            </a:r>
            <a:endParaRPr lang="en-US" sz="1450" dirty="0"/>
          </a:p>
        </p:txBody>
      </p:sp>
      <p:sp>
        <p:nvSpPr>
          <p:cNvPr id="9" name="Text 7"/>
          <p:cNvSpPr txBox="1"/>
          <p:nvPr/>
        </p:nvSpPr>
        <p:spPr>
          <a:xfrm>
            <a:off x="6016752"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202356797</a:t>
            </a:r>
            <a:endParaRPr lang="en-US" sz="1250" dirty="0"/>
          </a:p>
        </p:txBody>
      </p:sp>
      <p:sp>
        <p:nvSpPr>
          <p:cNvPr id="10" name="Text 8"/>
          <p:cNvSpPr txBox="1"/>
          <p:nvPr/>
        </p:nvSpPr>
        <p:spPr>
          <a:xfrm>
            <a:off x="8741664" y="3977640"/>
            <a:ext cx="2487168"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SP Tshazi</a:t>
            </a:r>
            <a:endParaRPr lang="en-US" sz="1450" dirty="0"/>
          </a:p>
        </p:txBody>
      </p:sp>
      <p:sp>
        <p:nvSpPr>
          <p:cNvPr id="11" name="Text 9"/>
          <p:cNvSpPr txBox="1"/>
          <p:nvPr/>
        </p:nvSpPr>
        <p:spPr>
          <a:xfrm>
            <a:off x="8741664" y="4279392"/>
            <a:ext cx="2487168" cy="256032"/>
          </a:xfrm>
          <a:prstGeom prst="rect">
            <a:avLst/>
          </a:prstGeom>
          <a:noFill/>
          <a:ln/>
        </p:spPr>
        <p:txBody>
          <a:bodyPr wrap="square" lIns="0" tIns="0" rIns="0" bIns="0" rtlCol="0" anchor="ctr"/>
          <a:lstStyle/>
          <a:p>
            <a:pPr indent="0" marL="0">
              <a:buNone/>
            </a:pPr>
            <a:r>
              <a:rPr lang="en-US" sz="1250" dirty="0">
                <a:solidFill>
                  <a:srgbClr val="9DBFA8"/>
                </a:solidFill>
                <a:latin typeface="Calibri" pitchFamily="34" charset="0"/>
                <a:ea typeface="Calibri" pitchFamily="34" charset="-122"/>
                <a:cs typeface="Calibri" pitchFamily="34" charset="-120"/>
              </a:rPr>
              <a:t>240103222</a:t>
            </a:r>
            <a:endParaRPr lang="en-US" sz="1250" dirty="0"/>
          </a:p>
        </p:txBody>
      </p:sp>
      <p:sp>
        <p:nvSpPr>
          <p:cNvPr id="12" name="Text 10"/>
          <p:cNvSpPr txBox="1"/>
          <p:nvPr/>
        </p:nvSpPr>
        <p:spPr>
          <a:xfrm>
            <a:off x="566928" y="5394960"/>
            <a:ext cx="11027664" cy="292608"/>
          </a:xfrm>
          <a:prstGeom prst="rect">
            <a:avLst/>
          </a:prstGeom>
          <a:noFill/>
          <a:ln/>
        </p:spPr>
        <p:txBody>
          <a:bodyPr wrap="square" lIns="0" tIns="0" rIns="0" bIns="0" rtlCol="0" anchor="ctr"/>
          <a:lstStyle/>
          <a:p>
            <a:pPr indent="0" marL="0">
              <a:buNone/>
            </a:pPr>
            <a:r>
              <a:rPr lang="en-US" sz="1350" dirty="0">
                <a:solidFill>
                  <a:srgbClr val="9DBFA8"/>
                </a:solidFill>
                <a:latin typeface="Calibri" pitchFamily="34" charset="0"/>
                <a:ea typeface="Calibri" pitchFamily="34" charset="-122"/>
                <a:cs typeface="Calibri" pitchFamily="34" charset="-120"/>
              </a:rPr>
              <a:t>Supervisor: Ms Zulu</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Background and Context</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Who needs money to study, and where bursaries are advertised</a:t>
            </a:r>
            <a:endParaRPr lang="en-US" sz="1250" dirty="0"/>
          </a:p>
        </p:txBody>
      </p:sp>
      <p:sp>
        <p:nvSpPr>
          <p:cNvPr id="4" name="Shape 2"/>
          <p:cNvSpPr/>
          <p:nvPr/>
        </p:nvSpPr>
        <p:spPr>
          <a:xfrm>
            <a:off x="566928" y="1572768"/>
            <a:ext cx="4892040" cy="2011680"/>
          </a:xfrm>
          <a:prstGeom prst="roundRect">
            <a:avLst>
              <a:gd name="adj" fmla="val 4091"/>
            </a:avLst>
          </a:prstGeom>
          <a:solidFill>
            <a:srgbClr val="0F5132"/>
          </a:solidFill>
          <a:ln w="12700">
            <a:solidFill>
              <a:srgbClr val="0F5132"/>
            </a:solidFill>
            <a:prstDash val="solid"/>
          </a:ln>
        </p:spPr>
      </p:sp>
      <p:sp>
        <p:nvSpPr>
          <p:cNvPr id="5" name="Text 3"/>
          <p:cNvSpPr txBox="1"/>
          <p:nvPr/>
        </p:nvSpPr>
        <p:spPr>
          <a:xfrm>
            <a:off x="841248" y="1783080"/>
            <a:ext cx="4343400" cy="77724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1 358 169</a:t>
            </a:r>
            <a:endParaRPr lang="en-US" sz="4600" dirty="0"/>
          </a:p>
        </p:txBody>
      </p:sp>
      <p:sp>
        <p:nvSpPr>
          <p:cNvPr id="6" name="Text 4"/>
          <p:cNvSpPr txBox="1"/>
          <p:nvPr/>
        </p:nvSpPr>
        <p:spPr>
          <a:xfrm>
            <a:off x="841248" y="2578608"/>
            <a:ext cx="4343400" cy="731520"/>
          </a:xfrm>
          <a:prstGeom prst="rect">
            <a:avLst/>
          </a:prstGeom>
          <a:noFill/>
          <a:ln/>
        </p:spPr>
        <p:txBody>
          <a:bodyPr wrap="square" lIns="0" tIns="0" rIns="0" bIns="0" rtlCol="0" anchor="ctr"/>
          <a:lstStyle/>
          <a:p>
            <a:pPr indent="0" marL="0">
              <a:lnSpc>
                <a:spcPct val="120000"/>
              </a:lnSpc>
              <a:buNone/>
            </a:pPr>
            <a:r>
              <a:rPr lang="en-US" sz="1350" dirty="0">
                <a:solidFill>
                  <a:srgbClr val="9DBFA8"/>
                </a:solidFill>
                <a:latin typeface="Calibri" pitchFamily="34" charset="0"/>
                <a:ea typeface="Calibri" pitchFamily="34" charset="-122"/>
                <a:cs typeface="Calibri" pitchFamily="34" charset="-120"/>
              </a:rPr>
              <a:t>students in South African universities and colleges, 2023</a:t>
            </a:r>
            <a:endParaRPr lang="en-US" sz="1350" dirty="0"/>
          </a:p>
        </p:txBody>
      </p:sp>
      <p:sp>
        <p:nvSpPr>
          <p:cNvPr id="7" name="Shape 5"/>
          <p:cNvSpPr/>
          <p:nvPr/>
        </p:nvSpPr>
        <p:spPr>
          <a:xfrm>
            <a:off x="566928" y="3730752"/>
            <a:ext cx="4892040" cy="1810512"/>
          </a:xfrm>
          <a:prstGeom prst="roundRect">
            <a:avLst>
              <a:gd name="adj" fmla="val 4545"/>
            </a:avLst>
          </a:prstGeom>
          <a:solidFill>
            <a:srgbClr val="EDF3EF"/>
          </a:solidFill>
          <a:ln w="12700">
            <a:solidFill>
              <a:srgbClr val="EDF3EF"/>
            </a:solidFill>
            <a:prstDash val="solid"/>
          </a:ln>
        </p:spPr>
      </p:sp>
      <p:sp>
        <p:nvSpPr>
          <p:cNvPr id="8" name="Text 6"/>
          <p:cNvSpPr txBox="1"/>
          <p:nvPr/>
        </p:nvSpPr>
        <p:spPr>
          <a:xfrm>
            <a:off x="804672" y="3895344"/>
            <a:ext cx="4416552"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NSFAS — one clear place to apply</a:t>
            </a:r>
            <a:endParaRPr lang="en-US" sz="1450" dirty="0"/>
          </a:p>
        </p:txBody>
      </p:sp>
      <p:sp>
        <p:nvSpPr>
          <p:cNvPr id="9" name="Text 7"/>
          <p:cNvSpPr txBox="1"/>
          <p:nvPr/>
        </p:nvSpPr>
        <p:spPr>
          <a:xfrm>
            <a:off x="804672" y="4261104"/>
            <a:ext cx="4416552" cy="111556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For families earning under R350 000 a year</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One application, one set of rules, clearly published</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Families earning a little more only get a loan, not a bursary</a:t>
            </a:r>
            <a:endParaRPr lang="en-US" sz="1250" dirty="0"/>
          </a:p>
        </p:txBody>
      </p:sp>
      <p:sp>
        <p:nvSpPr>
          <p:cNvPr id="10" name="Text 8"/>
          <p:cNvSpPr txBox="1"/>
          <p:nvPr/>
        </p:nvSpPr>
        <p:spPr>
          <a:xfrm>
            <a:off x="5824728" y="1572768"/>
            <a:ext cx="5769864" cy="329184"/>
          </a:xfrm>
          <a:prstGeom prst="rect">
            <a:avLst/>
          </a:prstGeom>
          <a:noFill/>
          <a:ln/>
        </p:spPr>
        <p:txBody>
          <a:bodyPr wrap="square" lIns="0" tIns="0" rIns="0" bIns="0" rtlCol="0" anchor="ctr"/>
          <a:lstStyle/>
          <a:p>
            <a:pPr indent="0" marL="0">
              <a:buNone/>
            </a:pPr>
            <a:r>
              <a:rPr lang="en-US" sz="1500" b="1" dirty="0">
                <a:solidFill>
                  <a:srgbClr val="16211C"/>
                </a:solidFill>
                <a:latin typeface="Calibri" pitchFamily="34" charset="0"/>
                <a:ea typeface="Calibri" pitchFamily="34" charset="-122"/>
                <a:cs typeface="Calibri" pitchFamily="34" charset="-120"/>
              </a:rPr>
              <a:t>Every other bursary is spread across many websites</a:t>
            </a:r>
            <a:endParaRPr lang="en-US" sz="1500" dirty="0"/>
          </a:p>
        </p:txBody>
      </p:sp>
      <p:sp>
        <p:nvSpPr>
          <p:cNvPr id="11" name="Text 9"/>
          <p:cNvSpPr txBox="1"/>
          <p:nvPr/>
        </p:nvSpPr>
        <p:spPr>
          <a:xfrm>
            <a:off x="5824728" y="2139696"/>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6245352" y="2084832"/>
            <a:ext cx="5349240" cy="274320"/>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Bursary listing websites</a:t>
            </a:r>
            <a:endParaRPr lang="en-US" sz="1350" dirty="0"/>
          </a:p>
        </p:txBody>
      </p:sp>
      <p:sp>
        <p:nvSpPr>
          <p:cNvPr id="13" name="Text 11"/>
          <p:cNvSpPr txBox="1"/>
          <p:nvPr/>
        </p:nvSpPr>
        <p:spPr>
          <a:xfrm>
            <a:off x="6245352" y="2368296"/>
            <a:ext cx="5349240" cy="310896"/>
          </a:xfrm>
          <a:prstGeom prst="rect">
            <a:avLst/>
          </a:prstGeom>
          <a:noFill/>
          <a:ln/>
        </p:spPr>
        <p:txBody>
          <a:bodyPr wrap="square" lIns="0" tIns="0" rIns="0" bIns="0" rtlCol="0" anchor="ctr"/>
          <a:lstStyle/>
          <a:p>
            <a:pPr indent="0" marL="0">
              <a:buNone/>
            </a:pPr>
            <a:r>
              <a:rPr lang="en-US" sz="1200" dirty="0">
                <a:solidFill>
                  <a:srgbClr val="5E6B64"/>
                </a:solidFill>
                <a:latin typeface="Calibri" pitchFamily="34" charset="0"/>
                <a:ea typeface="Calibri" pitchFamily="34" charset="-122"/>
                <a:cs typeface="Calibri" pitchFamily="34" charset="-120"/>
              </a:rPr>
              <a:t>Bursaries written up as articles</a:t>
            </a:r>
            <a:endParaRPr lang="en-US" sz="1200" dirty="0"/>
          </a:p>
        </p:txBody>
      </p:sp>
      <p:sp>
        <p:nvSpPr>
          <p:cNvPr id="14" name="Text 12"/>
          <p:cNvSpPr txBox="1"/>
          <p:nvPr/>
        </p:nvSpPr>
        <p:spPr>
          <a:xfrm>
            <a:off x="5824728" y="307238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6245352" y="3017520"/>
            <a:ext cx="5349240" cy="274320"/>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Company websites</a:t>
            </a:r>
            <a:endParaRPr lang="en-US" sz="1350" dirty="0"/>
          </a:p>
        </p:txBody>
      </p:sp>
      <p:sp>
        <p:nvSpPr>
          <p:cNvPr id="16" name="Text 14"/>
          <p:cNvSpPr txBox="1"/>
          <p:nvPr/>
        </p:nvSpPr>
        <p:spPr>
          <a:xfrm>
            <a:off x="6245352" y="3300984"/>
            <a:ext cx="5349240" cy="310896"/>
          </a:xfrm>
          <a:prstGeom prst="rect">
            <a:avLst/>
          </a:prstGeom>
          <a:noFill/>
          <a:ln/>
        </p:spPr>
        <p:txBody>
          <a:bodyPr wrap="square" lIns="0" tIns="0" rIns="0" bIns="0" rtlCol="0" anchor="ctr"/>
          <a:lstStyle/>
          <a:p>
            <a:pPr indent="0" marL="0">
              <a:buNone/>
            </a:pPr>
            <a:r>
              <a:rPr lang="en-US" sz="1200" dirty="0">
                <a:solidFill>
                  <a:srgbClr val="5E6B64"/>
                </a:solidFill>
                <a:latin typeface="Calibri" pitchFamily="34" charset="0"/>
                <a:ea typeface="Calibri" pitchFamily="34" charset="-122"/>
                <a:cs typeface="Calibri" pitchFamily="34" charset="-120"/>
              </a:rPr>
              <a:t>On a careers page, often a PDF to download</a:t>
            </a:r>
            <a:endParaRPr lang="en-US" sz="1200" dirty="0"/>
          </a:p>
        </p:txBody>
      </p:sp>
      <p:sp>
        <p:nvSpPr>
          <p:cNvPr id="17" name="Text 15"/>
          <p:cNvSpPr txBox="1"/>
          <p:nvPr/>
        </p:nvSpPr>
        <p:spPr>
          <a:xfrm>
            <a:off x="5824728" y="400507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245352" y="3950208"/>
            <a:ext cx="5349240" cy="274320"/>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University aid offices</a:t>
            </a:r>
            <a:endParaRPr lang="en-US" sz="1350" dirty="0"/>
          </a:p>
        </p:txBody>
      </p:sp>
      <p:sp>
        <p:nvSpPr>
          <p:cNvPr id="19" name="Text 17"/>
          <p:cNvSpPr txBox="1"/>
          <p:nvPr/>
        </p:nvSpPr>
        <p:spPr>
          <a:xfrm>
            <a:off x="6245352" y="4233672"/>
            <a:ext cx="5349240" cy="310896"/>
          </a:xfrm>
          <a:prstGeom prst="rect">
            <a:avLst/>
          </a:prstGeom>
          <a:noFill/>
          <a:ln/>
        </p:spPr>
        <p:txBody>
          <a:bodyPr wrap="square" lIns="0" tIns="0" rIns="0" bIns="0" rtlCol="0" anchor="ctr"/>
          <a:lstStyle/>
          <a:p>
            <a:pPr indent="0" marL="0">
              <a:buNone/>
            </a:pPr>
            <a:r>
              <a:rPr lang="en-US" sz="1200" dirty="0">
                <a:solidFill>
                  <a:srgbClr val="5E6B64"/>
                </a:solidFill>
                <a:latin typeface="Calibri" pitchFamily="34" charset="0"/>
                <a:ea typeface="Calibri" pitchFamily="34" charset="-122"/>
                <a:cs typeface="Calibri" pitchFamily="34" charset="-120"/>
              </a:rPr>
              <a:t>Notice boards, emails and campus portals</a:t>
            </a:r>
            <a:endParaRPr lang="en-US" sz="1200" dirty="0"/>
          </a:p>
        </p:txBody>
      </p:sp>
      <p:sp>
        <p:nvSpPr>
          <p:cNvPr id="20" name="Shape 18"/>
          <p:cNvSpPr/>
          <p:nvPr/>
        </p:nvSpPr>
        <p:spPr>
          <a:xfrm>
            <a:off x="5824728" y="4956048"/>
            <a:ext cx="5769864" cy="585216"/>
          </a:xfrm>
          <a:prstGeom prst="roundRect">
            <a:avLst>
              <a:gd name="adj" fmla="val 14063"/>
            </a:avLst>
          </a:prstGeom>
          <a:solidFill>
            <a:srgbClr val="EDF3EF"/>
          </a:solidFill>
          <a:ln w="12700">
            <a:solidFill>
              <a:srgbClr val="EDF3EF"/>
            </a:solidFill>
            <a:prstDash val="solid"/>
          </a:ln>
        </p:spPr>
      </p:sp>
      <p:sp>
        <p:nvSpPr>
          <p:cNvPr id="21" name="Text 19"/>
          <p:cNvSpPr txBox="1"/>
          <p:nvPr/>
        </p:nvSpPr>
        <p:spPr>
          <a:xfrm>
            <a:off x="6062472" y="5120640"/>
            <a:ext cx="5294376" cy="310896"/>
          </a:xfrm>
          <a:prstGeom prst="rect">
            <a:avLst/>
          </a:prstGeom>
          <a:noFill/>
          <a:ln/>
        </p:spPr>
        <p:txBody>
          <a:bodyPr wrap="square" lIns="0" tIns="0" rIns="0" bIns="0" rtlCol="0" anchor="ctr"/>
          <a:lstStyle/>
          <a:p>
            <a:pPr indent="0" marL="0">
              <a:buNone/>
            </a:pPr>
            <a:r>
              <a:rPr lang="en-US" sz="1350" b="1" dirty="0">
                <a:solidFill>
                  <a:srgbClr val="0F5132"/>
                </a:solidFill>
                <a:latin typeface="Calibri" pitchFamily="34" charset="0"/>
                <a:ea typeface="Calibri" pitchFamily="34" charset="-122"/>
                <a:cs typeface="Calibri" pitchFamily="34" charset="-120"/>
              </a:rPr>
              <a:t>No single list. No shared application form.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Problem Statement</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Every step is done by hand</a:t>
            </a:r>
            <a:endParaRPr lang="en-US" sz="1250" dirty="0"/>
          </a:p>
        </p:txBody>
      </p:sp>
      <p:sp>
        <p:nvSpPr>
          <p:cNvPr id="4" name="Text 2"/>
          <p:cNvSpPr txBox="1"/>
          <p:nvPr/>
        </p:nvSpPr>
        <p:spPr>
          <a:xfrm>
            <a:off x="566928"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Bursaries in</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many places</a:t>
            </a:r>
            <a:endParaRPr lang="en-US" sz="1200" dirty="0"/>
          </a:p>
        </p:txBody>
      </p:sp>
      <p:sp>
        <p:nvSpPr>
          <p:cNvPr id="5" name="Shape 3"/>
          <p:cNvSpPr/>
          <p:nvPr/>
        </p:nvSpPr>
        <p:spPr>
          <a:xfrm>
            <a:off x="2624328" y="1819656"/>
            <a:ext cx="237744" cy="182880"/>
          </a:xfrm>
          <a:prstGeom prst="rightArrow">
            <a:avLst/>
          </a:prstGeom>
          <a:solidFill>
            <a:srgbClr val="9DBFA8"/>
          </a:solidFill>
          <a:ln w="12700">
            <a:solidFill>
              <a:srgbClr val="9DBFA8"/>
            </a:solidFill>
            <a:prstDash val="solid"/>
          </a:ln>
        </p:spPr>
      </p:sp>
      <p:sp>
        <p:nvSpPr>
          <p:cNvPr id="6" name="Text 4"/>
          <p:cNvSpPr txBox="1"/>
          <p:nvPr/>
        </p:nvSpPr>
        <p:spPr>
          <a:xfrm>
            <a:off x="2871216"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Rules written as</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sentences</a:t>
            </a:r>
            <a:endParaRPr lang="en-US" sz="1200" dirty="0"/>
          </a:p>
        </p:txBody>
      </p:sp>
      <p:sp>
        <p:nvSpPr>
          <p:cNvPr id="7" name="Shape 5"/>
          <p:cNvSpPr/>
          <p:nvPr/>
        </p:nvSpPr>
        <p:spPr>
          <a:xfrm>
            <a:off x="4928616" y="1819656"/>
            <a:ext cx="237744" cy="182880"/>
          </a:xfrm>
          <a:prstGeom prst="rightArrow">
            <a:avLst/>
          </a:prstGeom>
          <a:solidFill>
            <a:srgbClr val="9DBFA8"/>
          </a:solidFill>
          <a:ln w="12700">
            <a:solidFill>
              <a:srgbClr val="9DBFA8"/>
            </a:solidFill>
            <a:prstDash val="solid"/>
          </a:ln>
        </p:spPr>
      </p:sp>
      <p:sp>
        <p:nvSpPr>
          <p:cNvPr id="8" name="Text 6"/>
          <p:cNvSpPr txBox="1"/>
          <p:nvPr/>
        </p:nvSpPr>
        <p:spPr>
          <a:xfrm>
            <a:off x="5175504"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Student must</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read and judge</a:t>
            </a:r>
            <a:endParaRPr lang="en-US" sz="1200" dirty="0"/>
          </a:p>
        </p:txBody>
      </p:sp>
      <p:sp>
        <p:nvSpPr>
          <p:cNvPr id="9" name="Shape 7"/>
          <p:cNvSpPr/>
          <p:nvPr/>
        </p:nvSpPr>
        <p:spPr>
          <a:xfrm>
            <a:off x="7232904" y="1819656"/>
            <a:ext cx="237744" cy="182880"/>
          </a:xfrm>
          <a:prstGeom prst="rightArrow">
            <a:avLst/>
          </a:prstGeom>
          <a:solidFill>
            <a:srgbClr val="9DBFA8"/>
          </a:solidFill>
          <a:ln w="12700">
            <a:solidFill>
              <a:srgbClr val="9DBFA8"/>
            </a:solidFill>
            <a:prstDash val="solid"/>
          </a:ln>
        </p:spPr>
      </p:sp>
      <p:sp>
        <p:nvSpPr>
          <p:cNvPr id="10" name="Text 8"/>
          <p:cNvSpPr txBox="1"/>
          <p:nvPr/>
        </p:nvSpPr>
        <p:spPr>
          <a:xfrm>
            <a:off x="7479792"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Same details</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typed again</a:t>
            </a:r>
            <a:endParaRPr lang="en-US" sz="1200" dirty="0"/>
          </a:p>
        </p:txBody>
      </p:sp>
      <p:sp>
        <p:nvSpPr>
          <p:cNvPr id="11" name="Shape 9"/>
          <p:cNvSpPr/>
          <p:nvPr/>
        </p:nvSpPr>
        <p:spPr>
          <a:xfrm>
            <a:off x="9537192" y="1819656"/>
            <a:ext cx="237744" cy="182880"/>
          </a:xfrm>
          <a:prstGeom prst="rightArrow">
            <a:avLst/>
          </a:prstGeom>
          <a:solidFill>
            <a:srgbClr val="9DBFA8"/>
          </a:solidFill>
          <a:ln w="12700">
            <a:solidFill>
              <a:srgbClr val="9DBFA8"/>
            </a:solidFill>
            <a:prstDash val="solid"/>
          </a:ln>
        </p:spPr>
      </p:sp>
      <p:sp>
        <p:nvSpPr>
          <p:cNvPr id="12" name="Text 10"/>
          <p:cNvSpPr txBox="1"/>
          <p:nvPr/>
        </p:nvSpPr>
        <p:spPr>
          <a:xfrm>
            <a:off x="9784080" y="1517904"/>
            <a:ext cx="2048256" cy="786384"/>
          </a:xfrm>
          <a:prstGeom prst="roundRect">
            <a:avLst>
              <a:gd name="adj" fmla="val 9302"/>
            </a:avLst>
          </a:prstGeom>
          <a:solidFill>
            <a:srgbClr val="FFFFFF"/>
          </a:solidFill>
          <a:ln w="12700">
            <a:solidFill>
              <a:srgbClr val="9DBFA8"/>
            </a:solidFill>
          </a:ln>
        </p:spPr>
        <p:txBody>
          <a:bodyPr wrap="square" lIns="508" tIns="508" rIns="508" bIns="508" rtlCol="0" anchor="ctr"/>
          <a:lstStyle/>
          <a:p>
            <a:pPr algn="ctr" indent="0" marL="0">
              <a:buNone/>
            </a:pPr>
            <a:r>
              <a:rPr lang="en-US" sz="1200" b="1" dirty="0">
                <a:solidFill>
                  <a:srgbClr val="0F5132"/>
                </a:solidFill>
                <a:latin typeface="Calibri" pitchFamily="34" charset="0"/>
                <a:ea typeface="Calibri" pitchFamily="34" charset="-122"/>
                <a:cs typeface="Calibri" pitchFamily="34" charset="-120"/>
              </a:rPr>
              <a:t>A different form</a:t>
            </a:r>
            <a:endParaRPr lang="en-US" sz="1200" dirty="0"/>
          </a:p>
          <a:p>
            <a:pPr algn="ctr" indent="0" marL="0">
              <a:buNone/>
            </a:pPr>
            <a:r>
              <a:rPr lang="en-US" sz="1200" b="1" dirty="0">
                <a:solidFill>
                  <a:srgbClr val="0F5132"/>
                </a:solidFill>
                <a:latin typeface="Calibri" pitchFamily="34" charset="0"/>
                <a:ea typeface="Calibri" pitchFamily="34" charset="-122"/>
                <a:cs typeface="Calibri" pitchFamily="34" charset="-120"/>
              </a:rPr>
              <a:t>every time</a:t>
            </a:r>
            <a:endParaRPr lang="en-US" sz="1200" dirty="0"/>
          </a:p>
        </p:txBody>
      </p:sp>
      <p:sp>
        <p:nvSpPr>
          <p:cNvPr id="13" name="Shape 11"/>
          <p:cNvSpPr/>
          <p:nvPr/>
        </p:nvSpPr>
        <p:spPr>
          <a:xfrm>
            <a:off x="566928" y="2688336"/>
            <a:ext cx="5513832" cy="2139696"/>
          </a:xfrm>
          <a:prstGeom prst="roundRect">
            <a:avLst>
              <a:gd name="adj" fmla="val 3846"/>
            </a:avLst>
          </a:prstGeom>
          <a:solidFill>
            <a:srgbClr val="EDF3EF"/>
          </a:solidFill>
          <a:ln w="12700">
            <a:solidFill>
              <a:srgbClr val="EDF3EF"/>
            </a:solidFill>
            <a:prstDash val="solid"/>
          </a:ln>
        </p:spPr>
      </p:sp>
      <p:sp>
        <p:nvSpPr>
          <p:cNvPr id="14" name="Text 12"/>
          <p:cNvSpPr txBox="1"/>
          <p:nvPr/>
        </p:nvSpPr>
        <p:spPr>
          <a:xfrm>
            <a:off x="804672" y="2852928"/>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For students</a:t>
            </a:r>
            <a:endParaRPr lang="en-US" sz="1450" dirty="0"/>
          </a:p>
        </p:txBody>
      </p:sp>
      <p:sp>
        <p:nvSpPr>
          <p:cNvPr id="15" name="Text 13"/>
          <p:cNvSpPr txBox="1"/>
          <p:nvPr/>
        </p:nvSpPr>
        <p:spPr>
          <a:xfrm>
            <a:off x="804672" y="3218688"/>
            <a:ext cx="5038344" cy="14447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They must read and decide if they qualify, which is easy to get wrong</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Time wasted on bursaries they never qualified for</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The same details written out again on every form</a:t>
            </a:r>
            <a:endParaRPr lang="en-US" sz="1250" dirty="0"/>
          </a:p>
        </p:txBody>
      </p:sp>
      <p:sp>
        <p:nvSpPr>
          <p:cNvPr id="16" name="Shape 14"/>
          <p:cNvSpPr/>
          <p:nvPr/>
        </p:nvSpPr>
        <p:spPr>
          <a:xfrm>
            <a:off x="6446520" y="2688336"/>
            <a:ext cx="5513832" cy="2139696"/>
          </a:xfrm>
          <a:prstGeom prst="roundRect">
            <a:avLst>
              <a:gd name="adj" fmla="val 3846"/>
            </a:avLst>
          </a:prstGeom>
          <a:solidFill>
            <a:srgbClr val="EDF3EF"/>
          </a:solidFill>
          <a:ln w="12700">
            <a:solidFill>
              <a:srgbClr val="EDF3EF"/>
            </a:solidFill>
            <a:prstDash val="solid"/>
          </a:ln>
        </p:spPr>
      </p:sp>
      <p:sp>
        <p:nvSpPr>
          <p:cNvPr id="17" name="Text 15"/>
          <p:cNvSpPr txBox="1"/>
          <p:nvPr/>
        </p:nvSpPr>
        <p:spPr>
          <a:xfrm>
            <a:off x="6684264" y="2852928"/>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For companies that give bursaries</a:t>
            </a:r>
            <a:endParaRPr lang="en-US" sz="1450" dirty="0"/>
          </a:p>
        </p:txBody>
      </p:sp>
      <p:sp>
        <p:nvSpPr>
          <p:cNvPr id="18" name="Text 16"/>
          <p:cNvSpPr txBox="1"/>
          <p:nvPr/>
        </p:nvSpPr>
        <p:spPr>
          <a:xfrm>
            <a:off x="6684264" y="3218688"/>
            <a:ext cx="5038344" cy="14447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Applications arrive by email, all in different formats</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Checking is done by hand, so it is slow and uneven</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No clear record of why someone was turned down</a:t>
            </a:r>
            <a:endParaRPr lang="en-US" sz="1250" dirty="0"/>
          </a:p>
        </p:txBody>
      </p:sp>
      <p:sp>
        <p:nvSpPr>
          <p:cNvPr id="19" name="Shape 17"/>
          <p:cNvSpPr/>
          <p:nvPr/>
        </p:nvSpPr>
        <p:spPr>
          <a:xfrm>
            <a:off x="566928" y="5138928"/>
            <a:ext cx="11027664" cy="1097280"/>
          </a:xfrm>
          <a:prstGeom prst="roundRect">
            <a:avLst>
              <a:gd name="adj" fmla="val 7500"/>
            </a:avLst>
          </a:prstGeom>
          <a:solidFill>
            <a:srgbClr val="0B2E24"/>
          </a:solidFill>
          <a:ln w="12700">
            <a:solidFill>
              <a:srgbClr val="0B2E24"/>
            </a:solidFill>
            <a:prstDash val="solid"/>
          </a:ln>
        </p:spPr>
      </p:sp>
      <p:sp>
        <p:nvSpPr>
          <p:cNvPr id="20" name="Text 18"/>
          <p:cNvSpPr txBox="1"/>
          <p:nvPr/>
        </p:nvSpPr>
        <p:spPr>
          <a:xfrm>
            <a:off x="841248" y="5248656"/>
            <a:ext cx="10479024" cy="877824"/>
          </a:xfrm>
          <a:prstGeom prst="rect">
            <a:avLst/>
          </a:prstGeom>
          <a:noFill/>
          <a:ln/>
        </p:spPr>
        <p:txBody>
          <a:bodyPr wrap="square" lIns="0" tIns="0" rIns="0" bIns="0" rtlCol="0" anchor="ctr"/>
          <a:lstStyle/>
          <a:p>
            <a:pPr indent="0" marL="0">
              <a:lnSpc>
                <a:spcPct val="115000"/>
              </a:lnSpc>
              <a:buNone/>
            </a:pPr>
            <a:r>
              <a:rPr lang="en-US" sz="1300" b="1" dirty="0">
                <a:solidFill>
                  <a:srgbClr val="C08A2E"/>
                </a:solidFill>
                <a:latin typeface="Calibri" pitchFamily="34" charset="0"/>
                <a:ea typeface="Calibri" pitchFamily="34" charset="-122"/>
                <a:cs typeface="Calibri" pitchFamily="34" charset="-120"/>
              </a:rPr>
              <a:t>We measured it.  </a:t>
            </a:r>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We checked 13 pages on South Africa’s biggest bursary website. Only </a:t>
            </a:r>
            <a:pPr indent="0" marL="0">
              <a:lnSpc>
                <a:spcPct val="115000"/>
              </a:lnSpc>
              <a:buNone/>
            </a:pPr>
            <a:r>
              <a:rPr lang="en-US" sz="1300" b="1" dirty="0">
                <a:solidFill>
                  <a:srgbClr val="FFFFFF"/>
                </a:solidFill>
                <a:latin typeface="Calibri" pitchFamily="34" charset="0"/>
                <a:ea typeface="Calibri" pitchFamily="34" charset="-122"/>
                <a:cs typeface="Calibri" pitchFamily="34" charset="-120"/>
              </a:rPr>
              <a:t>189 bursaries</a:t>
            </a:r>
            <a:pPr indent="0" marL="0">
              <a:lnSpc>
                <a:spcPct val="115000"/>
              </a:lnSpc>
              <a:buNone/>
            </a:pPr>
            <a:r>
              <a:rPr lang="en-US" sz="1300" dirty="0">
                <a:solidFill>
                  <a:srgbClr val="FFFFFF"/>
                </a:solidFill>
                <a:latin typeface="Calibri" pitchFamily="34" charset="0"/>
                <a:ea typeface="Calibri" pitchFamily="34" charset="-122"/>
                <a:cs typeface="Calibri" pitchFamily="34" charset="-120"/>
              </a:rPr>
              <a:t> clearly showed who gives them, the closing date, and where the information came from. We left out the rest instead of guessing.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Goal and Objectives</a:t>
            </a:r>
            <a:endParaRPr lang="en-US" sz="3100" dirty="0"/>
          </a:p>
        </p:txBody>
      </p:sp>
      <p:sp>
        <p:nvSpPr>
          <p:cNvPr id="3" name="Shape 1"/>
          <p:cNvSpPr/>
          <p:nvPr/>
        </p:nvSpPr>
        <p:spPr>
          <a:xfrm>
            <a:off x="566928" y="1152144"/>
            <a:ext cx="11027664" cy="1133856"/>
          </a:xfrm>
          <a:prstGeom prst="roundRect">
            <a:avLst>
              <a:gd name="adj" fmla="val 7258"/>
            </a:avLst>
          </a:prstGeom>
          <a:solidFill>
            <a:srgbClr val="0F5132"/>
          </a:solidFill>
          <a:ln w="12700">
            <a:solidFill>
              <a:srgbClr val="0F5132"/>
            </a:solidFill>
            <a:prstDash val="solid"/>
          </a:ln>
        </p:spPr>
      </p:sp>
      <p:sp>
        <p:nvSpPr>
          <p:cNvPr id="4" name="Text 2"/>
          <p:cNvSpPr txBox="1"/>
          <p:nvPr/>
        </p:nvSpPr>
        <p:spPr>
          <a:xfrm>
            <a:off x="859536" y="1280160"/>
            <a:ext cx="1280160" cy="256032"/>
          </a:xfrm>
          <a:prstGeom prst="rect">
            <a:avLst/>
          </a:prstGeom>
          <a:noFill/>
          <a:ln/>
        </p:spPr>
        <p:txBody>
          <a:bodyPr wrap="square" lIns="0" tIns="0" rIns="0" bIns="0" rtlCol="0" anchor="ctr"/>
          <a:lstStyle/>
          <a:p>
            <a:pPr indent="0" marL="0">
              <a:buNone/>
            </a:pPr>
            <a:r>
              <a:rPr lang="en-US" sz="1150" b="1" spc="120" kern="0" dirty="0">
                <a:solidFill>
                  <a:srgbClr val="9DBFA8"/>
                </a:solidFill>
                <a:latin typeface="Calibri" pitchFamily="34" charset="0"/>
                <a:ea typeface="Calibri" pitchFamily="34" charset="-122"/>
                <a:cs typeface="Calibri" pitchFamily="34" charset="-120"/>
              </a:rPr>
              <a:t>GOAL</a:t>
            </a:r>
            <a:endParaRPr lang="en-US" sz="1150" dirty="0"/>
          </a:p>
        </p:txBody>
      </p:sp>
      <p:sp>
        <p:nvSpPr>
          <p:cNvPr id="5" name="Text 3"/>
          <p:cNvSpPr txBox="1"/>
          <p:nvPr/>
        </p:nvSpPr>
        <p:spPr>
          <a:xfrm>
            <a:off x="859536" y="1536192"/>
            <a:ext cx="10442448"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Match South African students to bursaries they qualify for, show the reason for every match, and give companies one place to advertise bursaries and manage the applications they get.</a:t>
            </a:r>
            <a:endParaRPr lang="en-US" sz="1400" dirty="0"/>
          </a:p>
        </p:txBody>
      </p:sp>
      <p:sp>
        <p:nvSpPr>
          <p:cNvPr id="6" name="Text 4"/>
          <p:cNvSpPr txBox="1"/>
          <p:nvPr/>
        </p:nvSpPr>
        <p:spPr>
          <a:xfrm>
            <a:off x="566928" y="2651760"/>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987552" y="2615184"/>
            <a:ext cx="5093208" cy="274320"/>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Clear rules, not sentences</a:t>
            </a:r>
            <a:endParaRPr lang="en-US" sz="1400" dirty="0"/>
          </a:p>
        </p:txBody>
      </p:sp>
      <p:sp>
        <p:nvSpPr>
          <p:cNvPr id="8" name="Text 6"/>
          <p:cNvSpPr txBox="1"/>
          <p:nvPr/>
        </p:nvSpPr>
        <p:spPr>
          <a:xfrm>
            <a:off x="987552" y="2907792"/>
            <a:ext cx="5093208" cy="566928"/>
          </a:xfrm>
          <a:prstGeom prst="rect">
            <a:avLst/>
          </a:prstGeom>
          <a:noFill/>
          <a:ln/>
        </p:spPr>
        <p:txBody>
          <a:bodyPr wrap="square" lIns="0" tIns="0" rIns="0" bIns="0" rtlCol="0" anchor="ctr"/>
          <a:lstStyle/>
          <a:p>
            <a:pPr indent="0" marL="0">
              <a:lnSpc>
                <a:spcPct val="112000"/>
              </a:lnSpc>
              <a:buNone/>
            </a:pPr>
            <a:r>
              <a:rPr lang="en-US" sz="1200" dirty="0">
                <a:solidFill>
                  <a:srgbClr val="5E6B64"/>
                </a:solidFill>
                <a:latin typeface="Calibri" pitchFamily="34" charset="0"/>
                <a:ea typeface="Calibri" pitchFamily="34" charset="-122"/>
                <a:cs typeface="Calibri" pitchFamily="34" charset="-120"/>
              </a:rPr>
              <a:t>Store what a bursary needs as data the computer can actually check</a:t>
            </a:r>
            <a:endParaRPr lang="en-US" sz="1200" dirty="0"/>
          </a:p>
        </p:txBody>
      </p:sp>
      <p:sp>
        <p:nvSpPr>
          <p:cNvPr id="9" name="Text 7"/>
          <p:cNvSpPr txBox="1"/>
          <p:nvPr/>
        </p:nvSpPr>
        <p:spPr>
          <a:xfrm>
            <a:off x="6446520" y="2651760"/>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6867144" y="2615184"/>
            <a:ext cx="5093208" cy="274320"/>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Matching that explains itself</a:t>
            </a:r>
            <a:endParaRPr lang="en-US" sz="1400" dirty="0"/>
          </a:p>
        </p:txBody>
      </p:sp>
      <p:sp>
        <p:nvSpPr>
          <p:cNvPr id="11" name="Text 9"/>
          <p:cNvSpPr txBox="1"/>
          <p:nvPr/>
        </p:nvSpPr>
        <p:spPr>
          <a:xfrm>
            <a:off x="6867144" y="2907792"/>
            <a:ext cx="5093208" cy="566928"/>
          </a:xfrm>
          <a:prstGeom prst="rect">
            <a:avLst/>
          </a:prstGeom>
          <a:noFill/>
          <a:ln/>
        </p:spPr>
        <p:txBody>
          <a:bodyPr wrap="square" lIns="0" tIns="0" rIns="0" bIns="0" rtlCol="0" anchor="ctr"/>
          <a:lstStyle/>
          <a:p>
            <a:pPr indent="0" marL="0">
              <a:lnSpc>
                <a:spcPct val="112000"/>
              </a:lnSpc>
              <a:buNone/>
            </a:pPr>
            <a:r>
              <a:rPr lang="en-US" sz="1200" dirty="0">
                <a:solidFill>
                  <a:srgbClr val="5E6B64"/>
                </a:solidFill>
                <a:latin typeface="Calibri" pitchFamily="34" charset="0"/>
                <a:ea typeface="Calibri" pitchFamily="34" charset="-122"/>
                <a:cs typeface="Calibri" pitchFamily="34" charset="-120"/>
              </a:rPr>
              <a:t>For every rule, show: met, not met, or we need more information</a:t>
            </a:r>
            <a:endParaRPr lang="en-US" sz="1200" dirty="0"/>
          </a:p>
        </p:txBody>
      </p:sp>
      <p:sp>
        <p:nvSpPr>
          <p:cNvPr id="12" name="Text 10"/>
          <p:cNvSpPr txBox="1"/>
          <p:nvPr/>
        </p:nvSpPr>
        <p:spPr>
          <a:xfrm>
            <a:off x="566928" y="391363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987552" y="3877056"/>
            <a:ext cx="5093208" cy="274320"/>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The student side</a:t>
            </a:r>
            <a:endParaRPr lang="en-US" sz="1400" dirty="0"/>
          </a:p>
        </p:txBody>
      </p:sp>
      <p:sp>
        <p:nvSpPr>
          <p:cNvPr id="14" name="Text 12"/>
          <p:cNvSpPr txBox="1"/>
          <p:nvPr/>
        </p:nvSpPr>
        <p:spPr>
          <a:xfrm>
            <a:off x="987552" y="4169664"/>
            <a:ext cx="5093208" cy="566928"/>
          </a:xfrm>
          <a:prstGeom prst="rect">
            <a:avLst/>
          </a:prstGeom>
          <a:noFill/>
          <a:ln/>
        </p:spPr>
        <p:txBody>
          <a:bodyPr wrap="square" lIns="0" tIns="0" rIns="0" bIns="0" rtlCol="0" anchor="ctr"/>
          <a:lstStyle/>
          <a:p>
            <a:pPr indent="0" marL="0">
              <a:lnSpc>
                <a:spcPct val="112000"/>
              </a:lnSpc>
              <a:buNone/>
            </a:pPr>
            <a:r>
              <a:rPr lang="en-US" sz="1200" dirty="0">
                <a:solidFill>
                  <a:srgbClr val="5E6B64"/>
                </a:solidFill>
                <a:latin typeface="Calibri" pitchFamily="34" charset="0"/>
                <a:ea typeface="Calibri" pitchFamily="34" charset="-122"/>
                <a:cs typeface="Calibri" pitchFamily="34" charset="-120"/>
              </a:rPr>
              <a:t>One profile, a ranked list of bursaries with reasons, and applying online</a:t>
            </a:r>
            <a:endParaRPr lang="en-US" sz="1200" dirty="0"/>
          </a:p>
        </p:txBody>
      </p:sp>
      <p:sp>
        <p:nvSpPr>
          <p:cNvPr id="15" name="Text 13"/>
          <p:cNvSpPr txBox="1"/>
          <p:nvPr/>
        </p:nvSpPr>
        <p:spPr>
          <a:xfrm>
            <a:off x="6446520" y="3913632"/>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6867144" y="3877056"/>
            <a:ext cx="5093208" cy="274320"/>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The company side</a:t>
            </a:r>
            <a:endParaRPr lang="en-US" sz="1400" dirty="0"/>
          </a:p>
        </p:txBody>
      </p:sp>
      <p:sp>
        <p:nvSpPr>
          <p:cNvPr id="17" name="Text 15"/>
          <p:cNvSpPr txBox="1"/>
          <p:nvPr/>
        </p:nvSpPr>
        <p:spPr>
          <a:xfrm>
            <a:off x="6867144" y="4169664"/>
            <a:ext cx="5093208" cy="566928"/>
          </a:xfrm>
          <a:prstGeom prst="rect">
            <a:avLst/>
          </a:prstGeom>
          <a:noFill/>
          <a:ln/>
        </p:spPr>
        <p:txBody>
          <a:bodyPr wrap="square" lIns="0" tIns="0" rIns="0" bIns="0" rtlCol="0" anchor="ctr"/>
          <a:lstStyle/>
          <a:p>
            <a:pPr indent="0" marL="0">
              <a:lnSpc>
                <a:spcPct val="112000"/>
              </a:lnSpc>
              <a:buNone/>
            </a:pPr>
            <a:r>
              <a:rPr lang="en-US" sz="1200" dirty="0">
                <a:solidFill>
                  <a:srgbClr val="5E6B64"/>
                </a:solidFill>
                <a:latin typeface="Calibri" pitchFamily="34" charset="0"/>
                <a:ea typeface="Calibri" pitchFamily="34" charset="-122"/>
                <a:cs typeface="Calibri" pitchFamily="34" charset="-120"/>
              </a:rPr>
              <a:t>Advertise a bursary, review applicants, shortlist and choose</a:t>
            </a:r>
            <a:endParaRPr lang="en-US" sz="1200" dirty="0"/>
          </a:p>
        </p:txBody>
      </p:sp>
      <p:sp>
        <p:nvSpPr>
          <p:cNvPr id="18" name="Text 16"/>
          <p:cNvSpPr txBox="1"/>
          <p:nvPr/>
        </p:nvSpPr>
        <p:spPr>
          <a:xfrm>
            <a:off x="566928" y="517550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987552" y="5138928"/>
            <a:ext cx="5093208" cy="274320"/>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Collect real bursaries</a:t>
            </a:r>
            <a:endParaRPr lang="en-US" sz="1400" dirty="0"/>
          </a:p>
        </p:txBody>
      </p:sp>
      <p:sp>
        <p:nvSpPr>
          <p:cNvPr id="20" name="Text 18"/>
          <p:cNvSpPr txBox="1"/>
          <p:nvPr/>
        </p:nvSpPr>
        <p:spPr>
          <a:xfrm>
            <a:off x="987552" y="5431536"/>
            <a:ext cx="5093208" cy="566928"/>
          </a:xfrm>
          <a:prstGeom prst="rect">
            <a:avLst/>
          </a:prstGeom>
          <a:noFill/>
          <a:ln/>
        </p:spPr>
        <p:txBody>
          <a:bodyPr wrap="square" lIns="0" tIns="0" rIns="0" bIns="0" rtlCol="0" anchor="ctr"/>
          <a:lstStyle/>
          <a:p>
            <a:pPr indent="0" marL="0">
              <a:lnSpc>
                <a:spcPct val="112000"/>
              </a:lnSpc>
              <a:buNone/>
            </a:pPr>
            <a:r>
              <a:rPr lang="en-US" sz="1200" dirty="0">
                <a:solidFill>
                  <a:srgbClr val="5E6B64"/>
                </a:solidFill>
                <a:latin typeface="Calibri" pitchFamily="34" charset="0"/>
                <a:ea typeface="Calibri" pitchFamily="34" charset="-122"/>
                <a:cs typeface="Calibri" pitchFamily="34" charset="-120"/>
              </a:rPr>
              <a:t>Save where each one came from, and skip any we cannot confirm</a:t>
            </a:r>
            <a:endParaRPr lang="en-US" sz="1200" dirty="0"/>
          </a:p>
        </p:txBody>
      </p:sp>
      <p:sp>
        <p:nvSpPr>
          <p:cNvPr id="21" name="Text 19"/>
          <p:cNvSpPr txBox="1"/>
          <p:nvPr/>
        </p:nvSpPr>
        <p:spPr>
          <a:xfrm>
            <a:off x="6446520" y="5175504"/>
            <a:ext cx="292608" cy="292608"/>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6867144" y="5138928"/>
            <a:ext cx="5093208" cy="274320"/>
          </a:xfrm>
          <a:prstGeom prst="rect">
            <a:avLst/>
          </a:prstGeom>
          <a:noFill/>
          <a:ln/>
        </p:spPr>
        <p:txBody>
          <a:bodyPr wrap="square" lIns="0" tIns="0" rIns="0" bIns="0" rtlCol="0" anchor="ctr"/>
          <a:lstStyle/>
          <a:p>
            <a:pPr indent="0" marL="0">
              <a:buNone/>
            </a:pPr>
            <a:r>
              <a:rPr lang="en-US" sz="1400" b="1" dirty="0">
                <a:solidFill>
                  <a:srgbClr val="0F5132"/>
                </a:solidFill>
                <a:latin typeface="Calibri" pitchFamily="34" charset="0"/>
                <a:ea typeface="Calibri" pitchFamily="34" charset="-122"/>
                <a:cs typeface="Calibri" pitchFamily="34" charset="-120"/>
              </a:rPr>
              <a:t>Test everything</a:t>
            </a:r>
            <a:endParaRPr lang="en-US" sz="1400" dirty="0"/>
          </a:p>
        </p:txBody>
      </p:sp>
      <p:sp>
        <p:nvSpPr>
          <p:cNvPr id="23" name="Text 21"/>
          <p:cNvSpPr txBox="1"/>
          <p:nvPr/>
        </p:nvSpPr>
        <p:spPr>
          <a:xfrm>
            <a:off x="6867144" y="5431536"/>
            <a:ext cx="5093208" cy="566928"/>
          </a:xfrm>
          <a:prstGeom prst="rect">
            <a:avLst/>
          </a:prstGeom>
          <a:noFill/>
          <a:ln/>
        </p:spPr>
        <p:txBody>
          <a:bodyPr wrap="square" lIns="0" tIns="0" rIns="0" bIns="0" rtlCol="0" anchor="ctr"/>
          <a:lstStyle/>
          <a:p>
            <a:pPr indent="0" marL="0">
              <a:lnSpc>
                <a:spcPct val="112000"/>
              </a:lnSpc>
              <a:buNone/>
            </a:pPr>
            <a:r>
              <a:rPr lang="en-US" sz="1200" dirty="0">
                <a:solidFill>
                  <a:srgbClr val="5E6B64"/>
                </a:solidFill>
                <a:latin typeface="Calibri" pitchFamily="34" charset="0"/>
                <a:ea typeface="Calibri" pitchFamily="34" charset="-122"/>
                <a:cs typeface="Calibri" pitchFamily="34" charset="-120"/>
              </a:rPr>
              <a:t>Automatic tests, and a check that every requirement was really built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The Proposed Solution</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One student profile, one set of bursary rules, and matching in between</a:t>
            </a:r>
            <a:endParaRPr lang="en-US" sz="1250" dirty="0"/>
          </a:p>
        </p:txBody>
      </p:sp>
      <p:sp>
        <p:nvSpPr>
          <p:cNvPr id="4" name="Shape 2"/>
          <p:cNvSpPr/>
          <p:nvPr/>
        </p:nvSpPr>
        <p:spPr>
          <a:xfrm>
            <a:off x="3977640" y="1481328"/>
            <a:ext cx="4206240" cy="658368"/>
          </a:xfrm>
          <a:prstGeom prst="roundRect">
            <a:avLst>
              <a:gd name="adj" fmla="val 12500"/>
            </a:avLst>
          </a:prstGeom>
          <a:solidFill>
            <a:srgbClr val="0F5132"/>
          </a:solidFill>
          <a:ln w="12700">
            <a:solidFill>
              <a:srgbClr val="0F5132"/>
            </a:solidFill>
            <a:prstDash val="solid"/>
          </a:ln>
        </p:spPr>
      </p:sp>
      <p:sp>
        <p:nvSpPr>
          <p:cNvPr id="5" name="Text 3"/>
          <p:cNvSpPr txBox="1"/>
          <p:nvPr/>
        </p:nvSpPr>
        <p:spPr>
          <a:xfrm>
            <a:off x="3977640" y="1481328"/>
            <a:ext cx="4206240" cy="658368"/>
          </a:xfrm>
          <a:prstGeom prst="rect">
            <a:avLst/>
          </a:prstGeom>
          <a:noFill/>
          <a:ln/>
        </p:spPr>
        <p:txBody>
          <a:bodyPr wrap="square" lIns="0" tIns="0" rIns="0" bIns="0" rtlCol="0" anchor="ctr"/>
          <a:lstStyle/>
          <a:p>
            <a:pPr algn="ctr" indent="0" marL="0">
              <a:buNone/>
            </a:pPr>
            <a:r>
              <a:rPr lang="en-US" sz="1600" b="1" spc="140" kern="0" dirty="0">
                <a:solidFill>
                  <a:srgbClr val="FFFFFF"/>
                </a:solidFill>
                <a:latin typeface="Calibri" pitchFamily="34" charset="0"/>
                <a:ea typeface="Calibri" pitchFamily="34" charset="-122"/>
                <a:cs typeface="Calibri" pitchFamily="34" charset="-120"/>
              </a:rPr>
              <a:t>BURSARY-BRIDGE</a:t>
            </a:r>
            <a:endParaRPr lang="en-US" sz="1600" dirty="0"/>
          </a:p>
        </p:txBody>
      </p:sp>
      <p:sp>
        <p:nvSpPr>
          <p:cNvPr id="6" name="Text 4"/>
          <p:cNvSpPr txBox="1"/>
          <p:nvPr/>
        </p:nvSpPr>
        <p:spPr>
          <a:xfrm>
            <a:off x="886968" y="2487168"/>
            <a:ext cx="5120640" cy="274320"/>
          </a:xfrm>
          <a:prstGeom prst="rect">
            <a:avLst/>
          </a:prstGeom>
          <a:noFill/>
          <a:ln/>
        </p:spPr>
        <p:txBody>
          <a:bodyPr wrap="square" lIns="0" tIns="0" rIns="0" bIns="0" rtlCol="0" anchor="ctr"/>
          <a:lstStyle/>
          <a:p>
            <a:pPr algn="ctr" indent="0" marL="0">
              <a:buNone/>
            </a:pPr>
            <a:r>
              <a:rPr lang="en-US" sz="1200" b="1" spc="120" kern="0" dirty="0">
                <a:solidFill>
                  <a:srgbClr val="5E6B64"/>
                </a:solidFill>
                <a:latin typeface="Calibri" pitchFamily="34" charset="0"/>
                <a:ea typeface="Calibri" pitchFamily="34" charset="-122"/>
                <a:cs typeface="Calibri" pitchFamily="34" charset="-120"/>
              </a:rPr>
              <a:t>STUDENTS</a:t>
            </a:r>
            <a:endParaRPr lang="en-US" sz="1200" dirty="0"/>
          </a:p>
        </p:txBody>
      </p:sp>
      <p:sp>
        <p:nvSpPr>
          <p:cNvPr id="7" name="Text 5"/>
          <p:cNvSpPr txBox="1"/>
          <p:nvPr/>
        </p:nvSpPr>
        <p:spPr>
          <a:xfrm>
            <a:off x="886968" y="2871216"/>
            <a:ext cx="5120640" cy="548640"/>
          </a:xfrm>
          <a:prstGeom prst="roundRect">
            <a:avLst>
              <a:gd name="adj" fmla="val 13333"/>
            </a:avLst>
          </a:prstGeom>
          <a:solidFill>
            <a:srgbClr val="EDF3E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Fills in their details once</a:t>
            </a:r>
            <a:endParaRPr lang="en-US" sz="1250" dirty="0"/>
          </a:p>
        </p:txBody>
      </p:sp>
      <p:sp>
        <p:nvSpPr>
          <p:cNvPr id="8" name="Shape 6"/>
          <p:cNvSpPr/>
          <p:nvPr/>
        </p:nvSpPr>
        <p:spPr>
          <a:xfrm>
            <a:off x="3346704" y="3438144"/>
            <a:ext cx="201168" cy="201168"/>
          </a:xfrm>
          <a:prstGeom prst="downArrow">
            <a:avLst/>
          </a:prstGeom>
          <a:solidFill>
            <a:srgbClr val="9DBFA8"/>
          </a:solidFill>
          <a:ln w="12700">
            <a:solidFill>
              <a:srgbClr val="9DBFA8"/>
            </a:solidFill>
            <a:prstDash val="solid"/>
          </a:ln>
        </p:spPr>
      </p:sp>
      <p:sp>
        <p:nvSpPr>
          <p:cNvPr id="9" name="Text 7"/>
          <p:cNvSpPr txBox="1"/>
          <p:nvPr/>
        </p:nvSpPr>
        <p:spPr>
          <a:xfrm>
            <a:off x="886968" y="3657600"/>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System checks the rules and scores the match</a:t>
            </a:r>
            <a:endParaRPr lang="en-US" sz="1250" dirty="0"/>
          </a:p>
        </p:txBody>
      </p:sp>
      <p:sp>
        <p:nvSpPr>
          <p:cNvPr id="10" name="Shape 8"/>
          <p:cNvSpPr/>
          <p:nvPr/>
        </p:nvSpPr>
        <p:spPr>
          <a:xfrm>
            <a:off x="3346704" y="4224528"/>
            <a:ext cx="201168" cy="201168"/>
          </a:xfrm>
          <a:prstGeom prst="downArrow">
            <a:avLst/>
          </a:prstGeom>
          <a:solidFill>
            <a:srgbClr val="9DBFA8"/>
          </a:solidFill>
          <a:ln w="12700">
            <a:solidFill>
              <a:srgbClr val="9DBFA8"/>
            </a:solidFill>
            <a:prstDash val="solid"/>
          </a:ln>
        </p:spPr>
      </p:sp>
      <p:sp>
        <p:nvSpPr>
          <p:cNvPr id="11" name="Text 9"/>
          <p:cNvSpPr txBox="1"/>
          <p:nvPr/>
        </p:nvSpPr>
        <p:spPr>
          <a:xfrm>
            <a:off x="886968" y="4443984"/>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Gets a ranked list, with reasons</a:t>
            </a:r>
            <a:endParaRPr lang="en-US" sz="1250" dirty="0"/>
          </a:p>
        </p:txBody>
      </p:sp>
      <p:sp>
        <p:nvSpPr>
          <p:cNvPr id="12" name="Shape 10"/>
          <p:cNvSpPr/>
          <p:nvPr/>
        </p:nvSpPr>
        <p:spPr>
          <a:xfrm>
            <a:off x="3346704" y="5010912"/>
            <a:ext cx="201168" cy="201168"/>
          </a:xfrm>
          <a:prstGeom prst="downArrow">
            <a:avLst/>
          </a:prstGeom>
          <a:solidFill>
            <a:srgbClr val="9DBFA8"/>
          </a:solidFill>
          <a:ln w="12700">
            <a:solidFill>
              <a:srgbClr val="9DBFA8"/>
            </a:solidFill>
            <a:prstDash val="solid"/>
          </a:ln>
        </p:spPr>
      </p:sp>
      <p:sp>
        <p:nvSpPr>
          <p:cNvPr id="13" name="Text 11"/>
          <p:cNvSpPr txBox="1"/>
          <p:nvPr/>
        </p:nvSpPr>
        <p:spPr>
          <a:xfrm>
            <a:off x="886968" y="5230368"/>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Applies using details already saved</a:t>
            </a:r>
            <a:endParaRPr lang="en-US" sz="1250" dirty="0"/>
          </a:p>
        </p:txBody>
      </p:sp>
      <p:sp>
        <p:nvSpPr>
          <p:cNvPr id="14" name="Text 12"/>
          <p:cNvSpPr txBox="1"/>
          <p:nvPr/>
        </p:nvSpPr>
        <p:spPr>
          <a:xfrm>
            <a:off x="6153912" y="2487168"/>
            <a:ext cx="5120640" cy="274320"/>
          </a:xfrm>
          <a:prstGeom prst="rect">
            <a:avLst/>
          </a:prstGeom>
          <a:noFill/>
          <a:ln/>
        </p:spPr>
        <p:txBody>
          <a:bodyPr wrap="square" lIns="0" tIns="0" rIns="0" bIns="0" rtlCol="0" anchor="ctr"/>
          <a:lstStyle/>
          <a:p>
            <a:pPr algn="ctr" indent="0" marL="0">
              <a:buNone/>
            </a:pPr>
            <a:r>
              <a:rPr lang="en-US" sz="1200" b="1" spc="120" kern="0" dirty="0">
                <a:solidFill>
                  <a:srgbClr val="5E6B64"/>
                </a:solidFill>
                <a:latin typeface="Calibri" pitchFamily="34" charset="0"/>
                <a:ea typeface="Calibri" pitchFamily="34" charset="-122"/>
                <a:cs typeface="Calibri" pitchFamily="34" charset="-120"/>
              </a:rPr>
              <a:t>COMPANIES GIVING BURSARIES</a:t>
            </a:r>
            <a:endParaRPr lang="en-US" sz="1200" dirty="0"/>
          </a:p>
        </p:txBody>
      </p:sp>
      <p:sp>
        <p:nvSpPr>
          <p:cNvPr id="15" name="Text 13"/>
          <p:cNvSpPr txBox="1"/>
          <p:nvPr/>
        </p:nvSpPr>
        <p:spPr>
          <a:xfrm>
            <a:off x="6153912" y="2871216"/>
            <a:ext cx="5120640" cy="548640"/>
          </a:xfrm>
          <a:prstGeom prst="roundRect">
            <a:avLst>
              <a:gd name="adj" fmla="val 13333"/>
            </a:avLst>
          </a:prstGeom>
          <a:solidFill>
            <a:srgbClr val="EDF3E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Advertises a bursary with clear rules</a:t>
            </a:r>
            <a:endParaRPr lang="en-US" sz="1250" dirty="0"/>
          </a:p>
        </p:txBody>
      </p:sp>
      <p:sp>
        <p:nvSpPr>
          <p:cNvPr id="16" name="Shape 14"/>
          <p:cNvSpPr/>
          <p:nvPr/>
        </p:nvSpPr>
        <p:spPr>
          <a:xfrm>
            <a:off x="8613648" y="3438144"/>
            <a:ext cx="201168" cy="201168"/>
          </a:xfrm>
          <a:prstGeom prst="downArrow">
            <a:avLst/>
          </a:prstGeom>
          <a:solidFill>
            <a:srgbClr val="9DBFA8"/>
          </a:solidFill>
          <a:ln w="12700">
            <a:solidFill>
              <a:srgbClr val="9DBFA8"/>
            </a:solidFill>
            <a:prstDash val="solid"/>
          </a:ln>
        </p:spPr>
      </p:sp>
      <p:sp>
        <p:nvSpPr>
          <p:cNvPr id="17" name="Text 15"/>
          <p:cNvSpPr txBox="1"/>
          <p:nvPr/>
        </p:nvSpPr>
        <p:spPr>
          <a:xfrm>
            <a:off x="6153912" y="3657600"/>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Applications arrive already organised</a:t>
            </a:r>
            <a:endParaRPr lang="en-US" sz="1250" dirty="0"/>
          </a:p>
        </p:txBody>
      </p:sp>
      <p:sp>
        <p:nvSpPr>
          <p:cNvPr id="18" name="Shape 16"/>
          <p:cNvSpPr/>
          <p:nvPr/>
        </p:nvSpPr>
        <p:spPr>
          <a:xfrm>
            <a:off x="8613648" y="4224528"/>
            <a:ext cx="201168" cy="201168"/>
          </a:xfrm>
          <a:prstGeom prst="downArrow">
            <a:avLst/>
          </a:prstGeom>
          <a:solidFill>
            <a:srgbClr val="9DBFA8"/>
          </a:solidFill>
          <a:ln w="12700">
            <a:solidFill>
              <a:srgbClr val="9DBFA8"/>
            </a:solidFill>
            <a:prstDash val="solid"/>
          </a:ln>
        </p:spPr>
      </p:sp>
      <p:sp>
        <p:nvSpPr>
          <p:cNvPr id="19" name="Text 17"/>
          <p:cNvSpPr txBox="1"/>
          <p:nvPr/>
        </p:nvSpPr>
        <p:spPr>
          <a:xfrm>
            <a:off x="6153912" y="4443984"/>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Checks applicants against its own rules</a:t>
            </a:r>
            <a:endParaRPr lang="en-US" sz="1250" dirty="0"/>
          </a:p>
        </p:txBody>
      </p:sp>
      <p:sp>
        <p:nvSpPr>
          <p:cNvPr id="20" name="Shape 18"/>
          <p:cNvSpPr/>
          <p:nvPr/>
        </p:nvSpPr>
        <p:spPr>
          <a:xfrm>
            <a:off x="8613648" y="5010912"/>
            <a:ext cx="201168" cy="201168"/>
          </a:xfrm>
          <a:prstGeom prst="downArrow">
            <a:avLst/>
          </a:prstGeom>
          <a:solidFill>
            <a:srgbClr val="9DBFA8"/>
          </a:solidFill>
          <a:ln w="12700">
            <a:solidFill>
              <a:srgbClr val="9DBFA8"/>
            </a:solidFill>
            <a:prstDash val="solid"/>
          </a:ln>
        </p:spPr>
      </p:sp>
      <p:sp>
        <p:nvSpPr>
          <p:cNvPr id="21" name="Text 19"/>
          <p:cNvSpPr txBox="1"/>
          <p:nvPr/>
        </p:nvSpPr>
        <p:spPr>
          <a:xfrm>
            <a:off x="6153912" y="5230368"/>
            <a:ext cx="5120640" cy="548640"/>
          </a:xfrm>
          <a:prstGeom prst="roundRect">
            <a:avLst>
              <a:gd name="adj" fmla="val 13333"/>
            </a:avLst>
          </a:prstGeom>
          <a:solidFill>
            <a:srgbClr val="FFFFFF"/>
          </a:solidFill>
          <a:ln w="12700">
            <a:solidFill>
              <a:srgbClr val="9DBFA8"/>
            </a:solidFill>
          </a:ln>
        </p:spPr>
        <p:txBody>
          <a:bodyPr wrap="square" lIns="508" tIns="508" rIns="508" bIns="508" rtlCol="0" anchor="ctr"/>
          <a:lstStyle/>
          <a:p>
            <a:pPr algn="ctr" indent="0" marL="0">
              <a:buNone/>
            </a:pPr>
            <a:r>
              <a:rPr lang="en-US" sz="1250" b="1" dirty="0">
                <a:solidFill>
                  <a:srgbClr val="0F5132"/>
                </a:solidFill>
                <a:latin typeface="Calibri" pitchFamily="34" charset="0"/>
                <a:ea typeface="Calibri" pitchFamily="34" charset="-122"/>
                <a:cs typeface="Calibri" pitchFamily="34" charset="-120"/>
              </a:rPr>
              <a:t>Shortlists and chooses, every step recorded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System Architecture</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Built in layers, so each part can be tested on its own</a:t>
            </a:r>
            <a:endParaRPr lang="en-US" sz="1250" dirty="0"/>
          </a:p>
        </p:txBody>
      </p:sp>
      <p:sp>
        <p:nvSpPr>
          <p:cNvPr id="4" name="Shape 2"/>
          <p:cNvSpPr/>
          <p:nvPr/>
        </p:nvSpPr>
        <p:spPr>
          <a:xfrm>
            <a:off x="566928" y="1572768"/>
            <a:ext cx="6858000" cy="841248"/>
          </a:xfrm>
          <a:prstGeom prst="roundRect">
            <a:avLst>
              <a:gd name="adj" fmla="val 8696"/>
            </a:avLst>
          </a:prstGeom>
          <a:solidFill>
            <a:srgbClr val="EDF3EF"/>
          </a:solidFill>
          <a:ln w="12700">
            <a:solidFill>
              <a:srgbClr val="EDF3EF"/>
            </a:solidFill>
            <a:prstDash val="solid"/>
          </a:ln>
        </p:spPr>
      </p:sp>
      <p:sp>
        <p:nvSpPr>
          <p:cNvPr id="5" name="Text 3"/>
          <p:cNvSpPr txBox="1"/>
          <p:nvPr/>
        </p:nvSpPr>
        <p:spPr>
          <a:xfrm>
            <a:off x="822960" y="1691640"/>
            <a:ext cx="6345936" cy="274320"/>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What the user sees</a:t>
            </a:r>
            <a:endParaRPr lang="en-US" sz="1450" dirty="0"/>
          </a:p>
        </p:txBody>
      </p:sp>
      <p:sp>
        <p:nvSpPr>
          <p:cNvPr id="6" name="Text 4"/>
          <p:cNvSpPr txBox="1"/>
          <p:nvPr/>
        </p:nvSpPr>
        <p:spPr>
          <a:xfrm>
            <a:off x="822960" y="1975104"/>
            <a:ext cx="6345936" cy="310896"/>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Next.js  ·  React  ·  TypeScript  ·  Tailwind CSS</a:t>
            </a:r>
            <a:endParaRPr lang="en-US" sz="1150" dirty="0"/>
          </a:p>
        </p:txBody>
      </p:sp>
      <p:sp>
        <p:nvSpPr>
          <p:cNvPr id="7" name="Shape 5"/>
          <p:cNvSpPr/>
          <p:nvPr/>
        </p:nvSpPr>
        <p:spPr>
          <a:xfrm>
            <a:off x="3895344" y="2441448"/>
            <a:ext cx="201168" cy="201168"/>
          </a:xfrm>
          <a:prstGeom prst="downArrow">
            <a:avLst/>
          </a:prstGeom>
          <a:solidFill>
            <a:srgbClr val="9DBFA8"/>
          </a:solidFill>
          <a:ln w="12700">
            <a:solidFill>
              <a:srgbClr val="9DBFA8"/>
            </a:solidFill>
            <a:prstDash val="solid"/>
          </a:ln>
        </p:spPr>
      </p:sp>
      <p:sp>
        <p:nvSpPr>
          <p:cNvPr id="8" name="Shape 6"/>
          <p:cNvSpPr/>
          <p:nvPr/>
        </p:nvSpPr>
        <p:spPr>
          <a:xfrm>
            <a:off x="566928" y="2651760"/>
            <a:ext cx="6858000" cy="841248"/>
          </a:xfrm>
          <a:prstGeom prst="roundRect">
            <a:avLst>
              <a:gd name="adj" fmla="val 8696"/>
            </a:avLst>
          </a:prstGeom>
          <a:solidFill>
            <a:srgbClr val="EDF3EF"/>
          </a:solidFill>
          <a:ln w="12700">
            <a:solidFill>
              <a:srgbClr val="EDF3EF"/>
            </a:solidFill>
            <a:prstDash val="solid"/>
          </a:ln>
        </p:spPr>
      </p:sp>
      <p:sp>
        <p:nvSpPr>
          <p:cNvPr id="9" name="Text 7"/>
          <p:cNvSpPr txBox="1"/>
          <p:nvPr/>
        </p:nvSpPr>
        <p:spPr>
          <a:xfrm>
            <a:off x="822960" y="2770632"/>
            <a:ext cx="6345936" cy="274320"/>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The working parts</a:t>
            </a:r>
            <a:endParaRPr lang="en-US" sz="1450" dirty="0"/>
          </a:p>
        </p:txBody>
      </p:sp>
      <p:sp>
        <p:nvSpPr>
          <p:cNvPr id="10" name="Text 8"/>
          <p:cNvSpPr txBox="1"/>
          <p:nvPr/>
        </p:nvSpPr>
        <p:spPr>
          <a:xfrm>
            <a:off x="822960" y="3054096"/>
            <a:ext cx="6345936" cy="310896"/>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Saves and loads data, and checks who may see what</a:t>
            </a:r>
            <a:endParaRPr lang="en-US" sz="1150" dirty="0"/>
          </a:p>
        </p:txBody>
      </p:sp>
      <p:sp>
        <p:nvSpPr>
          <p:cNvPr id="11" name="Shape 9"/>
          <p:cNvSpPr/>
          <p:nvPr/>
        </p:nvSpPr>
        <p:spPr>
          <a:xfrm>
            <a:off x="3895344" y="3520440"/>
            <a:ext cx="201168" cy="201168"/>
          </a:xfrm>
          <a:prstGeom prst="downArrow">
            <a:avLst/>
          </a:prstGeom>
          <a:solidFill>
            <a:srgbClr val="9DBFA8"/>
          </a:solidFill>
          <a:ln w="12700">
            <a:solidFill>
              <a:srgbClr val="9DBFA8"/>
            </a:solidFill>
            <a:prstDash val="solid"/>
          </a:ln>
        </p:spPr>
      </p:sp>
      <p:sp>
        <p:nvSpPr>
          <p:cNvPr id="12" name="Shape 10"/>
          <p:cNvSpPr/>
          <p:nvPr/>
        </p:nvSpPr>
        <p:spPr>
          <a:xfrm>
            <a:off x="566928" y="3730752"/>
            <a:ext cx="6858000" cy="841248"/>
          </a:xfrm>
          <a:prstGeom prst="roundRect">
            <a:avLst>
              <a:gd name="adj" fmla="val 8696"/>
            </a:avLst>
          </a:prstGeom>
          <a:solidFill>
            <a:srgbClr val="0F5132"/>
          </a:solidFill>
          <a:ln w="12700">
            <a:solidFill>
              <a:srgbClr val="0F5132"/>
            </a:solidFill>
            <a:prstDash val="solid"/>
          </a:ln>
        </p:spPr>
      </p:sp>
      <p:sp>
        <p:nvSpPr>
          <p:cNvPr id="13" name="Text 11"/>
          <p:cNvSpPr txBox="1"/>
          <p:nvPr/>
        </p:nvSpPr>
        <p:spPr>
          <a:xfrm>
            <a:off x="822960" y="3849624"/>
            <a:ext cx="6345936"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matching rules</a:t>
            </a:r>
            <a:endParaRPr lang="en-US" sz="1450" dirty="0"/>
          </a:p>
        </p:txBody>
      </p:sp>
      <p:sp>
        <p:nvSpPr>
          <p:cNvPr id="14" name="Text 12"/>
          <p:cNvSpPr txBox="1"/>
          <p:nvPr/>
        </p:nvSpPr>
        <p:spPr>
          <a:xfrm>
            <a:off x="822960" y="4133088"/>
            <a:ext cx="6345936" cy="310896"/>
          </a:xfrm>
          <a:prstGeom prst="rect">
            <a:avLst/>
          </a:prstGeom>
          <a:noFill/>
          <a:ln/>
        </p:spPr>
        <p:txBody>
          <a:bodyPr wrap="square" lIns="0" tIns="0" rIns="0" bIns="0" rtlCol="0" anchor="ctr"/>
          <a:lstStyle/>
          <a:p>
            <a:pPr indent="0" marL="0">
              <a:buNone/>
            </a:pPr>
            <a:r>
              <a:rPr lang="en-US" sz="1150" dirty="0">
                <a:solidFill>
                  <a:srgbClr val="9DBFA8"/>
                </a:solidFill>
                <a:latin typeface="Calibri" pitchFamily="34" charset="0"/>
                <a:ea typeface="Calibri" pitchFamily="34" charset="-122"/>
                <a:cs typeface="Calibri" pitchFamily="34" charset="-120"/>
              </a:rPr>
              <a:t>Kept away from the database, so we can test them directly</a:t>
            </a:r>
            <a:endParaRPr lang="en-US" sz="1150" dirty="0"/>
          </a:p>
        </p:txBody>
      </p:sp>
      <p:sp>
        <p:nvSpPr>
          <p:cNvPr id="15" name="Shape 13"/>
          <p:cNvSpPr/>
          <p:nvPr/>
        </p:nvSpPr>
        <p:spPr>
          <a:xfrm>
            <a:off x="3895344" y="4599432"/>
            <a:ext cx="201168" cy="201168"/>
          </a:xfrm>
          <a:prstGeom prst="downArrow">
            <a:avLst/>
          </a:prstGeom>
          <a:solidFill>
            <a:srgbClr val="9DBFA8"/>
          </a:solidFill>
          <a:ln w="12700">
            <a:solidFill>
              <a:srgbClr val="9DBFA8"/>
            </a:solidFill>
            <a:prstDash val="solid"/>
          </a:ln>
        </p:spPr>
      </p:sp>
      <p:sp>
        <p:nvSpPr>
          <p:cNvPr id="16" name="Shape 14"/>
          <p:cNvSpPr/>
          <p:nvPr/>
        </p:nvSpPr>
        <p:spPr>
          <a:xfrm>
            <a:off x="566928" y="4809744"/>
            <a:ext cx="6858000" cy="841248"/>
          </a:xfrm>
          <a:prstGeom prst="roundRect">
            <a:avLst>
              <a:gd name="adj" fmla="val 8696"/>
            </a:avLst>
          </a:prstGeom>
          <a:solidFill>
            <a:srgbClr val="EDF3EF"/>
          </a:solidFill>
          <a:ln w="12700">
            <a:solidFill>
              <a:srgbClr val="EDF3EF"/>
            </a:solidFill>
            <a:prstDash val="solid"/>
          </a:ln>
        </p:spPr>
      </p:sp>
      <p:sp>
        <p:nvSpPr>
          <p:cNvPr id="17" name="Text 15"/>
          <p:cNvSpPr txBox="1"/>
          <p:nvPr/>
        </p:nvSpPr>
        <p:spPr>
          <a:xfrm>
            <a:off x="822960" y="4928616"/>
            <a:ext cx="6345936" cy="274320"/>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Where data is kept</a:t>
            </a:r>
            <a:endParaRPr lang="en-US" sz="1450" dirty="0"/>
          </a:p>
        </p:txBody>
      </p:sp>
      <p:sp>
        <p:nvSpPr>
          <p:cNvPr id="18" name="Text 16"/>
          <p:cNvSpPr txBox="1"/>
          <p:nvPr/>
        </p:nvSpPr>
        <p:spPr>
          <a:xfrm>
            <a:off x="822960" y="5212080"/>
            <a:ext cx="6345936" cy="310896"/>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PostgreSQL  ·  Prisma</a:t>
            </a:r>
            <a:endParaRPr lang="en-US" sz="1150" dirty="0"/>
          </a:p>
        </p:txBody>
      </p:sp>
      <p:sp>
        <p:nvSpPr>
          <p:cNvPr id="19" name="Shape 17"/>
          <p:cNvSpPr/>
          <p:nvPr/>
        </p:nvSpPr>
        <p:spPr>
          <a:xfrm>
            <a:off x="7882128" y="1572768"/>
            <a:ext cx="3712464" cy="1298448"/>
          </a:xfrm>
          <a:prstGeom prst="roundRect">
            <a:avLst>
              <a:gd name="adj" fmla="val 6338"/>
            </a:avLst>
          </a:prstGeom>
          <a:solidFill>
            <a:srgbClr val="EDF3EF"/>
          </a:solidFill>
          <a:ln w="12700">
            <a:solidFill>
              <a:srgbClr val="EDF3EF"/>
            </a:solidFill>
            <a:prstDash val="solid"/>
          </a:ln>
        </p:spPr>
      </p:sp>
      <p:sp>
        <p:nvSpPr>
          <p:cNvPr id="20" name="Text 18"/>
          <p:cNvSpPr txBox="1"/>
          <p:nvPr/>
        </p:nvSpPr>
        <p:spPr>
          <a:xfrm>
            <a:off x="8119872" y="1737360"/>
            <a:ext cx="3236976"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Reading PDF forms</a:t>
            </a:r>
            <a:endParaRPr lang="en-US" sz="1450" dirty="0"/>
          </a:p>
        </p:txBody>
      </p:sp>
      <p:sp>
        <p:nvSpPr>
          <p:cNvPr id="21" name="Text 19"/>
          <p:cNvSpPr txBox="1"/>
          <p:nvPr/>
        </p:nvSpPr>
        <p:spPr>
          <a:xfrm>
            <a:off x="8119872" y="2103120"/>
            <a:ext cx="3236976" cy="603504"/>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pdf-lib · pdfjs-dist</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JSZip · Cheerio</a:t>
            </a:r>
            <a:endParaRPr lang="en-US" sz="1250" dirty="0"/>
          </a:p>
        </p:txBody>
      </p:sp>
      <p:sp>
        <p:nvSpPr>
          <p:cNvPr id="22" name="Shape 20"/>
          <p:cNvSpPr/>
          <p:nvPr/>
        </p:nvSpPr>
        <p:spPr>
          <a:xfrm>
            <a:off x="7882128" y="3017520"/>
            <a:ext cx="3712464" cy="1298448"/>
          </a:xfrm>
          <a:prstGeom prst="roundRect">
            <a:avLst>
              <a:gd name="adj" fmla="val 6338"/>
            </a:avLst>
          </a:prstGeom>
          <a:solidFill>
            <a:srgbClr val="EDF3EF"/>
          </a:solidFill>
          <a:ln w="12700">
            <a:solidFill>
              <a:srgbClr val="EDF3EF"/>
            </a:solidFill>
            <a:prstDash val="solid"/>
          </a:ln>
        </p:spPr>
      </p:sp>
      <p:sp>
        <p:nvSpPr>
          <p:cNvPr id="23" name="Text 21"/>
          <p:cNvSpPr txBox="1"/>
          <p:nvPr/>
        </p:nvSpPr>
        <p:spPr>
          <a:xfrm>
            <a:off x="8119872" y="3182112"/>
            <a:ext cx="3236976"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Checking and safety</a:t>
            </a:r>
            <a:endParaRPr lang="en-US" sz="1450" dirty="0"/>
          </a:p>
        </p:txBody>
      </p:sp>
      <p:sp>
        <p:nvSpPr>
          <p:cNvPr id="24" name="Text 22"/>
          <p:cNvSpPr txBox="1"/>
          <p:nvPr/>
        </p:nvSpPr>
        <p:spPr>
          <a:xfrm>
            <a:off x="8119872" y="3547872"/>
            <a:ext cx="3236976" cy="603504"/>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Zod — checks everything typed in</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bcryptjs — keeps passwords safe</a:t>
            </a:r>
            <a:endParaRPr lang="en-US" sz="1250" dirty="0"/>
          </a:p>
        </p:txBody>
      </p:sp>
      <p:sp>
        <p:nvSpPr>
          <p:cNvPr id="25" name="Shape 23"/>
          <p:cNvSpPr/>
          <p:nvPr/>
        </p:nvSpPr>
        <p:spPr>
          <a:xfrm>
            <a:off x="7882128" y="4462272"/>
            <a:ext cx="3712464" cy="1188720"/>
          </a:xfrm>
          <a:prstGeom prst="roundRect">
            <a:avLst>
              <a:gd name="adj" fmla="val 6923"/>
            </a:avLst>
          </a:prstGeom>
          <a:solidFill>
            <a:srgbClr val="EDF3EF"/>
          </a:solidFill>
          <a:ln w="12700">
            <a:solidFill>
              <a:srgbClr val="EDF3EF"/>
            </a:solidFill>
            <a:prstDash val="solid"/>
          </a:ln>
        </p:spPr>
      </p:sp>
      <p:sp>
        <p:nvSpPr>
          <p:cNvPr id="26" name="Text 24"/>
          <p:cNvSpPr txBox="1"/>
          <p:nvPr/>
        </p:nvSpPr>
        <p:spPr>
          <a:xfrm>
            <a:off x="8119872" y="4626864"/>
            <a:ext cx="3236976"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Testing</a:t>
            </a:r>
            <a:endParaRPr lang="en-US" sz="1450" dirty="0"/>
          </a:p>
        </p:txBody>
      </p:sp>
      <p:sp>
        <p:nvSpPr>
          <p:cNvPr id="27" name="Text 25"/>
          <p:cNvSpPr txBox="1"/>
          <p:nvPr/>
        </p:nvSpPr>
        <p:spPr>
          <a:xfrm>
            <a:off x="8119872" y="4992624"/>
            <a:ext cx="3236976" cy="4937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Playwright · Git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Key System Functionality</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Both sides, in one system</a:t>
            </a:r>
            <a:endParaRPr lang="en-US" sz="1250" dirty="0"/>
          </a:p>
        </p:txBody>
      </p:sp>
      <p:sp>
        <p:nvSpPr>
          <p:cNvPr id="4" name="Text 2"/>
          <p:cNvSpPr txBox="1"/>
          <p:nvPr/>
        </p:nvSpPr>
        <p:spPr>
          <a:xfrm>
            <a:off x="566928" y="1517904"/>
            <a:ext cx="5513832" cy="292608"/>
          </a:xfrm>
          <a:prstGeom prst="rect">
            <a:avLst/>
          </a:prstGeom>
          <a:noFill/>
          <a:ln/>
        </p:spPr>
        <p:txBody>
          <a:bodyPr wrap="square" lIns="0" tIns="0" rIns="0" bIns="0" rtlCol="0" anchor="ctr"/>
          <a:lstStyle/>
          <a:p>
            <a:pPr indent="0" marL="0">
              <a:buNone/>
            </a:pPr>
            <a:r>
              <a:rPr lang="en-US" sz="1200" b="1" spc="120" kern="0" dirty="0">
                <a:solidFill>
                  <a:srgbClr val="5E6B64"/>
                </a:solidFill>
                <a:latin typeface="Calibri" pitchFamily="34" charset="0"/>
                <a:ea typeface="Calibri" pitchFamily="34" charset="-122"/>
                <a:cs typeface="Calibri" pitchFamily="34" charset="-120"/>
              </a:rPr>
              <a:t>THE STUDENT SIDE</a:t>
            </a:r>
            <a:endParaRPr lang="en-US" sz="1200" dirty="0"/>
          </a:p>
        </p:txBody>
      </p:sp>
      <p:sp>
        <p:nvSpPr>
          <p:cNvPr id="5" name="Text 3"/>
          <p:cNvSpPr txBox="1"/>
          <p:nvPr/>
        </p:nvSpPr>
        <p:spPr>
          <a:xfrm>
            <a:off x="566928" y="195681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93852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Account and profile</a:t>
            </a:r>
            <a:endParaRPr lang="en-US" sz="1300" dirty="0"/>
          </a:p>
        </p:txBody>
      </p:sp>
      <p:sp>
        <p:nvSpPr>
          <p:cNvPr id="7" name="Text 5"/>
          <p:cNvSpPr txBox="1"/>
          <p:nvPr/>
        </p:nvSpPr>
        <p:spPr>
          <a:xfrm>
            <a:off x="969264" y="219456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Personal details, marks, subjects and family income</a:t>
            </a:r>
            <a:endParaRPr lang="en-US" sz="1150" dirty="0"/>
          </a:p>
        </p:txBody>
      </p:sp>
      <p:sp>
        <p:nvSpPr>
          <p:cNvPr id="8" name="Text 6"/>
          <p:cNvSpPr txBox="1"/>
          <p:nvPr/>
        </p:nvSpPr>
        <p:spPr>
          <a:xfrm>
            <a:off x="566928" y="2715768"/>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969264" y="2697480"/>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List of all bursaries</a:t>
            </a:r>
            <a:endParaRPr lang="en-US" sz="1300" dirty="0"/>
          </a:p>
        </p:txBody>
      </p:sp>
      <p:sp>
        <p:nvSpPr>
          <p:cNvPr id="10" name="Text 8"/>
          <p:cNvSpPr txBox="1"/>
          <p:nvPr/>
        </p:nvSpPr>
        <p:spPr>
          <a:xfrm>
            <a:off x="969264" y="2953512"/>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Every bursary we hold, each showing where it came from</a:t>
            </a:r>
            <a:endParaRPr lang="en-US" sz="1150" dirty="0"/>
          </a:p>
        </p:txBody>
      </p:sp>
      <p:sp>
        <p:nvSpPr>
          <p:cNvPr id="11" name="Text 9"/>
          <p:cNvSpPr txBox="1"/>
          <p:nvPr/>
        </p:nvSpPr>
        <p:spPr>
          <a:xfrm>
            <a:off x="566928" y="347472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10"/>
          <p:cNvSpPr txBox="1"/>
          <p:nvPr/>
        </p:nvSpPr>
        <p:spPr>
          <a:xfrm>
            <a:off x="969264" y="3456432"/>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Matching</a:t>
            </a:r>
            <a:endParaRPr lang="en-US" sz="1300" dirty="0"/>
          </a:p>
        </p:txBody>
      </p:sp>
      <p:sp>
        <p:nvSpPr>
          <p:cNvPr id="13" name="Text 11"/>
          <p:cNvSpPr txBox="1"/>
          <p:nvPr/>
        </p:nvSpPr>
        <p:spPr>
          <a:xfrm>
            <a:off x="969264" y="3712464"/>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A ranked list, with the reason behind every score</a:t>
            </a:r>
            <a:endParaRPr lang="en-US" sz="1150" dirty="0"/>
          </a:p>
        </p:txBody>
      </p:sp>
      <p:sp>
        <p:nvSpPr>
          <p:cNvPr id="14" name="Text 12"/>
          <p:cNvSpPr txBox="1"/>
          <p:nvPr/>
        </p:nvSpPr>
        <p:spPr>
          <a:xfrm>
            <a:off x="566928" y="4233672"/>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969264" y="4215384"/>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Applying</a:t>
            </a:r>
            <a:endParaRPr lang="en-US" sz="1300" dirty="0"/>
          </a:p>
        </p:txBody>
      </p:sp>
      <p:sp>
        <p:nvSpPr>
          <p:cNvPr id="16" name="Text 14"/>
          <p:cNvSpPr txBox="1"/>
          <p:nvPr/>
        </p:nvSpPr>
        <p:spPr>
          <a:xfrm>
            <a:off x="969264" y="4471416"/>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Apply using saved details, attach documents once, then track progress</a:t>
            </a:r>
            <a:endParaRPr lang="en-US" sz="1150" dirty="0"/>
          </a:p>
        </p:txBody>
      </p:sp>
      <p:sp>
        <p:nvSpPr>
          <p:cNvPr id="17" name="Text 15"/>
          <p:cNvSpPr txBox="1"/>
          <p:nvPr/>
        </p:nvSpPr>
        <p:spPr>
          <a:xfrm>
            <a:off x="566928" y="4992624"/>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8" name="Text 16"/>
          <p:cNvSpPr txBox="1"/>
          <p:nvPr/>
        </p:nvSpPr>
        <p:spPr>
          <a:xfrm>
            <a:off x="969264" y="4974336"/>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Auto-Fill for PDF forms</a:t>
            </a:r>
            <a:endParaRPr lang="en-US" sz="1300" dirty="0"/>
          </a:p>
        </p:txBody>
      </p:sp>
      <p:sp>
        <p:nvSpPr>
          <p:cNvPr id="19" name="Text 17"/>
          <p:cNvSpPr txBox="1"/>
          <p:nvPr/>
        </p:nvSpPr>
        <p:spPr>
          <a:xfrm>
            <a:off x="969264" y="5230368"/>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Fills a form from the profile, and says how sure it is each time</a:t>
            </a:r>
            <a:endParaRPr lang="en-US" sz="1150" dirty="0"/>
          </a:p>
        </p:txBody>
      </p:sp>
      <p:sp>
        <p:nvSpPr>
          <p:cNvPr id="20" name="Text 18"/>
          <p:cNvSpPr txBox="1"/>
          <p:nvPr/>
        </p:nvSpPr>
        <p:spPr>
          <a:xfrm>
            <a:off x="566928" y="575157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1" name="Text 19"/>
          <p:cNvSpPr txBox="1"/>
          <p:nvPr/>
        </p:nvSpPr>
        <p:spPr>
          <a:xfrm>
            <a:off x="969264" y="573328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Motivation letter helper</a:t>
            </a:r>
            <a:endParaRPr lang="en-US" sz="1300" dirty="0"/>
          </a:p>
        </p:txBody>
      </p:sp>
      <p:sp>
        <p:nvSpPr>
          <p:cNvPr id="22" name="Text 20"/>
          <p:cNvSpPr txBox="1"/>
          <p:nvPr/>
        </p:nvSpPr>
        <p:spPr>
          <a:xfrm>
            <a:off x="969264" y="598932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Built from what the student said — it never writes for them</a:t>
            </a:r>
            <a:endParaRPr lang="en-US" sz="1150" dirty="0"/>
          </a:p>
        </p:txBody>
      </p:sp>
      <p:sp>
        <p:nvSpPr>
          <p:cNvPr id="23" name="Text 21"/>
          <p:cNvSpPr txBox="1"/>
          <p:nvPr/>
        </p:nvSpPr>
        <p:spPr>
          <a:xfrm>
            <a:off x="6446520" y="1517904"/>
            <a:ext cx="5513832" cy="292608"/>
          </a:xfrm>
          <a:prstGeom prst="rect">
            <a:avLst/>
          </a:prstGeom>
          <a:noFill/>
          <a:ln/>
        </p:spPr>
        <p:txBody>
          <a:bodyPr wrap="square" lIns="0" tIns="0" rIns="0" bIns="0" rtlCol="0" anchor="ctr"/>
          <a:lstStyle/>
          <a:p>
            <a:pPr indent="0" marL="0">
              <a:buNone/>
            </a:pPr>
            <a:r>
              <a:rPr lang="en-US" sz="1200" b="1" spc="120" kern="0" dirty="0">
                <a:solidFill>
                  <a:srgbClr val="5E6B64"/>
                </a:solidFill>
                <a:latin typeface="Calibri" pitchFamily="34" charset="0"/>
                <a:ea typeface="Calibri" pitchFamily="34" charset="-122"/>
                <a:cs typeface="Calibri" pitchFamily="34" charset="-120"/>
              </a:rPr>
              <a:t>THE COMPANY SIDE</a:t>
            </a:r>
            <a:endParaRPr lang="en-US" sz="1200" dirty="0"/>
          </a:p>
        </p:txBody>
      </p:sp>
      <p:sp>
        <p:nvSpPr>
          <p:cNvPr id="24" name="Text 22"/>
          <p:cNvSpPr txBox="1"/>
          <p:nvPr/>
        </p:nvSpPr>
        <p:spPr>
          <a:xfrm>
            <a:off x="6446520" y="195681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5" name="Text 23"/>
          <p:cNvSpPr txBox="1"/>
          <p:nvPr/>
        </p:nvSpPr>
        <p:spPr>
          <a:xfrm>
            <a:off x="6848856" y="193852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Company account</a:t>
            </a:r>
            <a:endParaRPr lang="en-US" sz="1300" dirty="0"/>
          </a:p>
        </p:txBody>
      </p:sp>
      <p:sp>
        <p:nvSpPr>
          <p:cNvPr id="26" name="Text 24"/>
          <p:cNvSpPr txBox="1"/>
          <p:nvPr/>
        </p:nvSpPr>
        <p:spPr>
          <a:xfrm>
            <a:off x="6848856" y="219456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Signing up, and the company details</a:t>
            </a:r>
            <a:endParaRPr lang="en-US" sz="1150" dirty="0"/>
          </a:p>
        </p:txBody>
      </p:sp>
      <p:sp>
        <p:nvSpPr>
          <p:cNvPr id="27" name="Text 25"/>
          <p:cNvSpPr txBox="1"/>
          <p:nvPr/>
        </p:nvSpPr>
        <p:spPr>
          <a:xfrm>
            <a:off x="6446520" y="2715768"/>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Text 26"/>
          <p:cNvSpPr txBox="1"/>
          <p:nvPr/>
        </p:nvSpPr>
        <p:spPr>
          <a:xfrm>
            <a:off x="6848856" y="2697480"/>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Advertise a bursary</a:t>
            </a:r>
            <a:endParaRPr lang="en-US" sz="1300" dirty="0"/>
          </a:p>
        </p:txBody>
      </p:sp>
      <p:sp>
        <p:nvSpPr>
          <p:cNvPr id="29" name="Text 27"/>
          <p:cNvSpPr txBox="1"/>
          <p:nvPr/>
        </p:nvSpPr>
        <p:spPr>
          <a:xfrm>
            <a:off x="6848856" y="2953512"/>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The rules are typed into boxes, not written as sentences</a:t>
            </a:r>
            <a:endParaRPr lang="en-US" sz="1150" dirty="0"/>
          </a:p>
        </p:txBody>
      </p:sp>
      <p:sp>
        <p:nvSpPr>
          <p:cNvPr id="30" name="Text 28"/>
          <p:cNvSpPr txBox="1"/>
          <p:nvPr/>
        </p:nvSpPr>
        <p:spPr>
          <a:xfrm>
            <a:off x="6446520" y="347472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6848856" y="3456432"/>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Review applicants</a:t>
            </a:r>
            <a:endParaRPr lang="en-US" sz="1300" dirty="0"/>
          </a:p>
        </p:txBody>
      </p:sp>
      <p:sp>
        <p:nvSpPr>
          <p:cNvPr id="32" name="Text 30"/>
          <p:cNvSpPr txBox="1"/>
          <p:nvPr/>
        </p:nvSpPr>
        <p:spPr>
          <a:xfrm>
            <a:off x="6848856" y="3712464"/>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Applications arrive organised, already checked against their rules</a:t>
            </a:r>
            <a:endParaRPr lang="en-US" sz="1150" dirty="0"/>
          </a:p>
        </p:txBody>
      </p:sp>
      <p:sp>
        <p:nvSpPr>
          <p:cNvPr id="33" name="Text 31"/>
          <p:cNvSpPr txBox="1"/>
          <p:nvPr/>
        </p:nvSpPr>
        <p:spPr>
          <a:xfrm>
            <a:off x="6446520" y="4233672"/>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2"/>
          <p:cNvSpPr txBox="1"/>
          <p:nvPr/>
        </p:nvSpPr>
        <p:spPr>
          <a:xfrm>
            <a:off x="6848856" y="4215384"/>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Shortlist and choose</a:t>
            </a:r>
            <a:endParaRPr lang="en-US" sz="1300" dirty="0"/>
          </a:p>
        </p:txBody>
      </p:sp>
      <p:sp>
        <p:nvSpPr>
          <p:cNvPr id="35" name="Text 33"/>
          <p:cNvSpPr txBox="1"/>
          <p:nvPr/>
        </p:nvSpPr>
        <p:spPr>
          <a:xfrm>
            <a:off x="6848856" y="4471416"/>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Every step is recorded</a:t>
            </a:r>
            <a:endParaRPr lang="en-US" sz="1150" dirty="0"/>
          </a:p>
        </p:txBody>
      </p:sp>
      <p:sp>
        <p:nvSpPr>
          <p:cNvPr id="36" name="Text 34"/>
          <p:cNvSpPr txBox="1"/>
          <p:nvPr/>
        </p:nvSpPr>
        <p:spPr>
          <a:xfrm>
            <a:off x="6446520" y="4992624"/>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7" name="Text 35"/>
          <p:cNvSpPr txBox="1"/>
          <p:nvPr/>
        </p:nvSpPr>
        <p:spPr>
          <a:xfrm>
            <a:off x="6848856" y="4974336"/>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Upload many forms at once</a:t>
            </a:r>
            <a:endParaRPr lang="en-US" sz="1300" dirty="0"/>
          </a:p>
        </p:txBody>
      </p:sp>
      <p:sp>
        <p:nvSpPr>
          <p:cNvPr id="38" name="Text 36"/>
          <p:cNvSpPr txBox="1"/>
          <p:nvPr/>
        </p:nvSpPr>
        <p:spPr>
          <a:xfrm>
            <a:off x="6848856" y="5230368"/>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Forms sent by email are read in, then checked before saving</a:t>
            </a:r>
            <a:endParaRPr lang="en-US" sz="1150" dirty="0"/>
          </a:p>
        </p:txBody>
      </p:sp>
      <p:sp>
        <p:nvSpPr>
          <p:cNvPr id="39" name="Text 37"/>
          <p:cNvSpPr txBox="1"/>
          <p:nvPr/>
        </p:nvSpPr>
        <p:spPr>
          <a:xfrm>
            <a:off x="6446520" y="575157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0" name="Text 38"/>
          <p:cNvSpPr txBox="1"/>
          <p:nvPr/>
        </p:nvSpPr>
        <p:spPr>
          <a:xfrm>
            <a:off x="6848856" y="573328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Spot duplicates</a:t>
            </a:r>
            <a:endParaRPr lang="en-US" sz="1300" dirty="0"/>
          </a:p>
        </p:txBody>
      </p:sp>
      <p:sp>
        <p:nvSpPr>
          <p:cNvPr id="41" name="Text 39"/>
          <p:cNvSpPr txBox="1"/>
          <p:nvPr/>
        </p:nvSpPr>
        <p:spPr>
          <a:xfrm>
            <a:off x="6848856" y="5989320"/>
            <a:ext cx="5111496" cy="420624"/>
          </a:xfrm>
          <a:prstGeom prst="rect">
            <a:avLst/>
          </a:prstGeom>
          <a:noFill/>
          <a:ln/>
        </p:spPr>
        <p:txBody>
          <a:bodyPr wrap="square" lIns="0" tIns="0" rIns="0" bIns="0" rtlCol="0" anchor="ctr"/>
          <a:lstStyle/>
          <a:p>
            <a:pPr indent="0" marL="0">
              <a:lnSpc>
                <a:spcPct val="110000"/>
              </a:lnSpc>
              <a:buNone/>
            </a:pPr>
            <a:r>
              <a:rPr lang="en-US" sz="1150" dirty="0">
                <a:solidFill>
                  <a:srgbClr val="5E6B64"/>
                </a:solidFill>
                <a:latin typeface="Calibri" pitchFamily="34" charset="0"/>
                <a:ea typeface="Calibri" pitchFamily="34" charset="-122"/>
                <a:cs typeface="Calibri" pitchFamily="34" charset="-120"/>
              </a:rPr>
              <a:t>Possible duplicates are flagged for a person to decide 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Matching and Qualifying</a:t>
            </a:r>
            <a:endParaRPr lang="en-US" sz="3100" dirty="0"/>
          </a:p>
        </p:txBody>
      </p:sp>
      <p:sp>
        <p:nvSpPr>
          <p:cNvPr id="3" name="Text 1"/>
          <p:cNvSpPr txBox="1"/>
          <p:nvPr/>
        </p:nvSpPr>
        <p:spPr>
          <a:xfrm>
            <a:off x="566928" y="987552"/>
            <a:ext cx="11027664" cy="292608"/>
          </a:xfrm>
          <a:prstGeom prst="rect">
            <a:avLst/>
          </a:prstGeom>
          <a:noFill/>
          <a:ln/>
        </p:spPr>
        <p:txBody>
          <a:bodyPr wrap="square" lIns="0" tIns="0" rIns="0" bIns="0" rtlCol="0" anchor="ctr"/>
          <a:lstStyle/>
          <a:p>
            <a:pPr indent="0" marL="0">
              <a:buNone/>
            </a:pPr>
            <a:r>
              <a:rPr lang="en-US" sz="1250" spc="60" kern="0" dirty="0">
                <a:solidFill>
                  <a:srgbClr val="5E6B64"/>
                </a:solidFill>
                <a:latin typeface="Calibri" pitchFamily="34" charset="0"/>
                <a:ea typeface="Calibri" pitchFamily="34" charset="-122"/>
                <a:cs typeface="Calibri" pitchFamily="34" charset="-120"/>
              </a:rPr>
              <a:t>Two different questions, kept apart on purpose</a:t>
            </a:r>
            <a:endParaRPr lang="en-US" sz="1250" dirty="0"/>
          </a:p>
        </p:txBody>
      </p:sp>
      <p:sp>
        <p:nvSpPr>
          <p:cNvPr id="4" name="Shape 2"/>
          <p:cNvSpPr/>
          <p:nvPr/>
        </p:nvSpPr>
        <p:spPr>
          <a:xfrm>
            <a:off x="4160520" y="1481328"/>
            <a:ext cx="3840480" cy="566928"/>
          </a:xfrm>
          <a:prstGeom prst="roundRect">
            <a:avLst>
              <a:gd name="adj" fmla="val 12903"/>
            </a:avLst>
          </a:prstGeom>
          <a:solidFill>
            <a:srgbClr val="0F5132"/>
          </a:solidFill>
          <a:ln w="12700">
            <a:solidFill>
              <a:srgbClr val="0F5132"/>
            </a:solidFill>
            <a:prstDash val="solid"/>
          </a:ln>
        </p:spPr>
      </p:sp>
      <p:sp>
        <p:nvSpPr>
          <p:cNvPr id="5" name="Text 3"/>
          <p:cNvSpPr txBox="1"/>
          <p:nvPr/>
        </p:nvSpPr>
        <p:spPr>
          <a:xfrm>
            <a:off x="4160520" y="1481328"/>
            <a:ext cx="3840480" cy="566928"/>
          </a:xfrm>
          <a:prstGeom prst="rect">
            <a:avLst/>
          </a:prstGeom>
          <a:noFill/>
          <a:ln/>
        </p:spPr>
        <p:txBody>
          <a:bodyPr wrap="square" lIns="0" tIns="0" rIns="0" bIns="0" rtlCol="0" anchor="ctr"/>
          <a:lstStyle/>
          <a:p>
            <a:pPr algn="ctr" indent="0" marL="0">
              <a:buNone/>
            </a:pPr>
            <a:r>
              <a:rPr lang="en-US" sz="1400" b="1" spc="120" kern="0" dirty="0">
                <a:solidFill>
                  <a:srgbClr val="FFFFFF"/>
                </a:solidFill>
                <a:latin typeface="Calibri" pitchFamily="34" charset="0"/>
                <a:ea typeface="Calibri" pitchFamily="34" charset="-122"/>
                <a:cs typeface="Calibri" pitchFamily="34" charset="-120"/>
              </a:rPr>
              <a:t>STUDENT PROFILE</a:t>
            </a:r>
            <a:endParaRPr lang="en-US" sz="1400" dirty="0"/>
          </a:p>
        </p:txBody>
      </p:sp>
      <p:sp>
        <p:nvSpPr>
          <p:cNvPr id="6" name="Shape 4"/>
          <p:cNvSpPr/>
          <p:nvPr/>
        </p:nvSpPr>
        <p:spPr>
          <a:xfrm>
            <a:off x="3223260" y="2157984"/>
            <a:ext cx="201168" cy="201168"/>
          </a:xfrm>
          <a:prstGeom prst="downArrow">
            <a:avLst/>
          </a:prstGeom>
          <a:solidFill>
            <a:srgbClr val="9DBFA8"/>
          </a:solidFill>
          <a:ln w="12700">
            <a:solidFill>
              <a:srgbClr val="9DBFA8"/>
            </a:solidFill>
            <a:prstDash val="solid"/>
          </a:ln>
        </p:spPr>
      </p:sp>
      <p:sp>
        <p:nvSpPr>
          <p:cNvPr id="7" name="Shape 5"/>
          <p:cNvSpPr/>
          <p:nvPr/>
        </p:nvSpPr>
        <p:spPr>
          <a:xfrm>
            <a:off x="9102852" y="2157984"/>
            <a:ext cx="201168" cy="201168"/>
          </a:xfrm>
          <a:prstGeom prst="downArrow">
            <a:avLst/>
          </a:prstGeom>
          <a:solidFill>
            <a:srgbClr val="9DBFA8"/>
          </a:solidFill>
          <a:ln w="12700">
            <a:solidFill>
              <a:srgbClr val="9DBFA8"/>
            </a:solidFill>
            <a:prstDash val="solid"/>
          </a:ln>
        </p:spPr>
      </p:sp>
      <p:sp>
        <p:nvSpPr>
          <p:cNvPr id="8" name="Text 6"/>
          <p:cNvSpPr txBox="1"/>
          <p:nvPr/>
        </p:nvSpPr>
        <p:spPr>
          <a:xfrm>
            <a:off x="566928" y="2487168"/>
            <a:ext cx="5513832" cy="566928"/>
          </a:xfrm>
          <a:prstGeom prst="roundRect">
            <a:avLst>
              <a:gd name="adj" fmla="val 12903"/>
            </a:avLst>
          </a:prstGeom>
          <a:solidFill>
            <a:srgbClr val="EDF3EF"/>
          </a:solidFill>
          <a:ln w="12700">
            <a:solidFill>
              <a:srgbClr val="9DBFA8"/>
            </a:solidFill>
          </a:ln>
        </p:spPr>
        <p:txBody>
          <a:bodyPr wrap="square" lIns="508" tIns="508" rIns="508" bIns="508" rtlCol="0" anchor="ctr"/>
          <a:lstStyle/>
          <a:p>
            <a:pPr algn="ctr" indent="0" marL="0">
              <a:buNone/>
            </a:pPr>
            <a:r>
              <a:rPr lang="en-US" sz="1450" b="1" dirty="0">
                <a:solidFill>
                  <a:srgbClr val="0F5132"/>
                </a:solidFill>
                <a:latin typeface="Calibri" pitchFamily="34" charset="0"/>
                <a:ea typeface="Calibri" pitchFamily="34" charset="-122"/>
                <a:cs typeface="Calibri" pitchFamily="34" charset="-120"/>
              </a:rPr>
              <a:t>Do they qualify?</a:t>
            </a:r>
            <a:endParaRPr lang="en-US" sz="1450" dirty="0"/>
          </a:p>
        </p:txBody>
      </p:sp>
      <p:sp>
        <p:nvSpPr>
          <p:cNvPr id="9" name="Text 7"/>
          <p:cNvSpPr txBox="1"/>
          <p:nvPr/>
        </p:nvSpPr>
        <p:spPr>
          <a:xfrm>
            <a:off x="6446520" y="2487168"/>
            <a:ext cx="5513832" cy="566928"/>
          </a:xfrm>
          <a:prstGeom prst="roundRect">
            <a:avLst>
              <a:gd name="adj" fmla="val 12903"/>
            </a:avLst>
          </a:prstGeom>
          <a:solidFill>
            <a:srgbClr val="EDF3EF"/>
          </a:solidFill>
          <a:ln w="12700">
            <a:solidFill>
              <a:srgbClr val="9DBFA8"/>
            </a:solidFill>
          </a:ln>
        </p:spPr>
        <p:txBody>
          <a:bodyPr wrap="square" lIns="508" tIns="508" rIns="508" bIns="508" rtlCol="0" anchor="ctr"/>
          <a:lstStyle/>
          <a:p>
            <a:pPr algn="ctr" indent="0" marL="0">
              <a:buNone/>
            </a:pPr>
            <a:r>
              <a:rPr lang="en-US" sz="1450" b="1" dirty="0">
                <a:solidFill>
                  <a:srgbClr val="0F5132"/>
                </a:solidFill>
                <a:latin typeface="Calibri" pitchFamily="34" charset="0"/>
                <a:ea typeface="Calibri" pitchFamily="34" charset="-122"/>
                <a:cs typeface="Calibri" pitchFamily="34" charset="-120"/>
              </a:rPr>
              <a:t>How well do they fit?</a:t>
            </a:r>
            <a:endParaRPr lang="en-US" sz="1450" dirty="0"/>
          </a:p>
        </p:txBody>
      </p:sp>
      <p:sp>
        <p:nvSpPr>
          <p:cNvPr id="10" name="Shape 8"/>
          <p:cNvSpPr/>
          <p:nvPr/>
        </p:nvSpPr>
        <p:spPr>
          <a:xfrm>
            <a:off x="3223260" y="3127248"/>
            <a:ext cx="201168" cy="201168"/>
          </a:xfrm>
          <a:prstGeom prst="downArrow">
            <a:avLst/>
          </a:prstGeom>
          <a:solidFill>
            <a:srgbClr val="9DBFA8"/>
          </a:solidFill>
          <a:ln w="12700">
            <a:solidFill>
              <a:srgbClr val="9DBFA8"/>
            </a:solidFill>
            <a:prstDash val="solid"/>
          </a:ln>
        </p:spPr>
      </p:sp>
      <p:sp>
        <p:nvSpPr>
          <p:cNvPr id="11" name="Shape 9"/>
          <p:cNvSpPr/>
          <p:nvPr/>
        </p:nvSpPr>
        <p:spPr>
          <a:xfrm>
            <a:off x="9102852" y="3127248"/>
            <a:ext cx="201168" cy="201168"/>
          </a:xfrm>
          <a:prstGeom prst="downArrow">
            <a:avLst/>
          </a:prstGeom>
          <a:solidFill>
            <a:srgbClr val="9DBFA8"/>
          </a:solidFill>
          <a:ln w="12700">
            <a:solidFill>
              <a:srgbClr val="9DBFA8"/>
            </a:solidFill>
            <a:prstDash val="solid"/>
          </a:ln>
        </p:spPr>
      </p:sp>
      <p:sp>
        <p:nvSpPr>
          <p:cNvPr id="12" name="Text 10"/>
          <p:cNvSpPr txBox="1"/>
          <p:nvPr/>
        </p:nvSpPr>
        <p:spPr>
          <a:xfrm>
            <a:off x="566928" y="3456432"/>
            <a:ext cx="1746504" cy="603504"/>
          </a:xfrm>
          <a:prstGeom prst="roundRect">
            <a:avLst>
              <a:gd name="adj" fmla="val 12121"/>
            </a:avLst>
          </a:prstGeom>
          <a:solidFill>
            <a:srgbClr val="FFFFFF"/>
          </a:solidFill>
          <a:ln w="12700">
            <a:solidFill>
              <a:srgbClr val="9DBFA8"/>
            </a:solidFill>
          </a:ln>
        </p:spPr>
        <p:txBody>
          <a:bodyPr wrap="square" lIns="508" tIns="508" rIns="508" bIns="508" rtlCol="0" anchor="ctr"/>
          <a:lstStyle/>
          <a:p>
            <a:pPr algn="ctr" indent="0" marL="0">
              <a:buNone/>
            </a:pPr>
            <a:r>
              <a:rPr lang="en-US" sz="1150" b="1" dirty="0">
                <a:solidFill>
                  <a:srgbClr val="0F5132"/>
                </a:solidFill>
                <a:latin typeface="Calibri" pitchFamily="34" charset="0"/>
                <a:ea typeface="Calibri" pitchFamily="34" charset="-122"/>
                <a:cs typeface="Calibri" pitchFamily="34" charset="-120"/>
              </a:rPr>
              <a:t>Qualifies</a:t>
            </a:r>
            <a:endParaRPr lang="en-US" sz="1150" dirty="0"/>
          </a:p>
        </p:txBody>
      </p:sp>
      <p:sp>
        <p:nvSpPr>
          <p:cNvPr id="13" name="Text 11"/>
          <p:cNvSpPr txBox="1"/>
          <p:nvPr/>
        </p:nvSpPr>
        <p:spPr>
          <a:xfrm>
            <a:off x="2450592" y="3456432"/>
            <a:ext cx="1746504" cy="603504"/>
          </a:xfrm>
          <a:prstGeom prst="roundRect">
            <a:avLst>
              <a:gd name="adj" fmla="val 12121"/>
            </a:avLst>
          </a:prstGeom>
          <a:solidFill>
            <a:srgbClr val="FFFFFF"/>
          </a:solidFill>
          <a:ln w="12700">
            <a:solidFill>
              <a:srgbClr val="9DBFA8"/>
            </a:solidFill>
          </a:ln>
        </p:spPr>
        <p:txBody>
          <a:bodyPr wrap="square" lIns="508" tIns="508" rIns="508" bIns="508" rtlCol="0" anchor="ctr"/>
          <a:lstStyle/>
          <a:p>
            <a:pPr algn="ctr" indent="0" marL="0">
              <a:buNone/>
            </a:pPr>
            <a:r>
              <a:rPr lang="en-US" sz="1150" b="1" dirty="0">
                <a:solidFill>
                  <a:srgbClr val="0F5132"/>
                </a:solidFill>
                <a:latin typeface="Calibri" pitchFamily="34" charset="0"/>
                <a:ea typeface="Calibri" pitchFamily="34" charset="-122"/>
                <a:cs typeface="Calibri" pitchFamily="34" charset="-120"/>
              </a:rPr>
              <a:t>Does not qualify</a:t>
            </a:r>
            <a:endParaRPr lang="en-US" sz="1150" dirty="0"/>
          </a:p>
        </p:txBody>
      </p:sp>
      <p:sp>
        <p:nvSpPr>
          <p:cNvPr id="14" name="Text 12"/>
          <p:cNvSpPr txBox="1"/>
          <p:nvPr/>
        </p:nvSpPr>
        <p:spPr>
          <a:xfrm>
            <a:off x="4334256" y="3456432"/>
            <a:ext cx="1746504" cy="603504"/>
          </a:xfrm>
          <a:prstGeom prst="roundRect">
            <a:avLst>
              <a:gd name="adj" fmla="val 12121"/>
            </a:avLst>
          </a:prstGeom>
          <a:solidFill>
            <a:srgbClr val="FFFFFF"/>
          </a:solidFill>
          <a:ln w="12700">
            <a:solidFill>
              <a:srgbClr val="9DBFA8"/>
            </a:solidFill>
          </a:ln>
        </p:spPr>
        <p:txBody>
          <a:bodyPr wrap="square" lIns="508" tIns="508" rIns="508" bIns="508" rtlCol="0" anchor="ctr"/>
          <a:lstStyle/>
          <a:p>
            <a:pPr algn="ctr" indent="0" marL="0">
              <a:buNone/>
            </a:pPr>
            <a:r>
              <a:rPr lang="en-US" sz="1150" b="1" dirty="0">
                <a:solidFill>
                  <a:srgbClr val="0F5132"/>
                </a:solidFill>
                <a:latin typeface="Calibri" pitchFamily="34" charset="0"/>
                <a:ea typeface="Calibri" pitchFamily="34" charset="-122"/>
                <a:cs typeface="Calibri" pitchFamily="34" charset="-120"/>
              </a:rPr>
              <a:t>Need more info</a:t>
            </a:r>
            <a:endParaRPr lang="en-US" sz="1150" dirty="0"/>
          </a:p>
        </p:txBody>
      </p:sp>
      <p:sp>
        <p:nvSpPr>
          <p:cNvPr id="15" name="Shape 13"/>
          <p:cNvSpPr/>
          <p:nvPr/>
        </p:nvSpPr>
        <p:spPr>
          <a:xfrm>
            <a:off x="6446520" y="3456432"/>
            <a:ext cx="5513832" cy="603504"/>
          </a:xfrm>
          <a:prstGeom prst="roundRect">
            <a:avLst>
              <a:gd name="adj" fmla="val 12121"/>
            </a:avLst>
          </a:prstGeom>
          <a:solidFill>
            <a:srgbClr val="C08A2E"/>
          </a:solidFill>
          <a:ln w="12700">
            <a:solidFill>
              <a:srgbClr val="C08A2E"/>
            </a:solidFill>
            <a:prstDash val="solid"/>
          </a:ln>
        </p:spPr>
      </p:sp>
      <p:sp>
        <p:nvSpPr>
          <p:cNvPr id="16" name="Text 14"/>
          <p:cNvSpPr txBox="1"/>
          <p:nvPr/>
        </p:nvSpPr>
        <p:spPr>
          <a:xfrm>
            <a:off x="6446520" y="3456432"/>
            <a:ext cx="5513832" cy="603504"/>
          </a:xfrm>
          <a:prstGeom prst="rect">
            <a:avLst/>
          </a:prstGeom>
          <a:noFill/>
          <a:ln/>
        </p:spPr>
        <p:txBody>
          <a:bodyPr wrap="square" lIns="508" tIns="508" rIns="508" bIns="508" rtlCol="0" anchor="ctr"/>
          <a:lstStyle/>
          <a:p>
            <a:pPr algn="ctr" indent="0" marL="0">
              <a:buNone/>
            </a:pPr>
            <a:r>
              <a:rPr lang="en-US" sz="1250" b="1" dirty="0">
                <a:solidFill>
                  <a:srgbClr val="2A1D05"/>
                </a:solidFill>
                <a:latin typeface="Calibri" pitchFamily="34" charset="0"/>
                <a:ea typeface="Calibri" pitchFamily="34" charset="-122"/>
                <a:cs typeface="Calibri" pitchFamily="34" charset="-120"/>
              </a:rPr>
              <a:t>A match score out of 100, with a reason for every rule</a:t>
            </a:r>
            <a:endParaRPr lang="en-US" sz="1250" dirty="0"/>
          </a:p>
        </p:txBody>
      </p:sp>
      <p:sp>
        <p:nvSpPr>
          <p:cNvPr id="17" name="Shape 15"/>
          <p:cNvSpPr/>
          <p:nvPr/>
        </p:nvSpPr>
        <p:spPr>
          <a:xfrm>
            <a:off x="566928" y="4261104"/>
            <a:ext cx="5513832" cy="1371600"/>
          </a:xfrm>
          <a:prstGeom prst="roundRect">
            <a:avLst>
              <a:gd name="adj" fmla="val 6000"/>
            </a:avLst>
          </a:prstGeom>
          <a:solidFill>
            <a:srgbClr val="EDF3EF"/>
          </a:solidFill>
          <a:ln w="12700">
            <a:solidFill>
              <a:srgbClr val="EDF3EF"/>
            </a:solidFill>
            <a:prstDash val="solid"/>
          </a:ln>
        </p:spPr>
      </p:sp>
      <p:sp>
        <p:nvSpPr>
          <p:cNvPr id="18" name="Text 16"/>
          <p:cNvSpPr txBox="1"/>
          <p:nvPr/>
        </p:nvSpPr>
        <p:spPr>
          <a:xfrm>
            <a:off x="804672" y="4425696"/>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When we cannot check a rule</a:t>
            </a:r>
            <a:endParaRPr lang="en-US" sz="1450" dirty="0"/>
          </a:p>
        </p:txBody>
      </p:sp>
      <p:sp>
        <p:nvSpPr>
          <p:cNvPr id="19" name="Text 17"/>
          <p:cNvSpPr txBox="1"/>
          <p:nvPr/>
        </p:nvSpPr>
        <p:spPr>
          <a:xfrm>
            <a:off x="804672" y="4791456"/>
            <a:ext cx="5038344" cy="67665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It still counts towards the score, but only partly</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We say so clearly. We never just mark it as failed</a:t>
            </a:r>
            <a:endParaRPr lang="en-US" sz="1250" dirty="0"/>
          </a:p>
        </p:txBody>
      </p:sp>
      <p:sp>
        <p:nvSpPr>
          <p:cNvPr id="20" name="Shape 18"/>
          <p:cNvSpPr/>
          <p:nvPr/>
        </p:nvSpPr>
        <p:spPr>
          <a:xfrm>
            <a:off x="6446520" y="4261104"/>
            <a:ext cx="5513832" cy="1371600"/>
          </a:xfrm>
          <a:prstGeom prst="roundRect">
            <a:avLst>
              <a:gd name="adj" fmla="val 6000"/>
            </a:avLst>
          </a:prstGeom>
          <a:solidFill>
            <a:srgbClr val="EDF3EF"/>
          </a:solidFill>
          <a:ln w="12700">
            <a:solidFill>
              <a:srgbClr val="EDF3EF"/>
            </a:solidFill>
            <a:prstDash val="solid"/>
          </a:ln>
        </p:spPr>
      </p:sp>
      <p:sp>
        <p:nvSpPr>
          <p:cNvPr id="21" name="Text 19"/>
          <p:cNvSpPr txBox="1"/>
          <p:nvPr/>
        </p:nvSpPr>
        <p:spPr>
          <a:xfrm>
            <a:off x="6684264" y="4425696"/>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What we compare</a:t>
            </a:r>
            <a:endParaRPr lang="en-US" sz="1450" dirty="0"/>
          </a:p>
        </p:txBody>
      </p:sp>
      <p:sp>
        <p:nvSpPr>
          <p:cNvPr id="22" name="Text 20"/>
          <p:cNvSpPr txBox="1"/>
          <p:nvPr/>
        </p:nvSpPr>
        <p:spPr>
          <a:xfrm>
            <a:off x="6684264" y="4791456"/>
            <a:ext cx="5038344" cy="67665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Course · University · Marks</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Subjects needed · Family income · Background</a:t>
            </a:r>
            <a:endParaRPr lang="en-US" sz="1250" dirty="0"/>
          </a:p>
        </p:txBody>
      </p:sp>
      <p:sp>
        <p:nvSpPr>
          <p:cNvPr id="23" name="Shape 21"/>
          <p:cNvSpPr/>
          <p:nvPr/>
        </p:nvSpPr>
        <p:spPr>
          <a:xfrm>
            <a:off x="566928" y="5815584"/>
            <a:ext cx="11027664" cy="566928"/>
          </a:xfrm>
          <a:prstGeom prst="roundRect">
            <a:avLst>
              <a:gd name="adj" fmla="val 12903"/>
            </a:avLst>
          </a:prstGeom>
          <a:solidFill>
            <a:srgbClr val="0B2E24"/>
          </a:solidFill>
          <a:ln w="12700">
            <a:solidFill>
              <a:srgbClr val="0B2E24"/>
            </a:solidFill>
            <a:prstDash val="solid"/>
          </a:ln>
        </p:spPr>
      </p:sp>
      <p:sp>
        <p:nvSpPr>
          <p:cNvPr id="24" name="Text 22"/>
          <p:cNvSpPr txBox="1"/>
          <p:nvPr/>
        </p:nvSpPr>
        <p:spPr>
          <a:xfrm>
            <a:off x="566928" y="5815584"/>
            <a:ext cx="11027664"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A high score does not mean they qualify. We check that separately.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65760"/>
            <a:ext cx="11027664" cy="658368"/>
          </a:xfrm>
          <a:prstGeom prst="rect">
            <a:avLst/>
          </a:prstGeom>
          <a:noFill/>
          <a:ln/>
        </p:spPr>
        <p:txBody>
          <a:bodyPr wrap="square" lIns="0" tIns="0" rIns="0" bIns="0" rtlCol="0" anchor="ctr"/>
          <a:lstStyle/>
          <a:p>
            <a:pPr indent="0" marL="0">
              <a:buNone/>
            </a:pPr>
            <a:r>
              <a:rPr lang="en-US" sz="3100" b="1" dirty="0">
                <a:solidFill>
                  <a:srgbClr val="0F5132"/>
                </a:solidFill>
                <a:latin typeface="Cambria" pitchFamily="34" charset="0"/>
                <a:ea typeface="Cambria" pitchFamily="34" charset="-122"/>
                <a:cs typeface="Cambria" pitchFamily="34" charset="-120"/>
              </a:rPr>
              <a:t>Methodology and Project Value</a:t>
            </a:r>
            <a:endParaRPr lang="en-US" sz="3100" dirty="0"/>
          </a:p>
        </p:txBody>
      </p:sp>
      <p:sp>
        <p:nvSpPr>
          <p:cNvPr id="3" name="Shape 1"/>
          <p:cNvSpPr/>
          <p:nvPr/>
        </p:nvSpPr>
        <p:spPr>
          <a:xfrm>
            <a:off x="566928" y="1207008"/>
            <a:ext cx="5513832" cy="603504"/>
          </a:xfrm>
          <a:prstGeom prst="roundRect">
            <a:avLst>
              <a:gd name="adj" fmla="val 12121"/>
            </a:avLst>
          </a:prstGeom>
          <a:solidFill>
            <a:srgbClr val="0F5132"/>
          </a:solidFill>
          <a:ln w="12700">
            <a:solidFill>
              <a:srgbClr val="0F5132"/>
            </a:solidFill>
            <a:prstDash val="solid"/>
          </a:ln>
        </p:spPr>
      </p:sp>
      <p:sp>
        <p:nvSpPr>
          <p:cNvPr id="4" name="Text 2"/>
          <p:cNvSpPr txBox="1"/>
          <p:nvPr/>
        </p:nvSpPr>
        <p:spPr>
          <a:xfrm>
            <a:off x="566928" y="1207008"/>
            <a:ext cx="5513832" cy="603504"/>
          </a:xfrm>
          <a:prstGeom prst="rect">
            <a:avLst/>
          </a:prstGeom>
          <a:noFill/>
          <a:ln/>
        </p:spPr>
        <p:txBody>
          <a:bodyPr wrap="square" lIns="0" tIns="0" rIns="0" bIns="0" rtlCol="0" anchor="ctr"/>
          <a:lstStyle/>
          <a:p>
            <a:pPr algn="ctr" indent="0" marL="0">
              <a:buNone/>
            </a:pPr>
            <a:r>
              <a:rPr lang="en-US" sz="1400" b="1" spc="120" kern="0" dirty="0">
                <a:solidFill>
                  <a:srgbClr val="FFFFFF"/>
                </a:solidFill>
                <a:latin typeface="Calibri" pitchFamily="34" charset="0"/>
                <a:ea typeface="Calibri" pitchFamily="34" charset="-122"/>
                <a:cs typeface="Calibri" pitchFamily="34" charset="-120"/>
              </a:rPr>
              <a:t>AGILE — SCRUM</a:t>
            </a:r>
            <a:endParaRPr lang="en-US" sz="1400" dirty="0"/>
          </a:p>
        </p:txBody>
      </p:sp>
      <p:sp>
        <p:nvSpPr>
          <p:cNvPr id="5" name="Text 3"/>
          <p:cNvSpPr txBox="1"/>
          <p:nvPr/>
        </p:nvSpPr>
        <p:spPr>
          <a:xfrm>
            <a:off x="566928" y="2048256"/>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2029968"/>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A list of work</a:t>
            </a:r>
            <a:endParaRPr lang="en-US" sz="1300" dirty="0"/>
          </a:p>
        </p:txBody>
      </p:sp>
      <p:sp>
        <p:nvSpPr>
          <p:cNvPr id="7" name="Text 5"/>
          <p:cNvSpPr txBox="1"/>
          <p:nvPr/>
        </p:nvSpPr>
        <p:spPr>
          <a:xfrm>
            <a:off x="969264" y="2286000"/>
            <a:ext cx="5111496" cy="384048"/>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We put the most important things first before each sprint</a:t>
            </a:r>
            <a:endParaRPr lang="en-US" sz="1150" dirty="0"/>
          </a:p>
        </p:txBody>
      </p:sp>
      <p:sp>
        <p:nvSpPr>
          <p:cNvPr id="8" name="Text 6"/>
          <p:cNvSpPr txBox="1"/>
          <p:nvPr/>
        </p:nvSpPr>
        <p:spPr>
          <a:xfrm>
            <a:off x="566928" y="2761488"/>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969264" y="2743200"/>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Short sprints</a:t>
            </a:r>
            <a:endParaRPr lang="en-US" sz="1300" dirty="0"/>
          </a:p>
        </p:txBody>
      </p:sp>
      <p:sp>
        <p:nvSpPr>
          <p:cNvPr id="10" name="Text 8"/>
          <p:cNvSpPr txBox="1"/>
          <p:nvPr/>
        </p:nvSpPr>
        <p:spPr>
          <a:xfrm>
            <a:off x="969264" y="2999232"/>
            <a:ext cx="5111496" cy="384048"/>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Each one ends with a working part of the system</a:t>
            </a:r>
            <a:endParaRPr lang="en-US" sz="1150" dirty="0"/>
          </a:p>
        </p:txBody>
      </p:sp>
      <p:sp>
        <p:nvSpPr>
          <p:cNvPr id="11" name="Text 9"/>
          <p:cNvSpPr txBox="1"/>
          <p:nvPr/>
        </p:nvSpPr>
        <p:spPr>
          <a:xfrm>
            <a:off x="566928" y="3474720"/>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10"/>
          <p:cNvSpPr txBox="1"/>
          <p:nvPr/>
        </p:nvSpPr>
        <p:spPr>
          <a:xfrm>
            <a:off x="969264" y="3456432"/>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Sprint reviews</a:t>
            </a:r>
            <a:endParaRPr lang="en-US" sz="1300" dirty="0"/>
          </a:p>
        </p:txBody>
      </p:sp>
      <p:sp>
        <p:nvSpPr>
          <p:cNvPr id="13" name="Text 11"/>
          <p:cNvSpPr txBox="1"/>
          <p:nvPr/>
        </p:nvSpPr>
        <p:spPr>
          <a:xfrm>
            <a:off x="969264" y="3712464"/>
            <a:ext cx="5111496" cy="384048"/>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Our supervisor checks the work and says what to build next</a:t>
            </a:r>
            <a:endParaRPr lang="en-US" sz="1150" dirty="0"/>
          </a:p>
        </p:txBody>
      </p:sp>
      <p:sp>
        <p:nvSpPr>
          <p:cNvPr id="14" name="Text 12"/>
          <p:cNvSpPr txBox="1"/>
          <p:nvPr/>
        </p:nvSpPr>
        <p:spPr>
          <a:xfrm>
            <a:off x="566928" y="4187952"/>
            <a:ext cx="274320" cy="274320"/>
          </a:xfrm>
          <a:prstGeom prst="ellipse">
            <a:avLst/>
          </a:prstGeom>
          <a:solidFill>
            <a:srgbClr val="0F5132"/>
          </a:solidFill>
          <a:ln>
            <a:solidFill>
              <a:srgbClr val="0F513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969264" y="4169664"/>
            <a:ext cx="5111496" cy="256032"/>
          </a:xfrm>
          <a:prstGeom prst="rect">
            <a:avLst/>
          </a:prstGeom>
          <a:noFill/>
          <a:ln/>
        </p:spPr>
        <p:txBody>
          <a:bodyPr wrap="square" lIns="0" tIns="0" rIns="0" bIns="0" rtlCol="0" anchor="ctr"/>
          <a:lstStyle/>
          <a:p>
            <a:pPr indent="0" marL="0">
              <a:buNone/>
            </a:pPr>
            <a:r>
              <a:rPr lang="en-US" sz="1300" b="1" dirty="0">
                <a:solidFill>
                  <a:srgbClr val="0F5132"/>
                </a:solidFill>
                <a:latin typeface="Calibri" pitchFamily="34" charset="0"/>
                <a:ea typeface="Calibri" pitchFamily="34" charset="-122"/>
                <a:cs typeface="Calibri" pitchFamily="34" charset="-120"/>
              </a:rPr>
              <a:t>Looking back</a:t>
            </a:r>
            <a:endParaRPr lang="en-US" sz="1300" dirty="0"/>
          </a:p>
        </p:txBody>
      </p:sp>
      <p:sp>
        <p:nvSpPr>
          <p:cNvPr id="16" name="Text 14"/>
          <p:cNvSpPr txBox="1"/>
          <p:nvPr/>
        </p:nvSpPr>
        <p:spPr>
          <a:xfrm>
            <a:off x="969264" y="4425696"/>
            <a:ext cx="5111496" cy="384048"/>
          </a:xfrm>
          <a:prstGeom prst="rect">
            <a:avLst/>
          </a:prstGeom>
          <a:noFill/>
          <a:ln/>
        </p:spPr>
        <p:txBody>
          <a:bodyPr wrap="square" lIns="0" tIns="0" rIns="0" bIns="0" rtlCol="0" anchor="ctr"/>
          <a:lstStyle/>
          <a:p>
            <a:pPr indent="0" marL="0">
              <a:buNone/>
            </a:pPr>
            <a:r>
              <a:rPr lang="en-US" sz="1150" dirty="0">
                <a:solidFill>
                  <a:srgbClr val="5E6B64"/>
                </a:solidFill>
                <a:latin typeface="Calibri" pitchFamily="34" charset="0"/>
                <a:ea typeface="Calibri" pitchFamily="34" charset="-122"/>
                <a:cs typeface="Calibri" pitchFamily="34" charset="-120"/>
              </a:rPr>
              <a:t>After each sprint we agree how to work better</a:t>
            </a:r>
            <a:endParaRPr lang="en-US" sz="1150" dirty="0"/>
          </a:p>
        </p:txBody>
      </p:sp>
      <p:sp>
        <p:nvSpPr>
          <p:cNvPr id="17" name="Shape 15"/>
          <p:cNvSpPr/>
          <p:nvPr/>
        </p:nvSpPr>
        <p:spPr>
          <a:xfrm>
            <a:off x="566928" y="5029200"/>
            <a:ext cx="5513832" cy="1024128"/>
          </a:xfrm>
          <a:prstGeom prst="roundRect">
            <a:avLst>
              <a:gd name="adj" fmla="val 8036"/>
            </a:avLst>
          </a:prstGeom>
          <a:solidFill>
            <a:srgbClr val="EDF3EF"/>
          </a:solidFill>
          <a:ln w="12700">
            <a:solidFill>
              <a:srgbClr val="EDF3EF"/>
            </a:solidFill>
            <a:prstDash val="solid"/>
          </a:ln>
        </p:spPr>
      </p:sp>
      <p:sp>
        <p:nvSpPr>
          <p:cNvPr id="18" name="Text 16"/>
          <p:cNvSpPr txBox="1"/>
          <p:nvPr/>
        </p:nvSpPr>
        <p:spPr>
          <a:xfrm>
            <a:off x="804672" y="5193792"/>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Why Scrum</a:t>
            </a:r>
            <a:endParaRPr lang="en-US" sz="1450" dirty="0"/>
          </a:p>
        </p:txBody>
      </p:sp>
      <p:sp>
        <p:nvSpPr>
          <p:cNvPr id="19" name="Text 17"/>
          <p:cNvSpPr txBox="1"/>
          <p:nvPr/>
        </p:nvSpPr>
        <p:spPr>
          <a:xfrm>
            <a:off x="804672" y="5559552"/>
            <a:ext cx="5038344" cy="329184"/>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6211C"/>
                </a:solidFill>
                <a:latin typeface="Calibri" pitchFamily="34" charset="0"/>
                <a:ea typeface="Calibri" pitchFamily="34" charset="-122"/>
                <a:cs typeface="Calibri" pitchFamily="34" charset="-120"/>
              </a:rPr>
              <a:t>We did not know what rules companies use until we looked, so the design kept changing</a:t>
            </a:r>
            <a:endParaRPr lang="en-US" sz="1200" dirty="0"/>
          </a:p>
        </p:txBody>
      </p:sp>
      <p:sp>
        <p:nvSpPr>
          <p:cNvPr id="20" name="Shape 18"/>
          <p:cNvSpPr/>
          <p:nvPr/>
        </p:nvSpPr>
        <p:spPr>
          <a:xfrm>
            <a:off x="6446520" y="1207008"/>
            <a:ext cx="5513832" cy="603504"/>
          </a:xfrm>
          <a:prstGeom prst="roundRect">
            <a:avLst>
              <a:gd name="adj" fmla="val 12121"/>
            </a:avLst>
          </a:prstGeom>
          <a:solidFill>
            <a:srgbClr val="C08A2E"/>
          </a:solidFill>
          <a:ln w="12700">
            <a:solidFill>
              <a:srgbClr val="C08A2E"/>
            </a:solidFill>
            <a:prstDash val="solid"/>
          </a:ln>
        </p:spPr>
      </p:sp>
      <p:sp>
        <p:nvSpPr>
          <p:cNvPr id="21" name="Text 19"/>
          <p:cNvSpPr txBox="1"/>
          <p:nvPr/>
        </p:nvSpPr>
        <p:spPr>
          <a:xfrm>
            <a:off x="6446520" y="1207008"/>
            <a:ext cx="5513832" cy="603504"/>
          </a:xfrm>
          <a:prstGeom prst="rect">
            <a:avLst/>
          </a:prstGeom>
          <a:noFill/>
          <a:ln/>
        </p:spPr>
        <p:txBody>
          <a:bodyPr wrap="square" lIns="0" tIns="0" rIns="0" bIns="0" rtlCol="0" anchor="ctr"/>
          <a:lstStyle/>
          <a:p>
            <a:pPr algn="ctr" indent="0" marL="0">
              <a:buNone/>
            </a:pPr>
            <a:r>
              <a:rPr lang="en-US" sz="1400" b="1" spc="120" kern="0" dirty="0">
                <a:solidFill>
                  <a:srgbClr val="2A1D05"/>
                </a:solidFill>
                <a:latin typeface="Calibri" pitchFamily="34" charset="0"/>
                <a:ea typeface="Calibri" pitchFamily="34" charset="-122"/>
                <a:cs typeface="Calibri" pitchFamily="34" charset="-120"/>
              </a:rPr>
              <a:t>PROJECT VALUE</a:t>
            </a:r>
            <a:endParaRPr lang="en-US" sz="1400" dirty="0"/>
          </a:p>
        </p:txBody>
      </p:sp>
      <p:sp>
        <p:nvSpPr>
          <p:cNvPr id="22" name="Shape 20"/>
          <p:cNvSpPr/>
          <p:nvPr/>
        </p:nvSpPr>
        <p:spPr>
          <a:xfrm>
            <a:off x="6446520" y="2029968"/>
            <a:ext cx="5513832" cy="1920240"/>
          </a:xfrm>
          <a:prstGeom prst="roundRect">
            <a:avLst>
              <a:gd name="adj" fmla="val 4286"/>
            </a:avLst>
          </a:prstGeom>
          <a:solidFill>
            <a:srgbClr val="EDF3EF"/>
          </a:solidFill>
          <a:ln w="12700">
            <a:solidFill>
              <a:srgbClr val="EDF3EF"/>
            </a:solidFill>
            <a:prstDash val="solid"/>
          </a:ln>
        </p:spPr>
      </p:sp>
      <p:sp>
        <p:nvSpPr>
          <p:cNvPr id="23" name="Text 21"/>
          <p:cNvSpPr txBox="1"/>
          <p:nvPr/>
        </p:nvSpPr>
        <p:spPr>
          <a:xfrm>
            <a:off x="6684264" y="2194560"/>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For students</a:t>
            </a:r>
            <a:endParaRPr lang="en-US" sz="1450" dirty="0"/>
          </a:p>
        </p:txBody>
      </p:sp>
      <p:sp>
        <p:nvSpPr>
          <p:cNvPr id="24" name="Text 22"/>
          <p:cNvSpPr txBox="1"/>
          <p:nvPr/>
        </p:nvSpPr>
        <p:spPr>
          <a:xfrm>
            <a:off x="6684264" y="2560320"/>
            <a:ext cx="5038344" cy="122529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No more searching. The system finds the matches</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Details typed once, not on every form</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They see why they scored what they did, and how to improve</a:t>
            </a:r>
            <a:endParaRPr lang="en-US" sz="1250" dirty="0"/>
          </a:p>
        </p:txBody>
      </p:sp>
      <p:sp>
        <p:nvSpPr>
          <p:cNvPr id="25" name="Shape 23"/>
          <p:cNvSpPr/>
          <p:nvPr/>
        </p:nvSpPr>
        <p:spPr>
          <a:xfrm>
            <a:off x="6446520" y="4114800"/>
            <a:ext cx="5513832" cy="1938528"/>
          </a:xfrm>
          <a:prstGeom prst="roundRect">
            <a:avLst>
              <a:gd name="adj" fmla="val 4245"/>
            </a:avLst>
          </a:prstGeom>
          <a:solidFill>
            <a:srgbClr val="EDF3EF"/>
          </a:solidFill>
          <a:ln w="12700">
            <a:solidFill>
              <a:srgbClr val="EDF3EF"/>
            </a:solidFill>
            <a:prstDash val="solid"/>
          </a:ln>
        </p:spPr>
      </p:sp>
      <p:sp>
        <p:nvSpPr>
          <p:cNvPr id="26" name="Text 24"/>
          <p:cNvSpPr txBox="1"/>
          <p:nvPr/>
        </p:nvSpPr>
        <p:spPr>
          <a:xfrm>
            <a:off x="6684264" y="4279392"/>
            <a:ext cx="5038344" cy="310896"/>
          </a:xfrm>
          <a:prstGeom prst="rect">
            <a:avLst/>
          </a:prstGeom>
          <a:noFill/>
          <a:ln/>
        </p:spPr>
        <p:txBody>
          <a:bodyPr wrap="square" lIns="0" tIns="0" rIns="0" bIns="0" rtlCol="0" anchor="ctr"/>
          <a:lstStyle/>
          <a:p>
            <a:pPr indent="0" marL="0">
              <a:buNone/>
            </a:pPr>
            <a:r>
              <a:rPr lang="en-US" sz="1450" b="1" dirty="0">
                <a:solidFill>
                  <a:srgbClr val="0F5132"/>
                </a:solidFill>
                <a:latin typeface="Calibri" pitchFamily="34" charset="0"/>
                <a:ea typeface="Calibri" pitchFamily="34" charset="-122"/>
                <a:cs typeface="Calibri" pitchFamily="34" charset="-120"/>
              </a:rPr>
              <a:t>For companies that give bursaries</a:t>
            </a:r>
            <a:endParaRPr lang="en-US" sz="1450" dirty="0"/>
          </a:p>
        </p:txBody>
      </p:sp>
      <p:sp>
        <p:nvSpPr>
          <p:cNvPr id="27" name="Text 25"/>
          <p:cNvSpPr txBox="1"/>
          <p:nvPr/>
        </p:nvSpPr>
        <p:spPr>
          <a:xfrm>
            <a:off x="6684264" y="4645152"/>
            <a:ext cx="5038344" cy="1243584"/>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Advertise a bursary with clear rules</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Applications arrive organised and already checked</a:t>
            </a:r>
            <a:endParaRPr lang="en-US" sz="1250" dirty="0"/>
          </a:p>
          <a:p>
            <a:pPr marL="342900" indent="-342900">
              <a:spcAft>
                <a:spcPts val="500"/>
              </a:spcAft>
              <a:buSzPct val="100000"/>
              <a:buChar char="•"/>
            </a:pPr>
            <a:r>
              <a:rPr lang="en-US" sz="1250" dirty="0">
                <a:solidFill>
                  <a:srgbClr val="16211C"/>
                </a:solidFill>
                <a:latin typeface="Calibri" pitchFamily="34" charset="0"/>
                <a:ea typeface="Calibri" pitchFamily="34" charset="-122"/>
                <a:cs typeface="Calibri" pitchFamily="34" charset="-120"/>
              </a:rPr>
              <a:t>Review, shortlist and choose, with every step recorded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E24"/>
        </a:solidFill>
      </p:bgPr>
    </p:bg>
    <p:spTree>
      <p:nvGrpSpPr>
        <p:cNvPr id="1" name=""/>
        <p:cNvGrpSpPr/>
        <p:nvPr/>
      </p:nvGrpSpPr>
      <p:grpSpPr>
        <a:xfrm>
          <a:off x="0" y="0"/>
          <a:ext cx="0" cy="0"/>
          <a:chOff x="0" y="0"/>
          <a:chExt cx="0" cy="0"/>
        </a:xfrm>
      </p:grpSpPr>
      <p:sp>
        <p:nvSpPr>
          <p:cNvPr id="2" name="Text 0"/>
          <p:cNvSpPr txBox="1"/>
          <p:nvPr/>
        </p:nvSpPr>
        <p:spPr>
          <a:xfrm>
            <a:off x="566928" y="658368"/>
            <a:ext cx="11027664" cy="73152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Now let us show you the system</a:t>
            </a:r>
            <a:endParaRPr lang="en-US" sz="3100" dirty="0"/>
          </a:p>
        </p:txBody>
      </p:sp>
      <p:sp>
        <p:nvSpPr>
          <p:cNvPr id="3" name="Shape 1"/>
          <p:cNvSpPr/>
          <p:nvPr/>
        </p:nvSpPr>
        <p:spPr>
          <a:xfrm>
            <a:off x="566928" y="1828800"/>
            <a:ext cx="3602736" cy="2286000"/>
          </a:xfrm>
          <a:prstGeom prst="roundRect">
            <a:avLst>
              <a:gd name="adj" fmla="val 3600"/>
            </a:avLst>
          </a:prstGeom>
          <a:solidFill>
            <a:srgbClr val="123A2D"/>
          </a:solidFill>
          <a:ln w="12700">
            <a:solidFill>
              <a:srgbClr val="123A2D"/>
            </a:solidFill>
            <a:prstDash val="solid"/>
          </a:ln>
        </p:spPr>
      </p:sp>
      <p:sp>
        <p:nvSpPr>
          <p:cNvPr id="4" name="Text 2"/>
          <p:cNvSpPr txBox="1"/>
          <p:nvPr/>
        </p:nvSpPr>
        <p:spPr>
          <a:xfrm>
            <a:off x="822960" y="2066544"/>
            <a:ext cx="3090672" cy="292608"/>
          </a:xfrm>
          <a:prstGeom prst="rect">
            <a:avLst/>
          </a:prstGeom>
          <a:noFill/>
          <a:ln/>
        </p:spPr>
        <p:txBody>
          <a:bodyPr wrap="square" lIns="0" tIns="0" rIns="0" bIns="0" rtlCol="0" anchor="ctr"/>
          <a:lstStyle/>
          <a:p>
            <a:pPr indent="0" marL="0">
              <a:buNone/>
            </a:pPr>
            <a:r>
              <a:rPr lang="en-US" sz="1200" b="1" spc="120" kern="0" dirty="0">
                <a:solidFill>
                  <a:srgbClr val="C08A2E"/>
                </a:solidFill>
                <a:latin typeface="Calibri" pitchFamily="34" charset="0"/>
                <a:ea typeface="Calibri" pitchFamily="34" charset="-122"/>
                <a:cs typeface="Calibri" pitchFamily="34" charset="-120"/>
              </a:rPr>
              <a:t>THE PROBLEM</a:t>
            </a:r>
            <a:endParaRPr lang="en-US" sz="1200" dirty="0"/>
          </a:p>
        </p:txBody>
      </p:sp>
      <p:sp>
        <p:nvSpPr>
          <p:cNvPr id="5" name="Text 3"/>
          <p:cNvSpPr txBox="1"/>
          <p:nvPr/>
        </p:nvSpPr>
        <p:spPr>
          <a:xfrm>
            <a:off x="822960" y="2450592"/>
            <a:ext cx="3090672" cy="14630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Finding and applying for bursaries is scattered and done by hand, for students and companies alike.</a:t>
            </a:r>
            <a:endParaRPr lang="en-US" sz="1300" dirty="0"/>
          </a:p>
        </p:txBody>
      </p:sp>
      <p:sp>
        <p:nvSpPr>
          <p:cNvPr id="6" name="Shape 4"/>
          <p:cNvSpPr/>
          <p:nvPr/>
        </p:nvSpPr>
        <p:spPr>
          <a:xfrm>
            <a:off x="4434840" y="1828800"/>
            <a:ext cx="3602736" cy="2286000"/>
          </a:xfrm>
          <a:prstGeom prst="roundRect">
            <a:avLst>
              <a:gd name="adj" fmla="val 3600"/>
            </a:avLst>
          </a:prstGeom>
          <a:solidFill>
            <a:srgbClr val="123A2D"/>
          </a:solidFill>
          <a:ln w="12700">
            <a:solidFill>
              <a:srgbClr val="123A2D"/>
            </a:solidFill>
            <a:prstDash val="solid"/>
          </a:ln>
        </p:spPr>
      </p:sp>
      <p:sp>
        <p:nvSpPr>
          <p:cNvPr id="7" name="Text 5"/>
          <p:cNvSpPr txBox="1"/>
          <p:nvPr/>
        </p:nvSpPr>
        <p:spPr>
          <a:xfrm>
            <a:off x="4690872" y="2066544"/>
            <a:ext cx="3090672" cy="292608"/>
          </a:xfrm>
          <a:prstGeom prst="rect">
            <a:avLst/>
          </a:prstGeom>
          <a:noFill/>
          <a:ln/>
        </p:spPr>
        <p:txBody>
          <a:bodyPr wrap="square" lIns="0" tIns="0" rIns="0" bIns="0" rtlCol="0" anchor="ctr"/>
          <a:lstStyle/>
          <a:p>
            <a:pPr indent="0" marL="0">
              <a:buNone/>
            </a:pPr>
            <a:r>
              <a:rPr lang="en-US" sz="1200" b="1" spc="120" kern="0" dirty="0">
                <a:solidFill>
                  <a:srgbClr val="C08A2E"/>
                </a:solidFill>
                <a:latin typeface="Calibri" pitchFamily="34" charset="0"/>
                <a:ea typeface="Calibri" pitchFamily="34" charset="-122"/>
                <a:cs typeface="Calibri" pitchFamily="34" charset="-120"/>
              </a:rPr>
              <a:t>OUR SOLUTION</a:t>
            </a:r>
            <a:endParaRPr lang="en-US" sz="1200" dirty="0"/>
          </a:p>
        </p:txBody>
      </p:sp>
      <p:sp>
        <p:nvSpPr>
          <p:cNvPr id="8" name="Text 6"/>
          <p:cNvSpPr txBox="1"/>
          <p:nvPr/>
        </p:nvSpPr>
        <p:spPr>
          <a:xfrm>
            <a:off x="4690872" y="2450592"/>
            <a:ext cx="3090672" cy="14630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Bursary rules stored as data, student details stored once, and the two matched together, with reasons.</a:t>
            </a:r>
            <a:endParaRPr lang="en-US" sz="1300" dirty="0"/>
          </a:p>
        </p:txBody>
      </p:sp>
      <p:sp>
        <p:nvSpPr>
          <p:cNvPr id="9" name="Shape 7"/>
          <p:cNvSpPr/>
          <p:nvPr/>
        </p:nvSpPr>
        <p:spPr>
          <a:xfrm>
            <a:off x="8302752" y="1828800"/>
            <a:ext cx="3602736" cy="2286000"/>
          </a:xfrm>
          <a:prstGeom prst="roundRect">
            <a:avLst>
              <a:gd name="adj" fmla="val 3600"/>
            </a:avLst>
          </a:prstGeom>
          <a:solidFill>
            <a:srgbClr val="123A2D"/>
          </a:solidFill>
          <a:ln w="12700">
            <a:solidFill>
              <a:srgbClr val="123A2D"/>
            </a:solidFill>
            <a:prstDash val="solid"/>
          </a:ln>
        </p:spPr>
      </p:sp>
      <p:sp>
        <p:nvSpPr>
          <p:cNvPr id="10" name="Text 8"/>
          <p:cNvSpPr txBox="1"/>
          <p:nvPr/>
        </p:nvSpPr>
        <p:spPr>
          <a:xfrm>
            <a:off x="8558784" y="2066544"/>
            <a:ext cx="3090672" cy="292608"/>
          </a:xfrm>
          <a:prstGeom prst="rect">
            <a:avLst/>
          </a:prstGeom>
          <a:noFill/>
          <a:ln/>
        </p:spPr>
        <p:txBody>
          <a:bodyPr wrap="square" lIns="0" tIns="0" rIns="0" bIns="0" rtlCol="0" anchor="ctr"/>
          <a:lstStyle/>
          <a:p>
            <a:pPr indent="0" marL="0">
              <a:buNone/>
            </a:pPr>
            <a:r>
              <a:rPr lang="en-US" sz="1200" b="1" spc="120" kern="0" dirty="0">
                <a:solidFill>
                  <a:srgbClr val="C08A2E"/>
                </a:solidFill>
                <a:latin typeface="Calibri" pitchFamily="34" charset="0"/>
                <a:ea typeface="Calibri" pitchFamily="34" charset="-122"/>
                <a:cs typeface="Calibri" pitchFamily="34" charset="-120"/>
              </a:rPr>
              <a:t>THE DEMO</a:t>
            </a:r>
            <a:endParaRPr lang="en-US" sz="1200" dirty="0"/>
          </a:p>
        </p:txBody>
      </p:sp>
      <p:sp>
        <p:nvSpPr>
          <p:cNvPr id="11" name="Text 9"/>
          <p:cNvSpPr txBox="1"/>
          <p:nvPr/>
        </p:nvSpPr>
        <p:spPr>
          <a:xfrm>
            <a:off x="8558784" y="2450592"/>
            <a:ext cx="3090672" cy="14630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 student finding and applying for a bursary, and a company reviewing and choosing.</a:t>
            </a:r>
            <a:endParaRPr lang="en-US" sz="1300" dirty="0"/>
          </a:p>
        </p:txBody>
      </p:sp>
      <p:sp>
        <p:nvSpPr>
          <p:cNvPr id="12" name="Text 10"/>
          <p:cNvSpPr txBox="1"/>
          <p:nvPr/>
        </p:nvSpPr>
        <p:spPr>
          <a:xfrm>
            <a:off x="566928" y="4754880"/>
            <a:ext cx="11027664"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Thank you</a:t>
            </a:r>
            <a:endParaRPr lang="en-US" sz="2800" dirty="0"/>
          </a:p>
        </p:txBody>
      </p:sp>
      <p:sp>
        <p:nvSpPr>
          <p:cNvPr id="13" name="Text 11"/>
          <p:cNvSpPr txBox="1"/>
          <p:nvPr/>
        </p:nvSpPr>
        <p:spPr>
          <a:xfrm>
            <a:off x="566928" y="5413248"/>
            <a:ext cx="11027664" cy="310896"/>
          </a:xfrm>
          <a:prstGeom prst="rect">
            <a:avLst/>
          </a:prstGeom>
          <a:noFill/>
          <a:ln/>
        </p:spPr>
        <p:txBody>
          <a:bodyPr wrap="square" lIns="0" tIns="0" rIns="0" bIns="0" rtlCol="0" anchor="ctr"/>
          <a:lstStyle/>
          <a:p>
            <a:pPr indent="0" marL="0">
              <a:buNone/>
            </a:pPr>
            <a:r>
              <a:rPr lang="en-US" sz="1300" dirty="0">
                <a:solidFill>
                  <a:srgbClr val="9DBFA8"/>
                </a:solidFill>
                <a:latin typeface="Calibri" pitchFamily="34" charset="0"/>
                <a:ea typeface="Calibri" pitchFamily="34" charset="-122"/>
                <a:cs typeface="Calibri" pitchFamily="34" charset="-120"/>
              </a:rPr>
              <a:t>Group 25  ·  Supervisor: Ms Zulu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Bursary-Bridge</dc:title>
  <dc:subject>PptxGenJS Presentation</dc:subject>
  <dc:creator>Group 25</dc:creator>
  <cp:lastModifiedBy>Group 25</cp:lastModifiedBy>
  <cp:revision>1</cp:revision>
  <dcterms:created xsi:type="dcterms:W3CDTF">2026-09-28T08:21:24Z</dcterms:created>
  <dcterms:modified xsi:type="dcterms:W3CDTF">2026-09-28T08:21:24Z</dcterms:modified>
</cp:coreProperties>
</file>