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CPP Mchunu — 0:20.
Greet, give the project title in one line, introduce the four of us by name only (the numbers are on the slide — do not read them out).
Key point: say in one sentence what Bursary-Bridge is — it matches South African students to bursaries they qualify for, and helps funders administer the applications.
Terminology: "matching", "funding organisations". Then move straight to the background.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CPP Mchunu — 0:25.
Explain: for most of these students the deciding question is financial, not academic. NSFAS answers it for one group and is well signposted. Everything outside it is the problem.
Key point: the second source is not badly organised — it is not organised at all. Three channels, all publishing a page of text written for a human reader.
Terminology: "funding organisations", "means-tested", "the missing middle".
Do not read the three channels out one by one — name them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CPP Mchunu — 0:26.
Walk the chain across the top once, quickly. Then give the two sides.
Key point: the evidence strip at the bottom is what lifts this from an opinion to a finding — say the numbers. A student faces exactly that field, without a pipeline to reject the unclear listings on their behalf.
Terminology: "resolved to a named funder, a closing date and a source page".
Hand over to Nsibande.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Nsibande — 0:40.
Read the goal once, properly — it is a rubric line on its own. Then say there are ten measurable objectives and that these are the ones that shaped the build.
Key point: objective 1 is the hinge. Everything else depends on eligibility being data rather than prose, because nothing can evaluate a sentence.
Terminology: "typed, machine-evaluable criteria", "provenance".
Do not read all six out. Name two or three and let the slide carry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Nsibande — 0:44.
This is the conceptual slide — give it room. A student states their circumstances once. A funder states its criteria once, as structured data rather than prose. The system uses the two together.
Key point: it is a two-sided platform. Most of what exists solves one side only.
Terminology: "structured eligibility criteria", "audit record".
Hand over to Bikile.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 Bikile — 0:30.
Do not read the technology names out. Explain the shape: presentation is separated from a service layer, which is separated from pure domain modules that carry matching and eligibility.
Key point: the domain modules hold no database access, which is why the matching and eligibility rules can be tested directly. And authorisation happens at the top of every server-side entry point — the guard returns the identifiers that scope every query, so an authorisation failure gives a missing record rather than a leaked one.
Terminology: "layered", "domain modules", "guard".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 Bikile — 0:47.
Do not read twelve items aloud. Walk the student column as a journey — profile, matches, apply — then the funder column as a journey — publish, receive, review, select.
Key point: bulk intake exists because funders also receive applications outside our system. Duplicates are flagged for a person to decide, never merged automatically, and nothing is imported until someone confirms it.
Terminology: "structured fields, not prose", "audit record", "duplicate detection".
Hand over to Tshazi.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 Tshazi — 0:40.
The sharpest technical point in the project. One profile, two separate evaluations.
Eligibility is a verdict against the criteria the funder published: eligible, not eligible, or pending verification. The match score is how well the profile fits, as a percentage, with the reason for each criterion returned alongside it.
Key point: they are kept apart deliberately, so a high score never implies a qualification the student does not hold. And a criterion we cannot evaluate takes a partial weight and is reported — it is never treated as a failure, because that would hide an opportunity the student might well qualify for.
Expect a question here. Answer it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 Tshazi — 0:25.
Do not explain what Scrum is — the examiner knows. Explain why this project needed it: we could not know the criteria funders use before examining what they publish, so the data model had to keep changing. Waterfall would have fixed it too early.
Key point on value: the reasons attached to each score are information the current process never returns to a student.
Terminology: "product backlog", "working increment", "product owner".
Keep this brisk — it is the shortest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 Tshazi — 0:17.
Three sentences, no more — one per block. Then stop and move to the live system.
Key point: this slide exists to hand over to the demonstration, which carries 30 of the 100 marks. Have the system already running and signed in before you begin.
Do not introduce anything new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566928" y="1325880"/>
            <a:ext cx="11027664" cy="96012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Bursary-Bridge</a:t>
            </a:r>
            <a:endParaRPr lang="en-US" sz="5200" dirty="0"/>
          </a:p>
        </p:txBody>
      </p:sp>
      <p:sp>
        <p:nvSpPr>
          <p:cNvPr id="3" name="Text 1"/>
          <p:cNvSpPr txBox="1"/>
          <p:nvPr/>
        </p:nvSpPr>
        <p:spPr>
          <a:xfrm>
            <a:off x="566928" y="2331720"/>
            <a:ext cx="9509760" cy="777240"/>
          </a:xfrm>
          <a:prstGeom prst="rect">
            <a:avLst/>
          </a:prstGeom>
          <a:noFill/>
          <a:ln/>
        </p:spPr>
        <p:txBody>
          <a:bodyPr wrap="square" lIns="0" tIns="0" rIns="0" bIns="0" rtlCol="0" anchor="ctr"/>
          <a:lstStyle/>
          <a:p>
            <a:pPr indent="0" marL="0">
              <a:lnSpc>
                <a:spcPct val="125000"/>
              </a:lnSpc>
              <a:buNone/>
            </a:pPr>
            <a:r>
              <a:rPr lang="en-US" sz="1600" i="1" dirty="0">
                <a:solidFill>
                  <a:srgbClr val="9DBFA8"/>
                </a:solidFill>
                <a:latin typeface="Calibri" pitchFamily="34" charset="0"/>
                <a:ea typeface="Calibri" pitchFamily="34" charset="-122"/>
                <a:cs typeface="Calibri" pitchFamily="34" charset="-120"/>
              </a:rPr>
              <a:t>A Web-Based Bursary Matching and Application Management System</a:t>
            </a:r>
            <a:endParaRPr lang="en-US" sz="1600" dirty="0"/>
          </a:p>
          <a:p>
            <a:pPr indent="0" marL="0">
              <a:lnSpc>
                <a:spcPct val="125000"/>
              </a:lnSpc>
              <a:buNone/>
            </a:pPr>
            <a:r>
              <a:rPr lang="en-US" sz="1600" i="1" dirty="0">
                <a:solidFill>
                  <a:srgbClr val="9DBFA8"/>
                </a:solidFill>
                <a:latin typeface="Calibri" pitchFamily="34" charset="0"/>
                <a:ea typeface="Calibri" pitchFamily="34" charset="-122"/>
                <a:cs typeface="Calibri" pitchFamily="34" charset="-120"/>
              </a:rPr>
              <a:t>for South African Students and Funding Organisations</a:t>
            </a:r>
            <a:endParaRPr lang="en-US" sz="1600" dirty="0"/>
          </a:p>
        </p:txBody>
      </p:sp>
      <p:sp>
        <p:nvSpPr>
          <p:cNvPr id="4" name="Text 2"/>
          <p:cNvSpPr txBox="1"/>
          <p:nvPr/>
        </p:nvSpPr>
        <p:spPr>
          <a:xfrm>
            <a:off x="566928" y="3977640"/>
            <a:ext cx="2487168"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CPP Mchunu</a:t>
            </a:r>
            <a:endParaRPr lang="en-US" sz="1450" dirty="0"/>
          </a:p>
        </p:txBody>
      </p:sp>
      <p:sp>
        <p:nvSpPr>
          <p:cNvPr id="5" name="Text 3"/>
          <p:cNvSpPr txBox="1"/>
          <p:nvPr/>
        </p:nvSpPr>
        <p:spPr>
          <a:xfrm>
            <a:off x="566928" y="4279392"/>
            <a:ext cx="2487168" cy="256032"/>
          </a:xfrm>
          <a:prstGeom prst="rect">
            <a:avLst/>
          </a:prstGeom>
          <a:noFill/>
          <a:ln/>
        </p:spPr>
        <p:txBody>
          <a:bodyPr wrap="square" lIns="0" tIns="0" rIns="0" bIns="0" rtlCol="0" anchor="ctr"/>
          <a:lstStyle/>
          <a:p>
            <a:pPr indent="0" marL="0">
              <a:buNone/>
            </a:pPr>
            <a:r>
              <a:rPr lang="en-US" sz="1250" dirty="0">
                <a:solidFill>
                  <a:srgbClr val="9DBFA8"/>
                </a:solidFill>
                <a:latin typeface="Calibri" pitchFamily="34" charset="0"/>
                <a:ea typeface="Calibri" pitchFamily="34" charset="-122"/>
                <a:cs typeface="Calibri" pitchFamily="34" charset="-120"/>
              </a:rPr>
              <a:t>202242486</a:t>
            </a:r>
            <a:endParaRPr lang="en-US" sz="1250" dirty="0"/>
          </a:p>
        </p:txBody>
      </p:sp>
      <p:sp>
        <p:nvSpPr>
          <p:cNvPr id="6" name="Text 4"/>
          <p:cNvSpPr txBox="1"/>
          <p:nvPr/>
        </p:nvSpPr>
        <p:spPr>
          <a:xfrm>
            <a:off x="3291840" y="3977640"/>
            <a:ext cx="2487168"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 Nsibande</a:t>
            </a:r>
            <a:endParaRPr lang="en-US" sz="1450" dirty="0"/>
          </a:p>
        </p:txBody>
      </p:sp>
      <p:sp>
        <p:nvSpPr>
          <p:cNvPr id="7" name="Text 5"/>
          <p:cNvSpPr txBox="1"/>
          <p:nvPr/>
        </p:nvSpPr>
        <p:spPr>
          <a:xfrm>
            <a:off x="3291840" y="4279392"/>
            <a:ext cx="2487168" cy="256032"/>
          </a:xfrm>
          <a:prstGeom prst="rect">
            <a:avLst/>
          </a:prstGeom>
          <a:noFill/>
          <a:ln/>
        </p:spPr>
        <p:txBody>
          <a:bodyPr wrap="square" lIns="0" tIns="0" rIns="0" bIns="0" rtlCol="0" anchor="ctr"/>
          <a:lstStyle/>
          <a:p>
            <a:pPr indent="0" marL="0">
              <a:buNone/>
            </a:pPr>
            <a:r>
              <a:rPr lang="en-US" sz="1250" dirty="0">
                <a:solidFill>
                  <a:srgbClr val="9DBFA8"/>
                </a:solidFill>
                <a:latin typeface="Calibri" pitchFamily="34" charset="0"/>
                <a:ea typeface="Calibri" pitchFamily="34" charset="-122"/>
                <a:cs typeface="Calibri" pitchFamily="34" charset="-120"/>
              </a:rPr>
              <a:t>240079346</a:t>
            </a:r>
            <a:endParaRPr lang="en-US" sz="1250" dirty="0"/>
          </a:p>
        </p:txBody>
      </p:sp>
      <p:sp>
        <p:nvSpPr>
          <p:cNvPr id="8" name="Text 6"/>
          <p:cNvSpPr txBox="1"/>
          <p:nvPr/>
        </p:nvSpPr>
        <p:spPr>
          <a:xfrm>
            <a:off x="6016752" y="3977640"/>
            <a:ext cx="2487168"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KN Bikile</a:t>
            </a:r>
            <a:endParaRPr lang="en-US" sz="1450" dirty="0"/>
          </a:p>
        </p:txBody>
      </p:sp>
      <p:sp>
        <p:nvSpPr>
          <p:cNvPr id="9" name="Text 7"/>
          <p:cNvSpPr txBox="1"/>
          <p:nvPr/>
        </p:nvSpPr>
        <p:spPr>
          <a:xfrm>
            <a:off x="6016752" y="4279392"/>
            <a:ext cx="2487168" cy="256032"/>
          </a:xfrm>
          <a:prstGeom prst="rect">
            <a:avLst/>
          </a:prstGeom>
          <a:noFill/>
          <a:ln/>
        </p:spPr>
        <p:txBody>
          <a:bodyPr wrap="square" lIns="0" tIns="0" rIns="0" bIns="0" rtlCol="0" anchor="ctr"/>
          <a:lstStyle/>
          <a:p>
            <a:pPr indent="0" marL="0">
              <a:buNone/>
            </a:pPr>
            <a:r>
              <a:rPr lang="en-US" sz="1250" dirty="0">
                <a:solidFill>
                  <a:srgbClr val="9DBFA8"/>
                </a:solidFill>
                <a:latin typeface="Calibri" pitchFamily="34" charset="0"/>
                <a:ea typeface="Calibri" pitchFamily="34" charset="-122"/>
                <a:cs typeface="Calibri" pitchFamily="34" charset="-120"/>
              </a:rPr>
              <a:t>202356797</a:t>
            </a:r>
            <a:endParaRPr lang="en-US" sz="1250" dirty="0"/>
          </a:p>
        </p:txBody>
      </p:sp>
      <p:sp>
        <p:nvSpPr>
          <p:cNvPr id="10" name="Text 8"/>
          <p:cNvSpPr txBox="1"/>
          <p:nvPr/>
        </p:nvSpPr>
        <p:spPr>
          <a:xfrm>
            <a:off x="8741664" y="3977640"/>
            <a:ext cx="2487168"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SP Tshazi</a:t>
            </a:r>
            <a:endParaRPr lang="en-US" sz="1450" dirty="0"/>
          </a:p>
        </p:txBody>
      </p:sp>
      <p:sp>
        <p:nvSpPr>
          <p:cNvPr id="11" name="Text 9"/>
          <p:cNvSpPr txBox="1"/>
          <p:nvPr/>
        </p:nvSpPr>
        <p:spPr>
          <a:xfrm>
            <a:off x="8741664" y="4279392"/>
            <a:ext cx="2487168" cy="256032"/>
          </a:xfrm>
          <a:prstGeom prst="rect">
            <a:avLst/>
          </a:prstGeom>
          <a:noFill/>
          <a:ln/>
        </p:spPr>
        <p:txBody>
          <a:bodyPr wrap="square" lIns="0" tIns="0" rIns="0" bIns="0" rtlCol="0" anchor="ctr"/>
          <a:lstStyle/>
          <a:p>
            <a:pPr indent="0" marL="0">
              <a:buNone/>
            </a:pPr>
            <a:r>
              <a:rPr lang="en-US" sz="1250" dirty="0">
                <a:solidFill>
                  <a:srgbClr val="9DBFA8"/>
                </a:solidFill>
                <a:latin typeface="Calibri" pitchFamily="34" charset="0"/>
                <a:ea typeface="Calibri" pitchFamily="34" charset="-122"/>
                <a:cs typeface="Calibri" pitchFamily="34" charset="-120"/>
              </a:rPr>
              <a:t>240103222</a:t>
            </a:r>
            <a:endParaRPr lang="en-US" sz="1250" dirty="0"/>
          </a:p>
        </p:txBody>
      </p:sp>
      <p:sp>
        <p:nvSpPr>
          <p:cNvPr id="12" name="Text 10"/>
          <p:cNvSpPr txBox="1"/>
          <p:nvPr/>
        </p:nvSpPr>
        <p:spPr>
          <a:xfrm>
            <a:off x="566928" y="5394960"/>
            <a:ext cx="11027664" cy="292608"/>
          </a:xfrm>
          <a:prstGeom prst="rect">
            <a:avLst/>
          </a:prstGeom>
          <a:noFill/>
          <a:ln/>
        </p:spPr>
        <p:txBody>
          <a:bodyPr wrap="square" lIns="0" tIns="0" rIns="0" bIns="0" rtlCol="0" anchor="ctr"/>
          <a:lstStyle/>
          <a:p>
            <a:pPr indent="0" marL="0">
              <a:buNone/>
            </a:pPr>
            <a:r>
              <a:rPr lang="en-US" sz="1350" dirty="0">
                <a:solidFill>
                  <a:srgbClr val="9DBFA8"/>
                </a:solidFill>
                <a:latin typeface="Calibri" pitchFamily="34" charset="0"/>
                <a:ea typeface="Calibri" pitchFamily="34" charset="-122"/>
                <a:cs typeface="Calibri" pitchFamily="34" charset="-120"/>
              </a:rPr>
              <a:t>Supervisor: Ms Zulu</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Background and Context</a:t>
            </a:r>
            <a:endParaRPr lang="en-US" sz="3100" dirty="0"/>
          </a:p>
        </p:txBody>
      </p:sp>
      <p:sp>
        <p:nvSpPr>
          <p:cNvPr id="3" name="Text 1"/>
          <p:cNvSpPr txBox="1"/>
          <p:nvPr/>
        </p:nvSpPr>
        <p:spPr>
          <a:xfrm>
            <a:off x="566928" y="987552"/>
            <a:ext cx="11027664" cy="292608"/>
          </a:xfrm>
          <a:prstGeom prst="rect">
            <a:avLst/>
          </a:prstGeom>
          <a:noFill/>
          <a:ln/>
        </p:spPr>
        <p:txBody>
          <a:bodyPr wrap="square" lIns="0" tIns="0" rIns="0" bIns="0" rtlCol="0" anchor="ctr"/>
          <a:lstStyle/>
          <a:p>
            <a:pPr indent="0" marL="0">
              <a:buNone/>
            </a:pPr>
            <a:r>
              <a:rPr lang="en-US" sz="1250" spc="60" kern="0" dirty="0">
                <a:solidFill>
                  <a:srgbClr val="5E6B64"/>
                </a:solidFill>
                <a:latin typeface="Calibri" pitchFamily="34" charset="0"/>
                <a:ea typeface="Calibri" pitchFamily="34" charset="-122"/>
                <a:cs typeface="Calibri" pitchFamily="34" charset="-120"/>
              </a:rPr>
              <a:t>Who needs funding, and where the funding is published</a:t>
            </a:r>
            <a:endParaRPr lang="en-US" sz="1250" dirty="0"/>
          </a:p>
        </p:txBody>
      </p:sp>
      <p:sp>
        <p:nvSpPr>
          <p:cNvPr id="4" name="Shape 2"/>
          <p:cNvSpPr/>
          <p:nvPr/>
        </p:nvSpPr>
        <p:spPr>
          <a:xfrm>
            <a:off x="566928" y="1572768"/>
            <a:ext cx="4892040" cy="2011680"/>
          </a:xfrm>
          <a:prstGeom prst="roundRect">
            <a:avLst>
              <a:gd name="adj" fmla="val 4091"/>
            </a:avLst>
          </a:prstGeom>
          <a:solidFill>
            <a:srgbClr val="0F5132"/>
          </a:solidFill>
          <a:ln w="12700">
            <a:solidFill>
              <a:srgbClr val="0F5132"/>
            </a:solidFill>
            <a:prstDash val="solid"/>
          </a:ln>
        </p:spPr>
      </p:sp>
      <p:sp>
        <p:nvSpPr>
          <p:cNvPr id="5" name="Text 3"/>
          <p:cNvSpPr txBox="1"/>
          <p:nvPr/>
        </p:nvSpPr>
        <p:spPr>
          <a:xfrm>
            <a:off x="841248" y="1783080"/>
            <a:ext cx="4343400" cy="777240"/>
          </a:xfrm>
          <a:prstGeom prst="rect">
            <a:avLst/>
          </a:prstGeom>
          <a:noFill/>
          <a:ln/>
        </p:spPr>
        <p:txBody>
          <a:bodyPr wrap="square" lIns="0" tIns="0" rIns="0" bIns="0"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1 358 169</a:t>
            </a:r>
            <a:endParaRPr lang="en-US" sz="4600" dirty="0"/>
          </a:p>
        </p:txBody>
      </p:sp>
      <p:sp>
        <p:nvSpPr>
          <p:cNvPr id="6" name="Text 4"/>
          <p:cNvSpPr txBox="1"/>
          <p:nvPr/>
        </p:nvSpPr>
        <p:spPr>
          <a:xfrm>
            <a:off x="841248" y="2578608"/>
            <a:ext cx="4343400" cy="731520"/>
          </a:xfrm>
          <a:prstGeom prst="rect">
            <a:avLst/>
          </a:prstGeom>
          <a:noFill/>
          <a:ln/>
        </p:spPr>
        <p:txBody>
          <a:bodyPr wrap="square" lIns="0" tIns="0" rIns="0" bIns="0" rtlCol="0" anchor="ctr"/>
          <a:lstStyle/>
          <a:p>
            <a:pPr indent="0" marL="0">
              <a:lnSpc>
                <a:spcPct val="120000"/>
              </a:lnSpc>
              <a:buNone/>
            </a:pPr>
            <a:r>
              <a:rPr lang="en-US" sz="1350" dirty="0">
                <a:solidFill>
                  <a:srgbClr val="9DBFA8"/>
                </a:solidFill>
                <a:latin typeface="Calibri" pitchFamily="34" charset="0"/>
                <a:ea typeface="Calibri" pitchFamily="34" charset="-122"/>
                <a:cs typeface="Calibri" pitchFamily="34" charset="-120"/>
              </a:rPr>
              <a:t>students in South African higher education, 2023</a:t>
            </a:r>
            <a:endParaRPr lang="en-US" sz="1350" dirty="0"/>
          </a:p>
        </p:txBody>
      </p:sp>
      <p:sp>
        <p:nvSpPr>
          <p:cNvPr id="7" name="Shape 5"/>
          <p:cNvSpPr/>
          <p:nvPr/>
        </p:nvSpPr>
        <p:spPr>
          <a:xfrm>
            <a:off x="566928" y="3730752"/>
            <a:ext cx="4892040" cy="1810512"/>
          </a:xfrm>
          <a:prstGeom prst="roundRect">
            <a:avLst>
              <a:gd name="adj" fmla="val 4545"/>
            </a:avLst>
          </a:prstGeom>
          <a:solidFill>
            <a:srgbClr val="EDF3EF"/>
          </a:solidFill>
          <a:ln w="12700">
            <a:solidFill>
              <a:srgbClr val="EDF3EF"/>
            </a:solidFill>
            <a:prstDash val="solid"/>
          </a:ln>
        </p:spPr>
      </p:sp>
      <p:sp>
        <p:nvSpPr>
          <p:cNvPr id="8" name="Text 6"/>
          <p:cNvSpPr txBox="1"/>
          <p:nvPr/>
        </p:nvSpPr>
        <p:spPr>
          <a:xfrm>
            <a:off x="804672" y="3895344"/>
            <a:ext cx="4416552"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NSFAS — one structured door</a:t>
            </a:r>
            <a:endParaRPr lang="en-US" sz="1450" dirty="0"/>
          </a:p>
        </p:txBody>
      </p:sp>
      <p:sp>
        <p:nvSpPr>
          <p:cNvPr id="9" name="Text 7"/>
          <p:cNvSpPr txBox="1"/>
          <p:nvPr/>
        </p:nvSpPr>
        <p:spPr>
          <a:xfrm>
            <a:off x="804672" y="4261104"/>
            <a:ext cx="4416552" cy="1115568"/>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Means-tested at R350 000 household income</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One applicant, one application, one published set of rules</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The "missing middle" is directed to a loan, not a bursary</a:t>
            </a:r>
            <a:endParaRPr lang="en-US" sz="1250" dirty="0"/>
          </a:p>
        </p:txBody>
      </p:sp>
      <p:sp>
        <p:nvSpPr>
          <p:cNvPr id="10" name="Text 8"/>
          <p:cNvSpPr txBox="1"/>
          <p:nvPr/>
        </p:nvSpPr>
        <p:spPr>
          <a:xfrm>
            <a:off x="5824728" y="1572768"/>
            <a:ext cx="5769864" cy="329184"/>
          </a:xfrm>
          <a:prstGeom prst="rect">
            <a:avLst/>
          </a:prstGeom>
          <a:noFill/>
          <a:ln/>
        </p:spPr>
        <p:txBody>
          <a:bodyPr wrap="square" lIns="0" tIns="0" rIns="0" bIns="0" rtlCol="0" anchor="ctr"/>
          <a:lstStyle/>
          <a:p>
            <a:pPr indent="0" marL="0">
              <a:buNone/>
            </a:pPr>
            <a:r>
              <a:rPr lang="en-US" sz="1500" b="1" dirty="0">
                <a:solidFill>
                  <a:srgbClr val="16211C"/>
                </a:solidFill>
                <a:latin typeface="Calibri" pitchFamily="34" charset="0"/>
                <a:ea typeface="Calibri" pitchFamily="34" charset="-122"/>
                <a:cs typeface="Calibri" pitchFamily="34" charset="-120"/>
              </a:rPr>
              <a:t>Everything else is published as pages of prose</a:t>
            </a:r>
            <a:endParaRPr lang="en-US" sz="1500" dirty="0"/>
          </a:p>
        </p:txBody>
      </p:sp>
      <p:sp>
        <p:nvSpPr>
          <p:cNvPr id="11" name="Text 9"/>
          <p:cNvSpPr txBox="1"/>
          <p:nvPr/>
        </p:nvSpPr>
        <p:spPr>
          <a:xfrm>
            <a:off x="5824728" y="2139696"/>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2" name="Text 10"/>
          <p:cNvSpPr txBox="1"/>
          <p:nvPr/>
        </p:nvSpPr>
        <p:spPr>
          <a:xfrm>
            <a:off x="6245352" y="2084832"/>
            <a:ext cx="5349240" cy="274320"/>
          </a:xfrm>
          <a:prstGeom prst="rect">
            <a:avLst/>
          </a:prstGeom>
          <a:noFill/>
          <a:ln/>
        </p:spPr>
        <p:txBody>
          <a:bodyPr wrap="square" lIns="0" tIns="0" rIns="0" bIns="0" rtlCol="0" anchor="ctr"/>
          <a:lstStyle/>
          <a:p>
            <a:pPr indent="0" marL="0">
              <a:buNone/>
            </a:pPr>
            <a:r>
              <a:rPr lang="en-US" sz="1350" b="1" dirty="0">
                <a:solidFill>
                  <a:srgbClr val="0F5132"/>
                </a:solidFill>
                <a:latin typeface="Calibri" pitchFamily="34" charset="0"/>
                <a:ea typeface="Calibri" pitchFamily="34" charset="-122"/>
                <a:cs typeface="Calibri" pitchFamily="34" charset="-120"/>
              </a:rPr>
              <a:t>Aggregator websites</a:t>
            </a:r>
            <a:endParaRPr lang="en-US" sz="1350" dirty="0"/>
          </a:p>
        </p:txBody>
      </p:sp>
      <p:sp>
        <p:nvSpPr>
          <p:cNvPr id="13" name="Text 11"/>
          <p:cNvSpPr txBox="1"/>
          <p:nvPr/>
        </p:nvSpPr>
        <p:spPr>
          <a:xfrm>
            <a:off x="6245352" y="2368296"/>
            <a:ext cx="5349240" cy="310896"/>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Listings grouped as editorial articles</a:t>
            </a:r>
            <a:endParaRPr lang="en-US" sz="1200" dirty="0"/>
          </a:p>
        </p:txBody>
      </p:sp>
      <p:sp>
        <p:nvSpPr>
          <p:cNvPr id="14" name="Text 12"/>
          <p:cNvSpPr txBox="1"/>
          <p:nvPr/>
        </p:nvSpPr>
        <p:spPr>
          <a:xfrm>
            <a:off x="5824728" y="3072384"/>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6245352" y="3017520"/>
            <a:ext cx="5349240" cy="274320"/>
          </a:xfrm>
          <a:prstGeom prst="rect">
            <a:avLst/>
          </a:prstGeom>
          <a:noFill/>
          <a:ln/>
        </p:spPr>
        <p:txBody>
          <a:bodyPr wrap="square" lIns="0" tIns="0" rIns="0" bIns="0" rtlCol="0" anchor="ctr"/>
          <a:lstStyle/>
          <a:p>
            <a:pPr indent="0" marL="0">
              <a:buNone/>
            </a:pPr>
            <a:r>
              <a:rPr lang="en-US" sz="1350" b="1" dirty="0">
                <a:solidFill>
                  <a:srgbClr val="0F5132"/>
                </a:solidFill>
                <a:latin typeface="Calibri" pitchFamily="34" charset="0"/>
                <a:ea typeface="Calibri" pitchFamily="34" charset="-122"/>
                <a:cs typeface="Calibri" pitchFamily="34" charset="-120"/>
              </a:rPr>
              <a:t>Funder websites</a:t>
            </a:r>
            <a:endParaRPr lang="en-US" sz="1350" dirty="0"/>
          </a:p>
        </p:txBody>
      </p:sp>
      <p:sp>
        <p:nvSpPr>
          <p:cNvPr id="16" name="Text 14"/>
          <p:cNvSpPr txBox="1"/>
          <p:nvPr/>
        </p:nvSpPr>
        <p:spPr>
          <a:xfrm>
            <a:off x="6245352" y="3300984"/>
            <a:ext cx="5349240" cy="310896"/>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Careers or CSI pages, often a downloadable PDF</a:t>
            </a:r>
            <a:endParaRPr lang="en-US" sz="1200" dirty="0"/>
          </a:p>
        </p:txBody>
      </p:sp>
      <p:sp>
        <p:nvSpPr>
          <p:cNvPr id="17" name="Text 15"/>
          <p:cNvSpPr txBox="1"/>
          <p:nvPr/>
        </p:nvSpPr>
        <p:spPr>
          <a:xfrm>
            <a:off x="5824728" y="4005072"/>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6245352" y="3950208"/>
            <a:ext cx="5349240" cy="274320"/>
          </a:xfrm>
          <a:prstGeom prst="rect">
            <a:avLst/>
          </a:prstGeom>
          <a:noFill/>
          <a:ln/>
        </p:spPr>
        <p:txBody>
          <a:bodyPr wrap="square" lIns="0" tIns="0" rIns="0" bIns="0" rtlCol="0" anchor="ctr"/>
          <a:lstStyle/>
          <a:p>
            <a:pPr indent="0" marL="0">
              <a:buNone/>
            </a:pPr>
            <a:r>
              <a:rPr lang="en-US" sz="1350" b="1" dirty="0">
                <a:solidFill>
                  <a:srgbClr val="0F5132"/>
                </a:solidFill>
                <a:latin typeface="Calibri" pitchFamily="34" charset="0"/>
                <a:ea typeface="Calibri" pitchFamily="34" charset="-122"/>
                <a:cs typeface="Calibri" pitchFamily="34" charset="-120"/>
              </a:rPr>
              <a:t>Financial aid offices</a:t>
            </a:r>
            <a:endParaRPr lang="en-US" sz="1350" dirty="0"/>
          </a:p>
        </p:txBody>
      </p:sp>
      <p:sp>
        <p:nvSpPr>
          <p:cNvPr id="19" name="Text 17"/>
          <p:cNvSpPr txBox="1"/>
          <p:nvPr/>
        </p:nvSpPr>
        <p:spPr>
          <a:xfrm>
            <a:off x="6245352" y="4233672"/>
            <a:ext cx="5349240" cy="310896"/>
          </a:xfrm>
          <a:prstGeom prst="rect">
            <a:avLst/>
          </a:prstGeom>
          <a:noFill/>
          <a:ln/>
        </p:spPr>
        <p:txBody>
          <a:bodyPr wrap="square" lIns="0" tIns="0" rIns="0" bIns="0" rtlCol="0" anchor="ctr"/>
          <a:lstStyle/>
          <a:p>
            <a:pPr indent="0" marL="0">
              <a:buNone/>
            </a:pPr>
            <a:r>
              <a:rPr lang="en-US" sz="1200" dirty="0">
                <a:solidFill>
                  <a:srgbClr val="5E6B64"/>
                </a:solidFill>
                <a:latin typeface="Calibri" pitchFamily="34" charset="0"/>
                <a:ea typeface="Calibri" pitchFamily="34" charset="-122"/>
                <a:cs typeface="Calibri" pitchFamily="34" charset="-120"/>
              </a:rPr>
              <a:t>Notice boards, email lists, campus portals</a:t>
            </a:r>
            <a:endParaRPr lang="en-US" sz="1200" dirty="0"/>
          </a:p>
        </p:txBody>
      </p:sp>
      <p:sp>
        <p:nvSpPr>
          <p:cNvPr id="20" name="Shape 18"/>
          <p:cNvSpPr/>
          <p:nvPr/>
        </p:nvSpPr>
        <p:spPr>
          <a:xfrm>
            <a:off x="5824728" y="4956048"/>
            <a:ext cx="5769864" cy="585216"/>
          </a:xfrm>
          <a:prstGeom prst="roundRect">
            <a:avLst>
              <a:gd name="adj" fmla="val 14063"/>
            </a:avLst>
          </a:prstGeom>
          <a:solidFill>
            <a:srgbClr val="EDF3EF"/>
          </a:solidFill>
          <a:ln w="12700">
            <a:solidFill>
              <a:srgbClr val="EDF3EF"/>
            </a:solidFill>
            <a:prstDash val="solid"/>
          </a:ln>
        </p:spPr>
      </p:sp>
      <p:sp>
        <p:nvSpPr>
          <p:cNvPr id="21" name="Text 19"/>
          <p:cNvSpPr txBox="1"/>
          <p:nvPr/>
        </p:nvSpPr>
        <p:spPr>
          <a:xfrm>
            <a:off x="6062472" y="5120640"/>
            <a:ext cx="5294376" cy="310896"/>
          </a:xfrm>
          <a:prstGeom prst="rect">
            <a:avLst/>
          </a:prstGeom>
          <a:noFill/>
          <a:ln/>
        </p:spPr>
        <p:txBody>
          <a:bodyPr wrap="square" lIns="0" tIns="0" rIns="0" bIns="0" rtlCol="0" anchor="ctr"/>
          <a:lstStyle/>
          <a:p>
            <a:pPr indent="0" marL="0">
              <a:buNone/>
            </a:pPr>
            <a:r>
              <a:rPr lang="en-US" sz="1350" b="1" dirty="0">
                <a:solidFill>
                  <a:srgbClr val="0F5132"/>
                </a:solidFill>
                <a:latin typeface="Calibri" pitchFamily="34" charset="0"/>
                <a:ea typeface="Calibri" pitchFamily="34" charset="-122"/>
                <a:cs typeface="Calibri" pitchFamily="34" charset="-120"/>
              </a:rPr>
              <a:t>No register. No shared application process.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Problem Statement</a:t>
            </a:r>
            <a:endParaRPr lang="en-US" sz="3100" dirty="0"/>
          </a:p>
        </p:txBody>
      </p:sp>
      <p:sp>
        <p:nvSpPr>
          <p:cNvPr id="3" name="Text 1"/>
          <p:cNvSpPr txBox="1"/>
          <p:nvPr/>
        </p:nvSpPr>
        <p:spPr>
          <a:xfrm>
            <a:off x="566928" y="987552"/>
            <a:ext cx="11027664" cy="292608"/>
          </a:xfrm>
          <a:prstGeom prst="rect">
            <a:avLst/>
          </a:prstGeom>
          <a:noFill/>
          <a:ln/>
        </p:spPr>
        <p:txBody>
          <a:bodyPr wrap="square" lIns="0" tIns="0" rIns="0" bIns="0" rtlCol="0" anchor="ctr"/>
          <a:lstStyle/>
          <a:p>
            <a:pPr indent="0" marL="0">
              <a:buNone/>
            </a:pPr>
            <a:r>
              <a:rPr lang="en-US" sz="1250" spc="60" kern="0" dirty="0">
                <a:solidFill>
                  <a:srgbClr val="5E6B64"/>
                </a:solidFill>
                <a:latin typeface="Calibri" pitchFamily="34" charset="0"/>
                <a:ea typeface="Calibri" pitchFamily="34" charset="-122"/>
                <a:cs typeface="Calibri" pitchFamily="34" charset="-120"/>
              </a:rPr>
              <a:t>Discovery, assessment and application are manual at every step</a:t>
            </a:r>
            <a:endParaRPr lang="en-US" sz="1250" dirty="0"/>
          </a:p>
        </p:txBody>
      </p:sp>
      <p:sp>
        <p:nvSpPr>
          <p:cNvPr id="4" name="Text 2"/>
          <p:cNvSpPr txBox="1"/>
          <p:nvPr/>
        </p:nvSpPr>
        <p:spPr>
          <a:xfrm>
            <a:off x="566928" y="1517904"/>
            <a:ext cx="2048256" cy="786384"/>
          </a:xfrm>
          <a:prstGeom prst="roundRect">
            <a:avLst>
              <a:gd name="adj" fmla="val 9302"/>
            </a:avLst>
          </a:prstGeom>
          <a:solidFill>
            <a:srgbClr val="FFFFFF"/>
          </a:solidFill>
          <a:ln w="12700">
            <a:solidFill>
              <a:srgbClr val="9DBFA8"/>
            </a:solidFill>
          </a:ln>
        </p:spPr>
        <p:txBody>
          <a:bodyPr wrap="square" lIns="508" tIns="508" rIns="508" bIns="508" rtlCol="0" anchor="ctr"/>
          <a:lstStyle/>
          <a:p>
            <a:pPr algn="ctr" indent="0" marL="0">
              <a:buNone/>
            </a:pPr>
            <a:r>
              <a:rPr lang="en-US" sz="1200" b="1" dirty="0">
                <a:solidFill>
                  <a:srgbClr val="0F5132"/>
                </a:solidFill>
                <a:latin typeface="Calibri" pitchFamily="34" charset="0"/>
                <a:ea typeface="Calibri" pitchFamily="34" charset="-122"/>
                <a:cs typeface="Calibri" pitchFamily="34" charset="-120"/>
              </a:rPr>
              <a:t>Multiple</a:t>
            </a:r>
            <a:endParaRPr lang="en-US" sz="1200" dirty="0"/>
          </a:p>
          <a:p>
            <a:pPr algn="ctr" indent="0" marL="0">
              <a:buNone/>
            </a:pPr>
            <a:r>
              <a:rPr lang="en-US" sz="1200" b="1" dirty="0">
                <a:solidFill>
                  <a:srgbClr val="0F5132"/>
                </a:solidFill>
                <a:latin typeface="Calibri" pitchFamily="34" charset="0"/>
                <a:ea typeface="Calibri" pitchFamily="34" charset="-122"/>
                <a:cs typeface="Calibri" pitchFamily="34" charset="-120"/>
              </a:rPr>
              <a:t>sources</a:t>
            </a:r>
            <a:endParaRPr lang="en-US" sz="1200" dirty="0"/>
          </a:p>
        </p:txBody>
      </p:sp>
      <p:sp>
        <p:nvSpPr>
          <p:cNvPr id="5" name="Shape 3"/>
          <p:cNvSpPr/>
          <p:nvPr/>
        </p:nvSpPr>
        <p:spPr>
          <a:xfrm>
            <a:off x="2624328" y="1819656"/>
            <a:ext cx="237744" cy="182880"/>
          </a:xfrm>
          <a:prstGeom prst="rightArrow">
            <a:avLst/>
          </a:prstGeom>
          <a:solidFill>
            <a:srgbClr val="9DBFA8"/>
          </a:solidFill>
          <a:ln w="12700">
            <a:solidFill>
              <a:srgbClr val="9DBFA8"/>
            </a:solidFill>
            <a:prstDash val="solid"/>
          </a:ln>
        </p:spPr>
      </p:sp>
      <p:sp>
        <p:nvSpPr>
          <p:cNvPr id="6" name="Text 4"/>
          <p:cNvSpPr txBox="1"/>
          <p:nvPr/>
        </p:nvSpPr>
        <p:spPr>
          <a:xfrm>
            <a:off x="2871216" y="1517904"/>
            <a:ext cx="2048256" cy="786384"/>
          </a:xfrm>
          <a:prstGeom prst="roundRect">
            <a:avLst>
              <a:gd name="adj" fmla="val 9302"/>
            </a:avLst>
          </a:prstGeom>
          <a:solidFill>
            <a:srgbClr val="FFFFFF"/>
          </a:solidFill>
          <a:ln w="12700">
            <a:solidFill>
              <a:srgbClr val="9DBFA8"/>
            </a:solidFill>
          </a:ln>
        </p:spPr>
        <p:txBody>
          <a:bodyPr wrap="square" lIns="508" tIns="508" rIns="508" bIns="508" rtlCol="0" anchor="ctr"/>
          <a:lstStyle/>
          <a:p>
            <a:pPr algn="ctr" indent="0" marL="0">
              <a:buNone/>
            </a:pPr>
            <a:r>
              <a:rPr lang="en-US" sz="1200" b="1" dirty="0">
                <a:solidFill>
                  <a:srgbClr val="0F5132"/>
                </a:solidFill>
                <a:latin typeface="Calibri" pitchFamily="34" charset="0"/>
                <a:ea typeface="Calibri" pitchFamily="34" charset="-122"/>
                <a:cs typeface="Calibri" pitchFamily="34" charset="-120"/>
              </a:rPr>
              <a:t>Criteria written</a:t>
            </a:r>
            <a:endParaRPr lang="en-US" sz="1200" dirty="0"/>
          </a:p>
          <a:p>
            <a:pPr algn="ctr" indent="0" marL="0">
              <a:buNone/>
            </a:pPr>
            <a:r>
              <a:rPr lang="en-US" sz="1200" b="1" dirty="0">
                <a:solidFill>
                  <a:srgbClr val="0F5132"/>
                </a:solidFill>
                <a:latin typeface="Calibri" pitchFamily="34" charset="0"/>
                <a:ea typeface="Calibri" pitchFamily="34" charset="-122"/>
                <a:cs typeface="Calibri" pitchFamily="34" charset="-120"/>
              </a:rPr>
              <a:t>as prose</a:t>
            </a:r>
            <a:endParaRPr lang="en-US" sz="1200" dirty="0"/>
          </a:p>
        </p:txBody>
      </p:sp>
      <p:sp>
        <p:nvSpPr>
          <p:cNvPr id="7" name="Shape 5"/>
          <p:cNvSpPr/>
          <p:nvPr/>
        </p:nvSpPr>
        <p:spPr>
          <a:xfrm>
            <a:off x="4928616" y="1819656"/>
            <a:ext cx="237744" cy="182880"/>
          </a:xfrm>
          <a:prstGeom prst="rightArrow">
            <a:avLst/>
          </a:prstGeom>
          <a:solidFill>
            <a:srgbClr val="9DBFA8"/>
          </a:solidFill>
          <a:ln w="12700">
            <a:solidFill>
              <a:srgbClr val="9DBFA8"/>
            </a:solidFill>
            <a:prstDash val="solid"/>
          </a:ln>
        </p:spPr>
      </p:sp>
      <p:sp>
        <p:nvSpPr>
          <p:cNvPr id="8" name="Text 6"/>
          <p:cNvSpPr txBox="1"/>
          <p:nvPr/>
        </p:nvSpPr>
        <p:spPr>
          <a:xfrm>
            <a:off x="5175504" y="1517904"/>
            <a:ext cx="2048256" cy="786384"/>
          </a:xfrm>
          <a:prstGeom prst="roundRect">
            <a:avLst>
              <a:gd name="adj" fmla="val 9302"/>
            </a:avLst>
          </a:prstGeom>
          <a:solidFill>
            <a:srgbClr val="FFFFFF"/>
          </a:solidFill>
          <a:ln w="12700">
            <a:solidFill>
              <a:srgbClr val="9DBFA8"/>
            </a:solidFill>
          </a:ln>
        </p:spPr>
        <p:txBody>
          <a:bodyPr wrap="square" lIns="508" tIns="508" rIns="508" bIns="508" rtlCol="0" anchor="ctr"/>
          <a:lstStyle/>
          <a:p>
            <a:pPr algn="ctr" indent="0" marL="0">
              <a:buNone/>
            </a:pPr>
            <a:r>
              <a:rPr lang="en-US" sz="1200" b="1" dirty="0">
                <a:solidFill>
                  <a:srgbClr val="0F5132"/>
                </a:solidFill>
                <a:latin typeface="Calibri" pitchFamily="34" charset="0"/>
                <a:ea typeface="Calibri" pitchFamily="34" charset="-122"/>
                <a:cs typeface="Calibri" pitchFamily="34" charset="-120"/>
              </a:rPr>
              <a:t>Manual</a:t>
            </a:r>
            <a:endParaRPr lang="en-US" sz="1200" dirty="0"/>
          </a:p>
          <a:p>
            <a:pPr algn="ctr" indent="0" marL="0">
              <a:buNone/>
            </a:pPr>
            <a:r>
              <a:rPr lang="en-US" sz="1200" b="1" dirty="0">
                <a:solidFill>
                  <a:srgbClr val="0F5132"/>
                </a:solidFill>
                <a:latin typeface="Calibri" pitchFamily="34" charset="0"/>
                <a:ea typeface="Calibri" pitchFamily="34" charset="-122"/>
                <a:cs typeface="Calibri" pitchFamily="34" charset="-120"/>
              </a:rPr>
              <a:t>interpretation</a:t>
            </a:r>
            <a:endParaRPr lang="en-US" sz="1200" dirty="0"/>
          </a:p>
        </p:txBody>
      </p:sp>
      <p:sp>
        <p:nvSpPr>
          <p:cNvPr id="9" name="Shape 7"/>
          <p:cNvSpPr/>
          <p:nvPr/>
        </p:nvSpPr>
        <p:spPr>
          <a:xfrm>
            <a:off x="7232904" y="1819656"/>
            <a:ext cx="237744" cy="182880"/>
          </a:xfrm>
          <a:prstGeom prst="rightArrow">
            <a:avLst/>
          </a:prstGeom>
          <a:solidFill>
            <a:srgbClr val="9DBFA8"/>
          </a:solidFill>
          <a:ln w="12700">
            <a:solidFill>
              <a:srgbClr val="9DBFA8"/>
            </a:solidFill>
            <a:prstDash val="solid"/>
          </a:ln>
        </p:spPr>
      </p:sp>
      <p:sp>
        <p:nvSpPr>
          <p:cNvPr id="10" name="Text 8"/>
          <p:cNvSpPr txBox="1"/>
          <p:nvPr/>
        </p:nvSpPr>
        <p:spPr>
          <a:xfrm>
            <a:off x="7479792" y="1517904"/>
            <a:ext cx="2048256" cy="786384"/>
          </a:xfrm>
          <a:prstGeom prst="roundRect">
            <a:avLst>
              <a:gd name="adj" fmla="val 9302"/>
            </a:avLst>
          </a:prstGeom>
          <a:solidFill>
            <a:srgbClr val="FFFFFF"/>
          </a:solidFill>
          <a:ln w="12700">
            <a:solidFill>
              <a:srgbClr val="9DBFA8"/>
            </a:solidFill>
          </a:ln>
        </p:spPr>
        <p:txBody>
          <a:bodyPr wrap="square" lIns="508" tIns="508" rIns="508" bIns="508" rtlCol="0" anchor="ctr"/>
          <a:lstStyle/>
          <a:p>
            <a:pPr algn="ctr" indent="0" marL="0">
              <a:buNone/>
            </a:pPr>
            <a:r>
              <a:rPr lang="en-US" sz="1200" b="1" dirty="0">
                <a:solidFill>
                  <a:srgbClr val="0F5132"/>
                </a:solidFill>
                <a:latin typeface="Calibri" pitchFamily="34" charset="0"/>
                <a:ea typeface="Calibri" pitchFamily="34" charset="-122"/>
                <a:cs typeface="Calibri" pitchFamily="34" charset="-120"/>
              </a:rPr>
              <a:t>Repeated</a:t>
            </a:r>
            <a:endParaRPr lang="en-US" sz="1200" dirty="0"/>
          </a:p>
          <a:p>
            <a:pPr algn="ctr" indent="0" marL="0">
              <a:buNone/>
            </a:pPr>
            <a:r>
              <a:rPr lang="en-US" sz="1200" b="1" dirty="0">
                <a:solidFill>
                  <a:srgbClr val="0F5132"/>
                </a:solidFill>
                <a:latin typeface="Calibri" pitchFamily="34" charset="0"/>
                <a:ea typeface="Calibri" pitchFamily="34" charset="-122"/>
                <a:cs typeface="Calibri" pitchFamily="34" charset="-120"/>
              </a:rPr>
              <a:t>data entry</a:t>
            </a:r>
            <a:endParaRPr lang="en-US" sz="1200" dirty="0"/>
          </a:p>
        </p:txBody>
      </p:sp>
      <p:sp>
        <p:nvSpPr>
          <p:cNvPr id="11" name="Shape 9"/>
          <p:cNvSpPr/>
          <p:nvPr/>
        </p:nvSpPr>
        <p:spPr>
          <a:xfrm>
            <a:off x="9537192" y="1819656"/>
            <a:ext cx="237744" cy="182880"/>
          </a:xfrm>
          <a:prstGeom prst="rightArrow">
            <a:avLst/>
          </a:prstGeom>
          <a:solidFill>
            <a:srgbClr val="9DBFA8"/>
          </a:solidFill>
          <a:ln w="12700">
            <a:solidFill>
              <a:srgbClr val="9DBFA8"/>
            </a:solidFill>
            <a:prstDash val="solid"/>
          </a:ln>
        </p:spPr>
      </p:sp>
      <p:sp>
        <p:nvSpPr>
          <p:cNvPr id="12" name="Text 10"/>
          <p:cNvSpPr txBox="1"/>
          <p:nvPr/>
        </p:nvSpPr>
        <p:spPr>
          <a:xfrm>
            <a:off x="9784080" y="1517904"/>
            <a:ext cx="2048256" cy="786384"/>
          </a:xfrm>
          <a:prstGeom prst="roundRect">
            <a:avLst>
              <a:gd name="adj" fmla="val 9302"/>
            </a:avLst>
          </a:prstGeom>
          <a:solidFill>
            <a:srgbClr val="FFFFFF"/>
          </a:solidFill>
          <a:ln w="12700">
            <a:solidFill>
              <a:srgbClr val="9DBFA8"/>
            </a:solidFill>
          </a:ln>
        </p:spPr>
        <p:txBody>
          <a:bodyPr wrap="square" lIns="508" tIns="508" rIns="508" bIns="508" rtlCol="0" anchor="ctr"/>
          <a:lstStyle/>
          <a:p>
            <a:pPr algn="ctr" indent="0" marL="0">
              <a:buNone/>
            </a:pPr>
            <a:r>
              <a:rPr lang="en-US" sz="1200" b="1" dirty="0">
                <a:solidFill>
                  <a:srgbClr val="0F5132"/>
                </a:solidFill>
                <a:latin typeface="Calibri" pitchFamily="34" charset="0"/>
                <a:ea typeface="Calibri" pitchFamily="34" charset="-122"/>
                <a:cs typeface="Calibri" pitchFamily="34" charset="-120"/>
              </a:rPr>
              <a:t>Separate</a:t>
            </a:r>
            <a:endParaRPr lang="en-US" sz="1200" dirty="0"/>
          </a:p>
          <a:p>
            <a:pPr algn="ctr" indent="0" marL="0">
              <a:buNone/>
            </a:pPr>
            <a:r>
              <a:rPr lang="en-US" sz="1200" b="1" dirty="0">
                <a:solidFill>
                  <a:srgbClr val="0F5132"/>
                </a:solidFill>
                <a:latin typeface="Calibri" pitchFamily="34" charset="0"/>
                <a:ea typeface="Calibri" pitchFamily="34" charset="-122"/>
                <a:cs typeface="Calibri" pitchFamily="34" charset="-120"/>
              </a:rPr>
              <a:t>application forms</a:t>
            </a:r>
            <a:endParaRPr lang="en-US" sz="1200" dirty="0"/>
          </a:p>
        </p:txBody>
      </p:sp>
      <p:sp>
        <p:nvSpPr>
          <p:cNvPr id="13" name="Shape 11"/>
          <p:cNvSpPr/>
          <p:nvPr/>
        </p:nvSpPr>
        <p:spPr>
          <a:xfrm>
            <a:off x="566928" y="2688336"/>
            <a:ext cx="5513832" cy="2139696"/>
          </a:xfrm>
          <a:prstGeom prst="roundRect">
            <a:avLst>
              <a:gd name="adj" fmla="val 3846"/>
            </a:avLst>
          </a:prstGeom>
          <a:solidFill>
            <a:srgbClr val="EDF3EF"/>
          </a:solidFill>
          <a:ln w="12700">
            <a:solidFill>
              <a:srgbClr val="EDF3EF"/>
            </a:solidFill>
            <a:prstDash val="solid"/>
          </a:ln>
        </p:spPr>
      </p:sp>
      <p:sp>
        <p:nvSpPr>
          <p:cNvPr id="14" name="Text 12"/>
          <p:cNvSpPr txBox="1"/>
          <p:nvPr/>
        </p:nvSpPr>
        <p:spPr>
          <a:xfrm>
            <a:off x="804672" y="2852928"/>
            <a:ext cx="5038344"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For students</a:t>
            </a:r>
            <a:endParaRPr lang="en-US" sz="1450" dirty="0"/>
          </a:p>
        </p:txBody>
      </p:sp>
      <p:sp>
        <p:nvSpPr>
          <p:cNvPr id="15" name="Text 13"/>
          <p:cNvSpPr txBox="1"/>
          <p:nvPr/>
        </p:nvSpPr>
        <p:spPr>
          <a:xfrm>
            <a:off x="804672" y="3218688"/>
            <a:ext cx="5038344"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Eligibility judged by reading, so it is easy to get wrong</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Effort spent on applications they could never win</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The same details rewritten on every form</a:t>
            </a:r>
            <a:endParaRPr lang="en-US" sz="1250" dirty="0"/>
          </a:p>
        </p:txBody>
      </p:sp>
      <p:sp>
        <p:nvSpPr>
          <p:cNvPr id="16" name="Shape 14"/>
          <p:cNvSpPr/>
          <p:nvPr/>
        </p:nvSpPr>
        <p:spPr>
          <a:xfrm>
            <a:off x="6446520" y="2688336"/>
            <a:ext cx="5513832" cy="2139696"/>
          </a:xfrm>
          <a:prstGeom prst="roundRect">
            <a:avLst>
              <a:gd name="adj" fmla="val 3846"/>
            </a:avLst>
          </a:prstGeom>
          <a:solidFill>
            <a:srgbClr val="EDF3EF"/>
          </a:solidFill>
          <a:ln w="12700">
            <a:solidFill>
              <a:srgbClr val="EDF3EF"/>
            </a:solidFill>
            <a:prstDash val="solid"/>
          </a:ln>
        </p:spPr>
      </p:sp>
      <p:sp>
        <p:nvSpPr>
          <p:cNvPr id="17" name="Text 15"/>
          <p:cNvSpPr txBox="1"/>
          <p:nvPr/>
        </p:nvSpPr>
        <p:spPr>
          <a:xfrm>
            <a:off x="6684264" y="2852928"/>
            <a:ext cx="5038344"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For funding organisations</a:t>
            </a:r>
            <a:endParaRPr lang="en-US" sz="1450" dirty="0"/>
          </a:p>
        </p:txBody>
      </p:sp>
      <p:sp>
        <p:nvSpPr>
          <p:cNvPr id="18" name="Text 16"/>
          <p:cNvSpPr txBox="1"/>
          <p:nvPr/>
        </p:nvSpPr>
        <p:spPr>
          <a:xfrm>
            <a:off x="6684264" y="3218688"/>
            <a:ext cx="5038344"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Applications arrive as email attachments, in any shape</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Screening is manual, so it is slow and inconsistent</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No structured record of why an applicant was set aside</a:t>
            </a:r>
            <a:endParaRPr lang="en-US" sz="1250" dirty="0"/>
          </a:p>
        </p:txBody>
      </p:sp>
      <p:sp>
        <p:nvSpPr>
          <p:cNvPr id="19" name="Shape 17"/>
          <p:cNvSpPr/>
          <p:nvPr/>
        </p:nvSpPr>
        <p:spPr>
          <a:xfrm>
            <a:off x="566928" y="5138928"/>
            <a:ext cx="11027664" cy="1097280"/>
          </a:xfrm>
          <a:prstGeom prst="roundRect">
            <a:avLst>
              <a:gd name="adj" fmla="val 7500"/>
            </a:avLst>
          </a:prstGeom>
          <a:solidFill>
            <a:srgbClr val="0B2E24"/>
          </a:solidFill>
          <a:ln w="12700">
            <a:solidFill>
              <a:srgbClr val="0B2E24"/>
            </a:solidFill>
            <a:prstDash val="solid"/>
          </a:ln>
        </p:spPr>
      </p:sp>
      <p:sp>
        <p:nvSpPr>
          <p:cNvPr id="20" name="Text 18"/>
          <p:cNvSpPr txBox="1"/>
          <p:nvPr/>
        </p:nvSpPr>
        <p:spPr>
          <a:xfrm>
            <a:off x="841248" y="5248656"/>
            <a:ext cx="10479024" cy="877824"/>
          </a:xfrm>
          <a:prstGeom prst="rect">
            <a:avLst/>
          </a:prstGeom>
          <a:noFill/>
          <a:ln/>
        </p:spPr>
        <p:txBody>
          <a:bodyPr wrap="square" lIns="0" tIns="0" rIns="0" bIns="0" rtlCol="0" anchor="ctr"/>
          <a:lstStyle/>
          <a:p>
            <a:pPr indent="0" marL="0">
              <a:lnSpc>
                <a:spcPct val="115000"/>
              </a:lnSpc>
              <a:buNone/>
            </a:pPr>
            <a:r>
              <a:rPr lang="en-US" sz="1300" b="1" dirty="0">
                <a:solidFill>
                  <a:srgbClr val="C08A2E"/>
                </a:solidFill>
                <a:latin typeface="Calibri" pitchFamily="34" charset="0"/>
                <a:ea typeface="Calibri" pitchFamily="34" charset="-122"/>
                <a:cs typeface="Calibri" pitchFamily="34" charset="-120"/>
              </a:rPr>
              <a:t>We measured it.  </a:t>
            </a:r>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13 category pages crawled on the largest South African aggregator — only </a:t>
            </a:r>
            <a:pPr indent="0" marL="0">
              <a:lnSpc>
                <a:spcPct val="115000"/>
              </a:lnSpc>
              <a:buNone/>
            </a:pPr>
            <a:r>
              <a:rPr lang="en-US" sz="1300" b="1" dirty="0">
                <a:solidFill>
                  <a:srgbClr val="FFFFFF"/>
                </a:solidFill>
                <a:latin typeface="Calibri" pitchFamily="34" charset="0"/>
                <a:ea typeface="Calibri" pitchFamily="34" charset="-122"/>
                <a:cs typeface="Calibri" pitchFamily="34" charset="-120"/>
              </a:rPr>
              <a:t>189 listings</a:t>
            </a:r>
            <a:pPr indent="0" marL="0">
              <a:lnSpc>
                <a:spcPct val="115000"/>
              </a:lnSpc>
              <a:buNone/>
            </a:pPr>
            <a:r>
              <a:rPr lang="en-US" sz="1300" dirty="0">
                <a:solidFill>
                  <a:srgbClr val="FFFFFF"/>
                </a:solidFill>
                <a:latin typeface="Calibri" pitchFamily="34" charset="0"/>
                <a:ea typeface="Calibri" pitchFamily="34" charset="-122"/>
                <a:cs typeface="Calibri" pitchFamily="34" charset="-120"/>
              </a:rPr>
              <a:t> could be resolved to a named funder, a closing date and a source page. The rest were refused rather than guessed 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Goal and Objectives</a:t>
            </a:r>
            <a:endParaRPr lang="en-US" sz="3100" dirty="0"/>
          </a:p>
        </p:txBody>
      </p:sp>
      <p:sp>
        <p:nvSpPr>
          <p:cNvPr id="3" name="Shape 1"/>
          <p:cNvSpPr/>
          <p:nvPr/>
        </p:nvSpPr>
        <p:spPr>
          <a:xfrm>
            <a:off x="566928" y="1152144"/>
            <a:ext cx="11027664" cy="1133856"/>
          </a:xfrm>
          <a:prstGeom prst="roundRect">
            <a:avLst>
              <a:gd name="adj" fmla="val 7258"/>
            </a:avLst>
          </a:prstGeom>
          <a:solidFill>
            <a:srgbClr val="0F5132"/>
          </a:solidFill>
          <a:ln w="12700">
            <a:solidFill>
              <a:srgbClr val="0F5132"/>
            </a:solidFill>
            <a:prstDash val="solid"/>
          </a:ln>
        </p:spPr>
      </p:sp>
      <p:sp>
        <p:nvSpPr>
          <p:cNvPr id="4" name="Text 2"/>
          <p:cNvSpPr txBox="1"/>
          <p:nvPr/>
        </p:nvSpPr>
        <p:spPr>
          <a:xfrm>
            <a:off x="859536" y="1280160"/>
            <a:ext cx="1280160" cy="256032"/>
          </a:xfrm>
          <a:prstGeom prst="rect">
            <a:avLst/>
          </a:prstGeom>
          <a:noFill/>
          <a:ln/>
        </p:spPr>
        <p:txBody>
          <a:bodyPr wrap="square" lIns="0" tIns="0" rIns="0" bIns="0" rtlCol="0" anchor="ctr"/>
          <a:lstStyle/>
          <a:p>
            <a:pPr indent="0" marL="0">
              <a:buNone/>
            </a:pPr>
            <a:r>
              <a:rPr lang="en-US" sz="1150" b="1" spc="120" kern="0" dirty="0">
                <a:solidFill>
                  <a:srgbClr val="9DBFA8"/>
                </a:solidFill>
                <a:latin typeface="Calibri" pitchFamily="34" charset="0"/>
                <a:ea typeface="Calibri" pitchFamily="34" charset="-122"/>
                <a:cs typeface="Calibri" pitchFamily="34" charset="-120"/>
              </a:rPr>
              <a:t>GOAL</a:t>
            </a:r>
            <a:endParaRPr lang="en-US" sz="1150" dirty="0"/>
          </a:p>
        </p:txBody>
      </p:sp>
      <p:sp>
        <p:nvSpPr>
          <p:cNvPr id="5" name="Text 3"/>
          <p:cNvSpPr txBox="1"/>
          <p:nvPr/>
        </p:nvSpPr>
        <p:spPr>
          <a:xfrm>
            <a:off x="859536" y="1536192"/>
            <a:ext cx="10442448" cy="640080"/>
          </a:xfrm>
          <a:prstGeom prst="rect">
            <a:avLst/>
          </a:prstGeom>
          <a:noFill/>
          <a:ln/>
        </p:spPr>
        <p:txBody>
          <a:bodyPr wrap="square" lIns="0" tIns="0" rIns="0" bIns="0" rtlCol="0" anchor="ctr"/>
          <a:lstStyle/>
          <a:p>
            <a:pPr indent="0" marL="0">
              <a:lnSpc>
                <a:spcPct val="115000"/>
              </a:lnSpc>
              <a:buNone/>
            </a:pPr>
            <a:r>
              <a:rPr lang="en-US" sz="1400" dirty="0">
                <a:solidFill>
                  <a:srgbClr val="FFFFFF"/>
                </a:solidFill>
                <a:latin typeface="Calibri" pitchFamily="34" charset="0"/>
                <a:ea typeface="Calibri" pitchFamily="34" charset="-122"/>
                <a:cs typeface="Calibri" pitchFamily="34" charset="-120"/>
              </a:rPr>
              <a:t>Automatically match South African students to the funding they are eligible for, explain the reason behind every match, and give funding organisations one structured platform to publish programmes and administer applications.</a:t>
            </a:r>
            <a:endParaRPr lang="en-US" sz="1400" dirty="0"/>
          </a:p>
        </p:txBody>
      </p:sp>
      <p:sp>
        <p:nvSpPr>
          <p:cNvPr id="6" name="Text 4"/>
          <p:cNvSpPr txBox="1"/>
          <p:nvPr/>
        </p:nvSpPr>
        <p:spPr>
          <a:xfrm>
            <a:off x="566928" y="2651760"/>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87552" y="2615184"/>
            <a:ext cx="5093208" cy="274320"/>
          </a:xfrm>
          <a:prstGeom prst="rect">
            <a:avLst/>
          </a:prstGeom>
          <a:noFill/>
          <a:ln/>
        </p:spPr>
        <p:txBody>
          <a:bodyPr wrap="square" lIns="0" tIns="0" rIns="0" bIns="0" rtlCol="0" anchor="ctr"/>
          <a:lstStyle/>
          <a:p>
            <a:pPr indent="0" marL="0">
              <a:buNone/>
            </a:pPr>
            <a:r>
              <a:rPr lang="en-US" sz="1400" b="1" dirty="0">
                <a:solidFill>
                  <a:srgbClr val="0F5132"/>
                </a:solidFill>
                <a:latin typeface="Calibri" pitchFamily="34" charset="0"/>
                <a:ea typeface="Calibri" pitchFamily="34" charset="-122"/>
                <a:cs typeface="Calibri" pitchFamily="34" charset="-120"/>
              </a:rPr>
              <a:t>Structured criteria</a:t>
            </a:r>
            <a:endParaRPr lang="en-US" sz="1400" dirty="0"/>
          </a:p>
        </p:txBody>
      </p:sp>
      <p:sp>
        <p:nvSpPr>
          <p:cNvPr id="8" name="Text 6"/>
          <p:cNvSpPr txBox="1"/>
          <p:nvPr/>
        </p:nvSpPr>
        <p:spPr>
          <a:xfrm>
            <a:off x="987552" y="2907792"/>
            <a:ext cx="5093208" cy="566928"/>
          </a:xfrm>
          <a:prstGeom prst="rect">
            <a:avLst/>
          </a:prstGeom>
          <a:noFill/>
          <a:ln/>
        </p:spPr>
        <p:txBody>
          <a:bodyPr wrap="square" lIns="0" tIns="0" rIns="0" bIns="0" rtlCol="0" anchor="ctr"/>
          <a:lstStyle/>
          <a:p>
            <a:pPr indent="0" marL="0">
              <a:lnSpc>
                <a:spcPct val="112000"/>
              </a:lnSpc>
              <a:buNone/>
            </a:pPr>
            <a:r>
              <a:rPr lang="en-US" sz="1200" dirty="0">
                <a:solidFill>
                  <a:srgbClr val="5E6B64"/>
                </a:solidFill>
                <a:latin typeface="Calibri" pitchFamily="34" charset="0"/>
                <a:ea typeface="Calibri" pitchFamily="34" charset="-122"/>
                <a:cs typeface="Calibri" pitchFamily="34" charset="-120"/>
              </a:rPr>
              <a:t>Model eligibility as typed, machine-evaluable data rather than free text</a:t>
            </a:r>
            <a:endParaRPr lang="en-US" sz="1200" dirty="0"/>
          </a:p>
        </p:txBody>
      </p:sp>
      <p:sp>
        <p:nvSpPr>
          <p:cNvPr id="9" name="Text 7"/>
          <p:cNvSpPr txBox="1"/>
          <p:nvPr/>
        </p:nvSpPr>
        <p:spPr>
          <a:xfrm>
            <a:off x="6446520" y="2651760"/>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6867144" y="2615184"/>
            <a:ext cx="5093208" cy="274320"/>
          </a:xfrm>
          <a:prstGeom prst="rect">
            <a:avLst/>
          </a:prstGeom>
          <a:noFill/>
          <a:ln/>
        </p:spPr>
        <p:txBody>
          <a:bodyPr wrap="square" lIns="0" tIns="0" rIns="0" bIns="0" rtlCol="0" anchor="ctr"/>
          <a:lstStyle/>
          <a:p>
            <a:pPr indent="0" marL="0">
              <a:buNone/>
            </a:pPr>
            <a:r>
              <a:rPr lang="en-US" sz="1400" b="1" dirty="0">
                <a:solidFill>
                  <a:srgbClr val="0F5132"/>
                </a:solidFill>
                <a:latin typeface="Calibri" pitchFamily="34" charset="0"/>
                <a:ea typeface="Calibri" pitchFamily="34" charset="-122"/>
                <a:cs typeface="Calibri" pitchFamily="34" charset="-120"/>
              </a:rPr>
              <a:t>Explainable matching</a:t>
            </a:r>
            <a:endParaRPr lang="en-US" sz="1400" dirty="0"/>
          </a:p>
        </p:txBody>
      </p:sp>
      <p:sp>
        <p:nvSpPr>
          <p:cNvPr id="11" name="Text 9"/>
          <p:cNvSpPr txBox="1"/>
          <p:nvPr/>
        </p:nvSpPr>
        <p:spPr>
          <a:xfrm>
            <a:off x="6867144" y="2907792"/>
            <a:ext cx="5093208" cy="566928"/>
          </a:xfrm>
          <a:prstGeom prst="rect">
            <a:avLst/>
          </a:prstGeom>
          <a:noFill/>
          <a:ln/>
        </p:spPr>
        <p:txBody>
          <a:bodyPr wrap="square" lIns="0" tIns="0" rIns="0" bIns="0" rtlCol="0" anchor="ctr"/>
          <a:lstStyle/>
          <a:p>
            <a:pPr indent="0" marL="0">
              <a:lnSpc>
                <a:spcPct val="112000"/>
              </a:lnSpc>
              <a:buNone/>
            </a:pPr>
            <a:r>
              <a:rPr lang="en-US" sz="1200" dirty="0">
                <a:solidFill>
                  <a:srgbClr val="5E6B64"/>
                </a:solidFill>
                <a:latin typeface="Calibri" pitchFamily="34" charset="0"/>
                <a:ea typeface="Calibri" pitchFamily="34" charset="-122"/>
                <a:cs typeface="Calibri" pitchFamily="34" charset="-120"/>
              </a:rPr>
              <a:t>A weighted algorithm that returns met / not met / cannot evaluate per criterion</a:t>
            </a:r>
            <a:endParaRPr lang="en-US" sz="1200" dirty="0"/>
          </a:p>
        </p:txBody>
      </p:sp>
      <p:sp>
        <p:nvSpPr>
          <p:cNvPr id="12" name="Text 10"/>
          <p:cNvSpPr txBox="1"/>
          <p:nvPr/>
        </p:nvSpPr>
        <p:spPr>
          <a:xfrm>
            <a:off x="566928" y="3913632"/>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txBox="1"/>
          <p:nvPr/>
        </p:nvSpPr>
        <p:spPr>
          <a:xfrm>
            <a:off x="987552" y="3877056"/>
            <a:ext cx="5093208" cy="274320"/>
          </a:xfrm>
          <a:prstGeom prst="rect">
            <a:avLst/>
          </a:prstGeom>
          <a:noFill/>
          <a:ln/>
        </p:spPr>
        <p:txBody>
          <a:bodyPr wrap="square" lIns="0" tIns="0" rIns="0" bIns="0" rtlCol="0" anchor="ctr"/>
          <a:lstStyle/>
          <a:p>
            <a:pPr indent="0" marL="0">
              <a:buNone/>
            </a:pPr>
            <a:r>
              <a:rPr lang="en-US" sz="1400" b="1" dirty="0">
                <a:solidFill>
                  <a:srgbClr val="0F5132"/>
                </a:solidFill>
                <a:latin typeface="Calibri" pitchFamily="34" charset="0"/>
                <a:ea typeface="Calibri" pitchFamily="34" charset="-122"/>
                <a:cs typeface="Calibri" pitchFamily="34" charset="-120"/>
              </a:rPr>
              <a:t>Student side</a:t>
            </a:r>
            <a:endParaRPr lang="en-US" sz="1400" dirty="0"/>
          </a:p>
        </p:txBody>
      </p:sp>
      <p:sp>
        <p:nvSpPr>
          <p:cNvPr id="14" name="Text 12"/>
          <p:cNvSpPr txBox="1"/>
          <p:nvPr/>
        </p:nvSpPr>
        <p:spPr>
          <a:xfrm>
            <a:off x="987552" y="4169664"/>
            <a:ext cx="5093208" cy="566928"/>
          </a:xfrm>
          <a:prstGeom prst="rect">
            <a:avLst/>
          </a:prstGeom>
          <a:noFill/>
          <a:ln/>
        </p:spPr>
        <p:txBody>
          <a:bodyPr wrap="square" lIns="0" tIns="0" rIns="0" bIns="0" rtlCol="0" anchor="ctr"/>
          <a:lstStyle/>
          <a:p>
            <a:pPr indent="0" marL="0">
              <a:lnSpc>
                <a:spcPct val="112000"/>
              </a:lnSpc>
              <a:buNone/>
            </a:pPr>
            <a:r>
              <a:rPr lang="en-US" sz="1200" dirty="0">
                <a:solidFill>
                  <a:srgbClr val="5E6B64"/>
                </a:solidFill>
                <a:latin typeface="Calibri" pitchFamily="34" charset="0"/>
                <a:ea typeface="Calibri" pitchFamily="34" charset="-122"/>
                <a:cs typeface="Calibri" pitchFamily="34" charset="-120"/>
              </a:rPr>
              <a:t>Profile, ranked matches with reasons, full directory, application workflow</a:t>
            </a:r>
            <a:endParaRPr lang="en-US" sz="1200" dirty="0"/>
          </a:p>
        </p:txBody>
      </p:sp>
      <p:sp>
        <p:nvSpPr>
          <p:cNvPr id="15" name="Text 13"/>
          <p:cNvSpPr txBox="1"/>
          <p:nvPr/>
        </p:nvSpPr>
        <p:spPr>
          <a:xfrm>
            <a:off x="6446520" y="3913632"/>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txBox="1"/>
          <p:nvPr/>
        </p:nvSpPr>
        <p:spPr>
          <a:xfrm>
            <a:off x="6867144" y="3877056"/>
            <a:ext cx="5093208" cy="274320"/>
          </a:xfrm>
          <a:prstGeom prst="rect">
            <a:avLst/>
          </a:prstGeom>
          <a:noFill/>
          <a:ln/>
        </p:spPr>
        <p:txBody>
          <a:bodyPr wrap="square" lIns="0" tIns="0" rIns="0" bIns="0" rtlCol="0" anchor="ctr"/>
          <a:lstStyle/>
          <a:p>
            <a:pPr indent="0" marL="0">
              <a:buNone/>
            </a:pPr>
            <a:r>
              <a:rPr lang="en-US" sz="1400" b="1" dirty="0">
                <a:solidFill>
                  <a:srgbClr val="0F5132"/>
                </a:solidFill>
                <a:latin typeface="Calibri" pitchFamily="34" charset="0"/>
                <a:ea typeface="Calibri" pitchFamily="34" charset="-122"/>
                <a:cs typeface="Calibri" pitchFamily="34" charset="-120"/>
              </a:rPr>
              <a:t>Organisation side</a:t>
            </a:r>
            <a:endParaRPr lang="en-US" sz="1400" dirty="0"/>
          </a:p>
        </p:txBody>
      </p:sp>
      <p:sp>
        <p:nvSpPr>
          <p:cNvPr id="17" name="Text 15"/>
          <p:cNvSpPr txBox="1"/>
          <p:nvPr/>
        </p:nvSpPr>
        <p:spPr>
          <a:xfrm>
            <a:off x="6867144" y="4169664"/>
            <a:ext cx="5093208" cy="566928"/>
          </a:xfrm>
          <a:prstGeom prst="rect">
            <a:avLst/>
          </a:prstGeom>
          <a:noFill/>
          <a:ln/>
        </p:spPr>
        <p:txBody>
          <a:bodyPr wrap="square" lIns="0" tIns="0" rIns="0" bIns="0" rtlCol="0" anchor="ctr"/>
          <a:lstStyle/>
          <a:p>
            <a:pPr indent="0" marL="0">
              <a:lnSpc>
                <a:spcPct val="112000"/>
              </a:lnSpc>
              <a:buNone/>
            </a:pPr>
            <a:r>
              <a:rPr lang="en-US" sz="1200" dirty="0">
                <a:solidFill>
                  <a:srgbClr val="5E6B64"/>
                </a:solidFill>
                <a:latin typeface="Calibri" pitchFamily="34" charset="0"/>
                <a:ea typeface="Calibri" pitchFamily="34" charset="-122"/>
                <a:cs typeface="Calibri" pitchFamily="34" charset="-120"/>
              </a:rPr>
              <a:t>Programme publication, applicant review, shortlisting and selection</a:t>
            </a:r>
            <a:endParaRPr lang="en-US" sz="1200" dirty="0"/>
          </a:p>
        </p:txBody>
      </p:sp>
      <p:sp>
        <p:nvSpPr>
          <p:cNvPr id="18" name="Text 16"/>
          <p:cNvSpPr txBox="1"/>
          <p:nvPr/>
        </p:nvSpPr>
        <p:spPr>
          <a:xfrm>
            <a:off x="566928" y="5175504"/>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txBox="1"/>
          <p:nvPr/>
        </p:nvSpPr>
        <p:spPr>
          <a:xfrm>
            <a:off x="987552" y="5138928"/>
            <a:ext cx="5093208" cy="274320"/>
          </a:xfrm>
          <a:prstGeom prst="rect">
            <a:avLst/>
          </a:prstGeom>
          <a:noFill/>
          <a:ln/>
        </p:spPr>
        <p:txBody>
          <a:bodyPr wrap="square" lIns="0" tIns="0" rIns="0" bIns="0" rtlCol="0" anchor="ctr"/>
          <a:lstStyle/>
          <a:p>
            <a:pPr indent="0" marL="0">
              <a:buNone/>
            </a:pPr>
            <a:r>
              <a:rPr lang="en-US" sz="1400" b="1" dirty="0">
                <a:solidFill>
                  <a:srgbClr val="0F5132"/>
                </a:solidFill>
                <a:latin typeface="Calibri" pitchFamily="34" charset="0"/>
                <a:ea typeface="Calibri" pitchFamily="34" charset="-122"/>
                <a:cs typeface="Calibri" pitchFamily="34" charset="-120"/>
              </a:rPr>
              <a:t>Ingestion with provenance</a:t>
            </a:r>
            <a:endParaRPr lang="en-US" sz="1400" dirty="0"/>
          </a:p>
        </p:txBody>
      </p:sp>
      <p:sp>
        <p:nvSpPr>
          <p:cNvPr id="20" name="Text 18"/>
          <p:cNvSpPr txBox="1"/>
          <p:nvPr/>
        </p:nvSpPr>
        <p:spPr>
          <a:xfrm>
            <a:off x="987552" y="5431536"/>
            <a:ext cx="5093208" cy="566928"/>
          </a:xfrm>
          <a:prstGeom prst="rect">
            <a:avLst/>
          </a:prstGeom>
          <a:noFill/>
          <a:ln/>
        </p:spPr>
        <p:txBody>
          <a:bodyPr wrap="square" lIns="0" tIns="0" rIns="0" bIns="0" rtlCol="0" anchor="ctr"/>
          <a:lstStyle/>
          <a:p>
            <a:pPr indent="0" marL="0">
              <a:lnSpc>
                <a:spcPct val="112000"/>
              </a:lnSpc>
              <a:buNone/>
            </a:pPr>
            <a:r>
              <a:rPr lang="en-US" sz="1200" dirty="0">
                <a:solidFill>
                  <a:srgbClr val="5E6B64"/>
                </a:solidFill>
                <a:latin typeface="Calibri" pitchFamily="34" charset="0"/>
                <a:ea typeface="Calibri" pitchFamily="34" charset="-122"/>
                <a:cs typeface="Calibri" pitchFamily="34" charset="-120"/>
              </a:rPr>
              <a:t>Import from named sources; record every source, reject what cannot be resolved</a:t>
            </a:r>
            <a:endParaRPr lang="en-US" sz="1200" dirty="0"/>
          </a:p>
        </p:txBody>
      </p:sp>
      <p:sp>
        <p:nvSpPr>
          <p:cNvPr id="21" name="Text 19"/>
          <p:cNvSpPr txBox="1"/>
          <p:nvPr/>
        </p:nvSpPr>
        <p:spPr>
          <a:xfrm>
            <a:off x="6446520" y="5175504"/>
            <a:ext cx="292608" cy="292608"/>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2" name="Text 20"/>
          <p:cNvSpPr txBox="1"/>
          <p:nvPr/>
        </p:nvSpPr>
        <p:spPr>
          <a:xfrm>
            <a:off x="6867144" y="5138928"/>
            <a:ext cx="5093208" cy="274320"/>
          </a:xfrm>
          <a:prstGeom prst="rect">
            <a:avLst/>
          </a:prstGeom>
          <a:noFill/>
          <a:ln/>
        </p:spPr>
        <p:txBody>
          <a:bodyPr wrap="square" lIns="0" tIns="0" rIns="0" bIns="0" rtlCol="0" anchor="ctr"/>
          <a:lstStyle/>
          <a:p>
            <a:pPr indent="0" marL="0">
              <a:buNone/>
            </a:pPr>
            <a:r>
              <a:rPr lang="en-US" sz="1400" b="1" dirty="0">
                <a:solidFill>
                  <a:srgbClr val="0F5132"/>
                </a:solidFill>
                <a:latin typeface="Calibri" pitchFamily="34" charset="0"/>
                <a:ea typeface="Calibri" pitchFamily="34" charset="-122"/>
                <a:cs typeface="Calibri" pitchFamily="34" charset="-120"/>
              </a:rPr>
              <a:t>Test and evaluate</a:t>
            </a:r>
            <a:endParaRPr lang="en-US" sz="1400" dirty="0"/>
          </a:p>
        </p:txBody>
      </p:sp>
      <p:sp>
        <p:nvSpPr>
          <p:cNvPr id="23" name="Text 21"/>
          <p:cNvSpPr txBox="1"/>
          <p:nvPr/>
        </p:nvSpPr>
        <p:spPr>
          <a:xfrm>
            <a:off x="6867144" y="5431536"/>
            <a:ext cx="5093208" cy="566928"/>
          </a:xfrm>
          <a:prstGeom prst="rect">
            <a:avLst/>
          </a:prstGeom>
          <a:noFill/>
          <a:ln/>
        </p:spPr>
        <p:txBody>
          <a:bodyPr wrap="square" lIns="0" tIns="0" rIns="0" bIns="0" rtlCol="0" anchor="ctr"/>
          <a:lstStyle/>
          <a:p>
            <a:pPr indent="0" marL="0">
              <a:lnSpc>
                <a:spcPct val="112000"/>
              </a:lnSpc>
              <a:buNone/>
            </a:pPr>
            <a:r>
              <a:rPr lang="en-US" sz="1200" dirty="0">
                <a:solidFill>
                  <a:srgbClr val="5E6B64"/>
                </a:solidFill>
                <a:latin typeface="Calibri" pitchFamily="34" charset="0"/>
                <a:ea typeface="Calibri" pitchFamily="34" charset="-122"/>
                <a:cs typeface="Calibri" pitchFamily="34" charset="-120"/>
              </a:rPr>
              <a:t>Unit, integration and end-to-end tests; trace every requirement to its implementation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The Proposed Solution</a:t>
            </a:r>
            <a:endParaRPr lang="en-US" sz="3100" dirty="0"/>
          </a:p>
        </p:txBody>
      </p:sp>
      <p:sp>
        <p:nvSpPr>
          <p:cNvPr id="3" name="Text 1"/>
          <p:cNvSpPr txBox="1"/>
          <p:nvPr/>
        </p:nvSpPr>
        <p:spPr>
          <a:xfrm>
            <a:off x="566928" y="987552"/>
            <a:ext cx="11027664" cy="292608"/>
          </a:xfrm>
          <a:prstGeom prst="rect">
            <a:avLst/>
          </a:prstGeom>
          <a:noFill/>
          <a:ln/>
        </p:spPr>
        <p:txBody>
          <a:bodyPr wrap="square" lIns="0" tIns="0" rIns="0" bIns="0" rtlCol="0" anchor="ctr"/>
          <a:lstStyle/>
          <a:p>
            <a:pPr indent="0" marL="0">
              <a:buNone/>
            </a:pPr>
            <a:r>
              <a:rPr lang="en-US" sz="1250" spc="60" kern="0" dirty="0">
                <a:solidFill>
                  <a:srgbClr val="5E6B64"/>
                </a:solidFill>
                <a:latin typeface="Calibri" pitchFamily="34" charset="0"/>
                <a:ea typeface="Calibri" pitchFamily="34" charset="-122"/>
                <a:cs typeface="Calibri" pitchFamily="34" charset="-120"/>
              </a:rPr>
              <a:t>One structured record on each side, and a mechanism between them</a:t>
            </a:r>
            <a:endParaRPr lang="en-US" sz="1250" dirty="0"/>
          </a:p>
        </p:txBody>
      </p:sp>
      <p:sp>
        <p:nvSpPr>
          <p:cNvPr id="4" name="Shape 2"/>
          <p:cNvSpPr/>
          <p:nvPr/>
        </p:nvSpPr>
        <p:spPr>
          <a:xfrm>
            <a:off x="3977640" y="1481328"/>
            <a:ext cx="4206240" cy="658368"/>
          </a:xfrm>
          <a:prstGeom prst="roundRect">
            <a:avLst>
              <a:gd name="adj" fmla="val 12500"/>
            </a:avLst>
          </a:prstGeom>
          <a:solidFill>
            <a:srgbClr val="0F5132"/>
          </a:solidFill>
          <a:ln w="12700">
            <a:solidFill>
              <a:srgbClr val="0F5132"/>
            </a:solidFill>
            <a:prstDash val="solid"/>
          </a:ln>
        </p:spPr>
      </p:sp>
      <p:sp>
        <p:nvSpPr>
          <p:cNvPr id="5" name="Text 3"/>
          <p:cNvSpPr txBox="1"/>
          <p:nvPr/>
        </p:nvSpPr>
        <p:spPr>
          <a:xfrm>
            <a:off x="3977640" y="1481328"/>
            <a:ext cx="4206240" cy="658368"/>
          </a:xfrm>
          <a:prstGeom prst="rect">
            <a:avLst/>
          </a:prstGeom>
          <a:noFill/>
          <a:ln/>
        </p:spPr>
        <p:txBody>
          <a:bodyPr wrap="square" lIns="0" tIns="0" rIns="0" bIns="0" rtlCol="0" anchor="ctr"/>
          <a:lstStyle/>
          <a:p>
            <a:pPr algn="ctr" indent="0" marL="0">
              <a:buNone/>
            </a:pPr>
            <a:r>
              <a:rPr lang="en-US" sz="1600" b="1" spc="140" kern="0" dirty="0">
                <a:solidFill>
                  <a:srgbClr val="FFFFFF"/>
                </a:solidFill>
                <a:latin typeface="Calibri" pitchFamily="34" charset="0"/>
                <a:ea typeface="Calibri" pitchFamily="34" charset="-122"/>
                <a:cs typeface="Calibri" pitchFamily="34" charset="-120"/>
              </a:rPr>
              <a:t>BURSARY-BRIDGE</a:t>
            </a:r>
            <a:endParaRPr lang="en-US" sz="1600" dirty="0"/>
          </a:p>
        </p:txBody>
      </p:sp>
      <p:sp>
        <p:nvSpPr>
          <p:cNvPr id="6" name="Text 4"/>
          <p:cNvSpPr txBox="1"/>
          <p:nvPr/>
        </p:nvSpPr>
        <p:spPr>
          <a:xfrm>
            <a:off x="886968" y="2487168"/>
            <a:ext cx="5120640" cy="274320"/>
          </a:xfrm>
          <a:prstGeom prst="rect">
            <a:avLst/>
          </a:prstGeom>
          <a:noFill/>
          <a:ln/>
        </p:spPr>
        <p:txBody>
          <a:bodyPr wrap="square" lIns="0" tIns="0" rIns="0" bIns="0" rtlCol="0" anchor="ctr"/>
          <a:lstStyle/>
          <a:p>
            <a:pPr algn="ctr" indent="0" marL="0">
              <a:buNone/>
            </a:pPr>
            <a:r>
              <a:rPr lang="en-US" sz="1200" b="1" spc="120" kern="0" dirty="0">
                <a:solidFill>
                  <a:srgbClr val="5E6B64"/>
                </a:solidFill>
                <a:latin typeface="Calibri" pitchFamily="34" charset="0"/>
                <a:ea typeface="Calibri" pitchFamily="34" charset="-122"/>
                <a:cs typeface="Calibri" pitchFamily="34" charset="-120"/>
              </a:rPr>
              <a:t>STUDENTS</a:t>
            </a:r>
            <a:endParaRPr lang="en-US" sz="1200" dirty="0"/>
          </a:p>
        </p:txBody>
      </p:sp>
      <p:sp>
        <p:nvSpPr>
          <p:cNvPr id="7" name="Text 5"/>
          <p:cNvSpPr txBox="1"/>
          <p:nvPr/>
        </p:nvSpPr>
        <p:spPr>
          <a:xfrm>
            <a:off x="886968" y="2871216"/>
            <a:ext cx="5120640" cy="548640"/>
          </a:xfrm>
          <a:prstGeom prst="roundRect">
            <a:avLst>
              <a:gd name="adj" fmla="val 13333"/>
            </a:avLst>
          </a:prstGeom>
          <a:solidFill>
            <a:srgbClr val="EDF3E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States their circumstances once</a:t>
            </a:r>
            <a:endParaRPr lang="en-US" sz="1250" dirty="0"/>
          </a:p>
        </p:txBody>
      </p:sp>
      <p:sp>
        <p:nvSpPr>
          <p:cNvPr id="8" name="Shape 6"/>
          <p:cNvSpPr/>
          <p:nvPr/>
        </p:nvSpPr>
        <p:spPr>
          <a:xfrm>
            <a:off x="3346704" y="3438144"/>
            <a:ext cx="201168" cy="201168"/>
          </a:xfrm>
          <a:prstGeom prst="downArrow">
            <a:avLst/>
          </a:prstGeom>
          <a:solidFill>
            <a:srgbClr val="9DBFA8"/>
          </a:solidFill>
          <a:ln w="12700">
            <a:solidFill>
              <a:srgbClr val="9DBFA8"/>
            </a:solidFill>
            <a:prstDash val="solid"/>
          </a:ln>
        </p:spPr>
      </p:sp>
      <p:sp>
        <p:nvSpPr>
          <p:cNvPr id="9" name="Text 7"/>
          <p:cNvSpPr txBox="1"/>
          <p:nvPr/>
        </p:nvSpPr>
        <p:spPr>
          <a:xfrm>
            <a:off x="886968" y="3657600"/>
            <a:ext cx="5120640" cy="548640"/>
          </a:xfrm>
          <a:prstGeom prst="roundRect">
            <a:avLst>
              <a:gd name="adj" fmla="val 13333"/>
            </a:avLst>
          </a:prstGeom>
          <a:solidFill>
            <a:srgbClr val="FFFFF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Eligibility evaluated + weighted match</a:t>
            </a:r>
            <a:endParaRPr lang="en-US" sz="1250" dirty="0"/>
          </a:p>
        </p:txBody>
      </p:sp>
      <p:sp>
        <p:nvSpPr>
          <p:cNvPr id="10" name="Shape 8"/>
          <p:cNvSpPr/>
          <p:nvPr/>
        </p:nvSpPr>
        <p:spPr>
          <a:xfrm>
            <a:off x="3346704" y="4224528"/>
            <a:ext cx="201168" cy="201168"/>
          </a:xfrm>
          <a:prstGeom prst="downArrow">
            <a:avLst/>
          </a:prstGeom>
          <a:solidFill>
            <a:srgbClr val="9DBFA8"/>
          </a:solidFill>
          <a:ln w="12700">
            <a:solidFill>
              <a:srgbClr val="9DBFA8"/>
            </a:solidFill>
            <a:prstDash val="solid"/>
          </a:ln>
        </p:spPr>
      </p:sp>
      <p:sp>
        <p:nvSpPr>
          <p:cNvPr id="11" name="Text 9"/>
          <p:cNvSpPr txBox="1"/>
          <p:nvPr/>
        </p:nvSpPr>
        <p:spPr>
          <a:xfrm>
            <a:off x="886968" y="4443984"/>
            <a:ext cx="5120640" cy="548640"/>
          </a:xfrm>
          <a:prstGeom prst="roundRect">
            <a:avLst>
              <a:gd name="adj" fmla="val 13333"/>
            </a:avLst>
          </a:prstGeom>
          <a:solidFill>
            <a:srgbClr val="FFFFF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Ranked opportunities, with reasons</a:t>
            </a:r>
            <a:endParaRPr lang="en-US" sz="1250" dirty="0"/>
          </a:p>
        </p:txBody>
      </p:sp>
      <p:sp>
        <p:nvSpPr>
          <p:cNvPr id="12" name="Shape 10"/>
          <p:cNvSpPr/>
          <p:nvPr/>
        </p:nvSpPr>
        <p:spPr>
          <a:xfrm>
            <a:off x="3346704" y="5010912"/>
            <a:ext cx="201168" cy="201168"/>
          </a:xfrm>
          <a:prstGeom prst="downArrow">
            <a:avLst/>
          </a:prstGeom>
          <a:solidFill>
            <a:srgbClr val="9DBFA8"/>
          </a:solidFill>
          <a:ln w="12700">
            <a:solidFill>
              <a:srgbClr val="9DBFA8"/>
            </a:solidFill>
            <a:prstDash val="solid"/>
          </a:ln>
        </p:spPr>
      </p:sp>
      <p:sp>
        <p:nvSpPr>
          <p:cNvPr id="13" name="Text 11"/>
          <p:cNvSpPr txBox="1"/>
          <p:nvPr/>
        </p:nvSpPr>
        <p:spPr>
          <a:xfrm>
            <a:off x="886968" y="5230368"/>
            <a:ext cx="5120640" cy="548640"/>
          </a:xfrm>
          <a:prstGeom prst="roundRect">
            <a:avLst>
              <a:gd name="adj" fmla="val 13333"/>
            </a:avLst>
          </a:prstGeom>
          <a:solidFill>
            <a:srgbClr val="FFFFF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Applies using the profile already held</a:t>
            </a:r>
            <a:endParaRPr lang="en-US" sz="1250" dirty="0"/>
          </a:p>
        </p:txBody>
      </p:sp>
      <p:sp>
        <p:nvSpPr>
          <p:cNvPr id="14" name="Text 12"/>
          <p:cNvSpPr txBox="1"/>
          <p:nvPr/>
        </p:nvSpPr>
        <p:spPr>
          <a:xfrm>
            <a:off x="6153912" y="2487168"/>
            <a:ext cx="5120640" cy="274320"/>
          </a:xfrm>
          <a:prstGeom prst="rect">
            <a:avLst/>
          </a:prstGeom>
          <a:noFill/>
          <a:ln/>
        </p:spPr>
        <p:txBody>
          <a:bodyPr wrap="square" lIns="0" tIns="0" rIns="0" bIns="0" rtlCol="0" anchor="ctr"/>
          <a:lstStyle/>
          <a:p>
            <a:pPr algn="ctr" indent="0" marL="0">
              <a:buNone/>
            </a:pPr>
            <a:r>
              <a:rPr lang="en-US" sz="1200" b="1" spc="120" kern="0" dirty="0">
                <a:solidFill>
                  <a:srgbClr val="5E6B64"/>
                </a:solidFill>
                <a:latin typeface="Calibri" pitchFamily="34" charset="0"/>
                <a:ea typeface="Calibri" pitchFamily="34" charset="-122"/>
                <a:cs typeface="Calibri" pitchFamily="34" charset="-120"/>
              </a:rPr>
              <a:t>FUNDING ORGANISATIONS</a:t>
            </a:r>
            <a:endParaRPr lang="en-US" sz="1200" dirty="0"/>
          </a:p>
        </p:txBody>
      </p:sp>
      <p:sp>
        <p:nvSpPr>
          <p:cNvPr id="15" name="Text 13"/>
          <p:cNvSpPr txBox="1"/>
          <p:nvPr/>
        </p:nvSpPr>
        <p:spPr>
          <a:xfrm>
            <a:off x="6153912" y="2871216"/>
            <a:ext cx="5120640" cy="548640"/>
          </a:xfrm>
          <a:prstGeom prst="roundRect">
            <a:avLst>
              <a:gd name="adj" fmla="val 13333"/>
            </a:avLst>
          </a:prstGeom>
          <a:solidFill>
            <a:srgbClr val="EDF3E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Publishes a programme, criteria as fields</a:t>
            </a:r>
            <a:endParaRPr lang="en-US" sz="1250" dirty="0"/>
          </a:p>
        </p:txBody>
      </p:sp>
      <p:sp>
        <p:nvSpPr>
          <p:cNvPr id="16" name="Shape 14"/>
          <p:cNvSpPr/>
          <p:nvPr/>
        </p:nvSpPr>
        <p:spPr>
          <a:xfrm>
            <a:off x="8613648" y="3438144"/>
            <a:ext cx="201168" cy="201168"/>
          </a:xfrm>
          <a:prstGeom prst="downArrow">
            <a:avLst/>
          </a:prstGeom>
          <a:solidFill>
            <a:srgbClr val="9DBFA8"/>
          </a:solidFill>
          <a:ln w="12700">
            <a:solidFill>
              <a:srgbClr val="9DBFA8"/>
            </a:solidFill>
            <a:prstDash val="solid"/>
          </a:ln>
        </p:spPr>
      </p:sp>
      <p:sp>
        <p:nvSpPr>
          <p:cNvPr id="17" name="Text 15"/>
          <p:cNvSpPr txBox="1"/>
          <p:nvPr/>
        </p:nvSpPr>
        <p:spPr>
          <a:xfrm>
            <a:off x="6153912" y="3657600"/>
            <a:ext cx="5120640" cy="548640"/>
          </a:xfrm>
          <a:prstGeom prst="roundRect">
            <a:avLst>
              <a:gd name="adj" fmla="val 13333"/>
            </a:avLst>
          </a:prstGeom>
          <a:solidFill>
            <a:srgbClr val="FFFFF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Applications arrive as records</a:t>
            </a:r>
            <a:endParaRPr lang="en-US" sz="1250" dirty="0"/>
          </a:p>
        </p:txBody>
      </p:sp>
      <p:sp>
        <p:nvSpPr>
          <p:cNvPr id="18" name="Shape 16"/>
          <p:cNvSpPr/>
          <p:nvPr/>
        </p:nvSpPr>
        <p:spPr>
          <a:xfrm>
            <a:off x="8613648" y="4224528"/>
            <a:ext cx="201168" cy="201168"/>
          </a:xfrm>
          <a:prstGeom prst="downArrow">
            <a:avLst/>
          </a:prstGeom>
          <a:solidFill>
            <a:srgbClr val="9DBFA8"/>
          </a:solidFill>
          <a:ln w="12700">
            <a:solidFill>
              <a:srgbClr val="9DBFA8"/>
            </a:solidFill>
            <a:prstDash val="solid"/>
          </a:ln>
        </p:spPr>
      </p:sp>
      <p:sp>
        <p:nvSpPr>
          <p:cNvPr id="19" name="Text 17"/>
          <p:cNvSpPr txBox="1"/>
          <p:nvPr/>
        </p:nvSpPr>
        <p:spPr>
          <a:xfrm>
            <a:off x="6153912" y="4443984"/>
            <a:ext cx="5120640" cy="548640"/>
          </a:xfrm>
          <a:prstGeom prst="roundRect">
            <a:avLst>
              <a:gd name="adj" fmla="val 13333"/>
            </a:avLst>
          </a:prstGeom>
          <a:solidFill>
            <a:srgbClr val="FFFFF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Reviews against its own criteria</a:t>
            </a:r>
            <a:endParaRPr lang="en-US" sz="1250" dirty="0"/>
          </a:p>
        </p:txBody>
      </p:sp>
      <p:sp>
        <p:nvSpPr>
          <p:cNvPr id="20" name="Shape 18"/>
          <p:cNvSpPr/>
          <p:nvPr/>
        </p:nvSpPr>
        <p:spPr>
          <a:xfrm>
            <a:off x="8613648" y="5010912"/>
            <a:ext cx="201168" cy="201168"/>
          </a:xfrm>
          <a:prstGeom prst="downArrow">
            <a:avLst/>
          </a:prstGeom>
          <a:solidFill>
            <a:srgbClr val="9DBFA8"/>
          </a:solidFill>
          <a:ln w="12700">
            <a:solidFill>
              <a:srgbClr val="9DBFA8"/>
            </a:solidFill>
            <a:prstDash val="solid"/>
          </a:ln>
        </p:spPr>
      </p:sp>
      <p:sp>
        <p:nvSpPr>
          <p:cNvPr id="21" name="Text 19"/>
          <p:cNvSpPr txBox="1"/>
          <p:nvPr/>
        </p:nvSpPr>
        <p:spPr>
          <a:xfrm>
            <a:off x="6153912" y="5230368"/>
            <a:ext cx="5120640" cy="548640"/>
          </a:xfrm>
          <a:prstGeom prst="roundRect">
            <a:avLst>
              <a:gd name="adj" fmla="val 13333"/>
            </a:avLst>
          </a:prstGeom>
          <a:solidFill>
            <a:srgbClr val="FFFFFF"/>
          </a:solidFill>
          <a:ln w="12700">
            <a:solidFill>
              <a:srgbClr val="9DBFA8"/>
            </a:solidFill>
          </a:ln>
        </p:spPr>
        <p:txBody>
          <a:bodyPr wrap="square" lIns="508" tIns="508" rIns="508" bIns="508" rtlCol="0" anchor="ctr"/>
          <a:lstStyle/>
          <a:p>
            <a:pPr algn="ctr" indent="0" marL="0">
              <a:buNone/>
            </a:pPr>
            <a:r>
              <a:rPr lang="en-US" sz="1250" b="1" dirty="0">
                <a:solidFill>
                  <a:srgbClr val="0F5132"/>
                </a:solidFill>
                <a:latin typeface="Calibri" pitchFamily="34" charset="0"/>
                <a:ea typeface="Calibri" pitchFamily="34" charset="-122"/>
                <a:cs typeface="Calibri" pitchFamily="34" charset="-120"/>
              </a:rPr>
              <a:t>Shortlists, selects, with an audit record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System Architecture</a:t>
            </a:r>
            <a:endParaRPr lang="en-US" sz="3100" dirty="0"/>
          </a:p>
        </p:txBody>
      </p:sp>
      <p:sp>
        <p:nvSpPr>
          <p:cNvPr id="3" name="Text 1"/>
          <p:cNvSpPr txBox="1"/>
          <p:nvPr/>
        </p:nvSpPr>
        <p:spPr>
          <a:xfrm>
            <a:off x="566928" y="987552"/>
            <a:ext cx="11027664" cy="292608"/>
          </a:xfrm>
          <a:prstGeom prst="rect">
            <a:avLst/>
          </a:prstGeom>
          <a:noFill/>
          <a:ln/>
        </p:spPr>
        <p:txBody>
          <a:bodyPr wrap="square" lIns="0" tIns="0" rIns="0" bIns="0" rtlCol="0" anchor="ctr"/>
          <a:lstStyle/>
          <a:p>
            <a:pPr indent="0" marL="0">
              <a:buNone/>
            </a:pPr>
            <a:r>
              <a:rPr lang="en-US" sz="1250" spc="60" kern="0" dirty="0">
                <a:solidFill>
                  <a:srgbClr val="5E6B64"/>
                </a:solidFill>
                <a:latin typeface="Calibri" pitchFamily="34" charset="0"/>
                <a:ea typeface="Calibri" pitchFamily="34" charset="-122"/>
                <a:cs typeface="Calibri" pitchFamily="34" charset="-120"/>
              </a:rPr>
              <a:t>A layered web application; the domain rules hold no database access</a:t>
            </a:r>
            <a:endParaRPr lang="en-US" sz="1250" dirty="0"/>
          </a:p>
        </p:txBody>
      </p:sp>
      <p:sp>
        <p:nvSpPr>
          <p:cNvPr id="4" name="Shape 2"/>
          <p:cNvSpPr/>
          <p:nvPr/>
        </p:nvSpPr>
        <p:spPr>
          <a:xfrm>
            <a:off x="566928" y="1572768"/>
            <a:ext cx="6858000" cy="841248"/>
          </a:xfrm>
          <a:prstGeom prst="roundRect">
            <a:avLst>
              <a:gd name="adj" fmla="val 8696"/>
            </a:avLst>
          </a:prstGeom>
          <a:solidFill>
            <a:srgbClr val="EDF3EF"/>
          </a:solidFill>
          <a:ln w="12700">
            <a:solidFill>
              <a:srgbClr val="EDF3EF"/>
            </a:solidFill>
            <a:prstDash val="solid"/>
          </a:ln>
        </p:spPr>
      </p:sp>
      <p:sp>
        <p:nvSpPr>
          <p:cNvPr id="5" name="Text 3"/>
          <p:cNvSpPr txBox="1"/>
          <p:nvPr/>
        </p:nvSpPr>
        <p:spPr>
          <a:xfrm>
            <a:off x="822960" y="1691640"/>
            <a:ext cx="6345936" cy="274320"/>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Presentation</a:t>
            </a:r>
            <a:endParaRPr lang="en-US" sz="1450" dirty="0"/>
          </a:p>
        </p:txBody>
      </p:sp>
      <p:sp>
        <p:nvSpPr>
          <p:cNvPr id="6" name="Text 4"/>
          <p:cNvSpPr txBox="1"/>
          <p:nvPr/>
        </p:nvSpPr>
        <p:spPr>
          <a:xfrm>
            <a:off x="822960" y="1975104"/>
            <a:ext cx="6345936" cy="310896"/>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Next.js  ·  React  ·  TypeScript  ·  Tailwind CSS</a:t>
            </a:r>
            <a:endParaRPr lang="en-US" sz="1150" dirty="0"/>
          </a:p>
        </p:txBody>
      </p:sp>
      <p:sp>
        <p:nvSpPr>
          <p:cNvPr id="7" name="Shape 5"/>
          <p:cNvSpPr/>
          <p:nvPr/>
        </p:nvSpPr>
        <p:spPr>
          <a:xfrm>
            <a:off x="3895344" y="2441448"/>
            <a:ext cx="201168" cy="201168"/>
          </a:xfrm>
          <a:prstGeom prst="downArrow">
            <a:avLst/>
          </a:prstGeom>
          <a:solidFill>
            <a:srgbClr val="9DBFA8"/>
          </a:solidFill>
          <a:ln w="12700">
            <a:solidFill>
              <a:srgbClr val="9DBFA8"/>
            </a:solidFill>
            <a:prstDash val="solid"/>
          </a:ln>
        </p:spPr>
      </p:sp>
      <p:sp>
        <p:nvSpPr>
          <p:cNvPr id="8" name="Shape 6"/>
          <p:cNvSpPr/>
          <p:nvPr/>
        </p:nvSpPr>
        <p:spPr>
          <a:xfrm>
            <a:off x="566928" y="2651760"/>
            <a:ext cx="6858000" cy="841248"/>
          </a:xfrm>
          <a:prstGeom prst="roundRect">
            <a:avLst>
              <a:gd name="adj" fmla="val 8696"/>
            </a:avLst>
          </a:prstGeom>
          <a:solidFill>
            <a:srgbClr val="EDF3EF"/>
          </a:solidFill>
          <a:ln w="12700">
            <a:solidFill>
              <a:srgbClr val="EDF3EF"/>
            </a:solidFill>
            <a:prstDash val="solid"/>
          </a:ln>
        </p:spPr>
      </p:sp>
      <p:sp>
        <p:nvSpPr>
          <p:cNvPr id="9" name="Text 7"/>
          <p:cNvSpPr txBox="1"/>
          <p:nvPr/>
        </p:nvSpPr>
        <p:spPr>
          <a:xfrm>
            <a:off x="822960" y="2770632"/>
            <a:ext cx="6345936" cy="274320"/>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Service layer</a:t>
            </a:r>
            <a:endParaRPr lang="en-US" sz="1450" dirty="0"/>
          </a:p>
        </p:txBody>
      </p:sp>
      <p:sp>
        <p:nvSpPr>
          <p:cNvPr id="10" name="Text 8"/>
          <p:cNvSpPr txBox="1"/>
          <p:nvPr/>
        </p:nvSpPr>
        <p:spPr>
          <a:xfrm>
            <a:off x="822960" y="3054096"/>
            <a:ext cx="6345936" cy="310896"/>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Read and write logic; authorisation guards scope every query</a:t>
            </a:r>
            <a:endParaRPr lang="en-US" sz="1150" dirty="0"/>
          </a:p>
        </p:txBody>
      </p:sp>
      <p:sp>
        <p:nvSpPr>
          <p:cNvPr id="11" name="Shape 9"/>
          <p:cNvSpPr/>
          <p:nvPr/>
        </p:nvSpPr>
        <p:spPr>
          <a:xfrm>
            <a:off x="3895344" y="3520440"/>
            <a:ext cx="201168" cy="201168"/>
          </a:xfrm>
          <a:prstGeom prst="downArrow">
            <a:avLst/>
          </a:prstGeom>
          <a:solidFill>
            <a:srgbClr val="9DBFA8"/>
          </a:solidFill>
          <a:ln w="12700">
            <a:solidFill>
              <a:srgbClr val="9DBFA8"/>
            </a:solidFill>
            <a:prstDash val="solid"/>
          </a:ln>
        </p:spPr>
      </p:sp>
      <p:sp>
        <p:nvSpPr>
          <p:cNvPr id="12" name="Shape 10"/>
          <p:cNvSpPr/>
          <p:nvPr/>
        </p:nvSpPr>
        <p:spPr>
          <a:xfrm>
            <a:off x="566928" y="3730752"/>
            <a:ext cx="6858000" cy="841248"/>
          </a:xfrm>
          <a:prstGeom prst="roundRect">
            <a:avLst>
              <a:gd name="adj" fmla="val 8696"/>
            </a:avLst>
          </a:prstGeom>
          <a:solidFill>
            <a:srgbClr val="0F5132"/>
          </a:solidFill>
          <a:ln w="12700">
            <a:solidFill>
              <a:srgbClr val="0F5132"/>
            </a:solidFill>
            <a:prstDash val="solid"/>
          </a:ln>
        </p:spPr>
      </p:sp>
      <p:sp>
        <p:nvSpPr>
          <p:cNvPr id="13" name="Text 11"/>
          <p:cNvSpPr txBox="1"/>
          <p:nvPr/>
        </p:nvSpPr>
        <p:spPr>
          <a:xfrm>
            <a:off x="822960" y="3849624"/>
            <a:ext cx="6345936"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Domain modules</a:t>
            </a:r>
            <a:endParaRPr lang="en-US" sz="1450" dirty="0"/>
          </a:p>
        </p:txBody>
      </p:sp>
      <p:sp>
        <p:nvSpPr>
          <p:cNvPr id="14" name="Text 12"/>
          <p:cNvSpPr txBox="1"/>
          <p:nvPr/>
        </p:nvSpPr>
        <p:spPr>
          <a:xfrm>
            <a:off x="822960" y="4133088"/>
            <a:ext cx="6345936" cy="310896"/>
          </a:xfrm>
          <a:prstGeom prst="rect">
            <a:avLst/>
          </a:prstGeom>
          <a:noFill/>
          <a:ln/>
        </p:spPr>
        <p:txBody>
          <a:bodyPr wrap="square" lIns="0" tIns="0" rIns="0" bIns="0" rtlCol="0" anchor="ctr"/>
          <a:lstStyle/>
          <a:p>
            <a:pPr indent="0" marL="0">
              <a:buNone/>
            </a:pPr>
            <a:r>
              <a:rPr lang="en-US" sz="1150" dirty="0">
                <a:solidFill>
                  <a:srgbClr val="9DBFA8"/>
                </a:solidFill>
                <a:latin typeface="Calibri" pitchFamily="34" charset="0"/>
                <a:ea typeface="Calibri" pitchFamily="34" charset="-122"/>
                <a:cs typeface="Calibri" pitchFamily="34" charset="-120"/>
              </a:rPr>
              <a:t>Matching  ·  Eligibility  —  pure, no database access, directly testable</a:t>
            </a:r>
            <a:endParaRPr lang="en-US" sz="1150" dirty="0"/>
          </a:p>
        </p:txBody>
      </p:sp>
      <p:sp>
        <p:nvSpPr>
          <p:cNvPr id="15" name="Shape 13"/>
          <p:cNvSpPr/>
          <p:nvPr/>
        </p:nvSpPr>
        <p:spPr>
          <a:xfrm>
            <a:off x="3895344" y="4599432"/>
            <a:ext cx="201168" cy="201168"/>
          </a:xfrm>
          <a:prstGeom prst="downArrow">
            <a:avLst/>
          </a:prstGeom>
          <a:solidFill>
            <a:srgbClr val="9DBFA8"/>
          </a:solidFill>
          <a:ln w="12700">
            <a:solidFill>
              <a:srgbClr val="9DBFA8"/>
            </a:solidFill>
            <a:prstDash val="solid"/>
          </a:ln>
        </p:spPr>
      </p:sp>
      <p:sp>
        <p:nvSpPr>
          <p:cNvPr id="16" name="Shape 14"/>
          <p:cNvSpPr/>
          <p:nvPr/>
        </p:nvSpPr>
        <p:spPr>
          <a:xfrm>
            <a:off x="566928" y="4809744"/>
            <a:ext cx="6858000" cy="841248"/>
          </a:xfrm>
          <a:prstGeom prst="roundRect">
            <a:avLst>
              <a:gd name="adj" fmla="val 8696"/>
            </a:avLst>
          </a:prstGeom>
          <a:solidFill>
            <a:srgbClr val="EDF3EF"/>
          </a:solidFill>
          <a:ln w="12700">
            <a:solidFill>
              <a:srgbClr val="EDF3EF"/>
            </a:solidFill>
            <a:prstDash val="solid"/>
          </a:ln>
        </p:spPr>
      </p:sp>
      <p:sp>
        <p:nvSpPr>
          <p:cNvPr id="17" name="Text 15"/>
          <p:cNvSpPr txBox="1"/>
          <p:nvPr/>
        </p:nvSpPr>
        <p:spPr>
          <a:xfrm>
            <a:off x="822960" y="4928616"/>
            <a:ext cx="6345936" cy="274320"/>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Data</a:t>
            </a:r>
            <a:endParaRPr lang="en-US" sz="1450" dirty="0"/>
          </a:p>
        </p:txBody>
      </p:sp>
      <p:sp>
        <p:nvSpPr>
          <p:cNvPr id="18" name="Text 16"/>
          <p:cNvSpPr txBox="1"/>
          <p:nvPr/>
        </p:nvSpPr>
        <p:spPr>
          <a:xfrm>
            <a:off x="822960" y="5212080"/>
            <a:ext cx="6345936" cy="310896"/>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PostgreSQL  ·  Prisma</a:t>
            </a:r>
            <a:endParaRPr lang="en-US" sz="1150" dirty="0"/>
          </a:p>
        </p:txBody>
      </p:sp>
      <p:sp>
        <p:nvSpPr>
          <p:cNvPr id="19" name="Shape 17"/>
          <p:cNvSpPr/>
          <p:nvPr/>
        </p:nvSpPr>
        <p:spPr>
          <a:xfrm>
            <a:off x="7882128" y="1572768"/>
            <a:ext cx="3712464" cy="1298448"/>
          </a:xfrm>
          <a:prstGeom prst="roundRect">
            <a:avLst>
              <a:gd name="adj" fmla="val 6338"/>
            </a:avLst>
          </a:prstGeom>
          <a:solidFill>
            <a:srgbClr val="EDF3EF"/>
          </a:solidFill>
          <a:ln w="12700">
            <a:solidFill>
              <a:srgbClr val="EDF3EF"/>
            </a:solidFill>
            <a:prstDash val="solid"/>
          </a:ln>
        </p:spPr>
      </p:sp>
      <p:sp>
        <p:nvSpPr>
          <p:cNvPr id="20" name="Text 18"/>
          <p:cNvSpPr txBox="1"/>
          <p:nvPr/>
        </p:nvSpPr>
        <p:spPr>
          <a:xfrm>
            <a:off x="8119872" y="1737360"/>
            <a:ext cx="3236976"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Document processing</a:t>
            </a:r>
            <a:endParaRPr lang="en-US" sz="1450" dirty="0"/>
          </a:p>
        </p:txBody>
      </p:sp>
      <p:sp>
        <p:nvSpPr>
          <p:cNvPr id="21" name="Text 19"/>
          <p:cNvSpPr txBox="1"/>
          <p:nvPr/>
        </p:nvSpPr>
        <p:spPr>
          <a:xfrm>
            <a:off x="8119872" y="2103120"/>
            <a:ext cx="3236976" cy="60350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pdf-lib · pdfjs-dist</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JSZip · Cheerio</a:t>
            </a:r>
            <a:endParaRPr lang="en-US" sz="1250" dirty="0"/>
          </a:p>
        </p:txBody>
      </p:sp>
      <p:sp>
        <p:nvSpPr>
          <p:cNvPr id="22" name="Shape 20"/>
          <p:cNvSpPr/>
          <p:nvPr/>
        </p:nvSpPr>
        <p:spPr>
          <a:xfrm>
            <a:off x="7882128" y="3017520"/>
            <a:ext cx="3712464" cy="1298448"/>
          </a:xfrm>
          <a:prstGeom prst="roundRect">
            <a:avLst>
              <a:gd name="adj" fmla="val 6338"/>
            </a:avLst>
          </a:prstGeom>
          <a:solidFill>
            <a:srgbClr val="EDF3EF"/>
          </a:solidFill>
          <a:ln w="12700">
            <a:solidFill>
              <a:srgbClr val="EDF3EF"/>
            </a:solidFill>
            <a:prstDash val="solid"/>
          </a:ln>
        </p:spPr>
      </p:sp>
      <p:sp>
        <p:nvSpPr>
          <p:cNvPr id="23" name="Text 21"/>
          <p:cNvSpPr txBox="1"/>
          <p:nvPr/>
        </p:nvSpPr>
        <p:spPr>
          <a:xfrm>
            <a:off x="8119872" y="3182112"/>
            <a:ext cx="3236976"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Validation and security</a:t>
            </a:r>
            <a:endParaRPr lang="en-US" sz="1450" dirty="0"/>
          </a:p>
        </p:txBody>
      </p:sp>
      <p:sp>
        <p:nvSpPr>
          <p:cNvPr id="24" name="Text 22"/>
          <p:cNvSpPr txBox="1"/>
          <p:nvPr/>
        </p:nvSpPr>
        <p:spPr>
          <a:xfrm>
            <a:off x="8119872" y="3547872"/>
            <a:ext cx="3236976" cy="60350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Zod — typed input validation</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bcryptjs — password hashing</a:t>
            </a:r>
            <a:endParaRPr lang="en-US" sz="1250" dirty="0"/>
          </a:p>
        </p:txBody>
      </p:sp>
      <p:sp>
        <p:nvSpPr>
          <p:cNvPr id="25" name="Shape 23"/>
          <p:cNvSpPr/>
          <p:nvPr/>
        </p:nvSpPr>
        <p:spPr>
          <a:xfrm>
            <a:off x="7882128" y="4462272"/>
            <a:ext cx="3712464" cy="1188720"/>
          </a:xfrm>
          <a:prstGeom prst="roundRect">
            <a:avLst>
              <a:gd name="adj" fmla="val 6923"/>
            </a:avLst>
          </a:prstGeom>
          <a:solidFill>
            <a:srgbClr val="EDF3EF"/>
          </a:solidFill>
          <a:ln w="12700">
            <a:solidFill>
              <a:srgbClr val="EDF3EF"/>
            </a:solidFill>
            <a:prstDash val="solid"/>
          </a:ln>
        </p:spPr>
      </p:sp>
      <p:sp>
        <p:nvSpPr>
          <p:cNvPr id="26" name="Text 24"/>
          <p:cNvSpPr txBox="1"/>
          <p:nvPr/>
        </p:nvSpPr>
        <p:spPr>
          <a:xfrm>
            <a:off x="8119872" y="4626864"/>
            <a:ext cx="3236976"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Testing</a:t>
            </a:r>
            <a:endParaRPr lang="en-US" sz="1450" dirty="0"/>
          </a:p>
        </p:txBody>
      </p:sp>
      <p:sp>
        <p:nvSpPr>
          <p:cNvPr id="27" name="Text 25"/>
          <p:cNvSpPr txBox="1"/>
          <p:nvPr/>
        </p:nvSpPr>
        <p:spPr>
          <a:xfrm>
            <a:off x="8119872" y="4992624"/>
            <a:ext cx="3236976" cy="49377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Playwright · Git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Key System Functionality</a:t>
            </a:r>
            <a:endParaRPr lang="en-US" sz="3100" dirty="0"/>
          </a:p>
        </p:txBody>
      </p:sp>
      <p:sp>
        <p:nvSpPr>
          <p:cNvPr id="3" name="Text 1"/>
          <p:cNvSpPr txBox="1"/>
          <p:nvPr/>
        </p:nvSpPr>
        <p:spPr>
          <a:xfrm>
            <a:off x="566928" y="987552"/>
            <a:ext cx="11027664" cy="292608"/>
          </a:xfrm>
          <a:prstGeom prst="rect">
            <a:avLst/>
          </a:prstGeom>
          <a:noFill/>
          <a:ln/>
        </p:spPr>
        <p:txBody>
          <a:bodyPr wrap="square" lIns="0" tIns="0" rIns="0" bIns="0" rtlCol="0" anchor="ctr"/>
          <a:lstStyle/>
          <a:p>
            <a:pPr indent="0" marL="0">
              <a:buNone/>
            </a:pPr>
            <a:r>
              <a:rPr lang="en-US" sz="1250" spc="60" kern="0" dirty="0">
                <a:solidFill>
                  <a:srgbClr val="5E6B64"/>
                </a:solidFill>
                <a:latin typeface="Calibri" pitchFamily="34" charset="0"/>
                <a:ea typeface="Calibri" pitchFamily="34" charset="-122"/>
                <a:cs typeface="Calibri" pitchFamily="34" charset="-120"/>
              </a:rPr>
              <a:t>Both sides of the transaction, in one system</a:t>
            </a:r>
            <a:endParaRPr lang="en-US" sz="1250" dirty="0"/>
          </a:p>
        </p:txBody>
      </p:sp>
      <p:sp>
        <p:nvSpPr>
          <p:cNvPr id="4" name="Text 2"/>
          <p:cNvSpPr txBox="1"/>
          <p:nvPr/>
        </p:nvSpPr>
        <p:spPr>
          <a:xfrm>
            <a:off x="566928" y="1517904"/>
            <a:ext cx="5513832" cy="292608"/>
          </a:xfrm>
          <a:prstGeom prst="rect">
            <a:avLst/>
          </a:prstGeom>
          <a:noFill/>
          <a:ln/>
        </p:spPr>
        <p:txBody>
          <a:bodyPr wrap="square" lIns="0" tIns="0" rIns="0" bIns="0" rtlCol="0" anchor="ctr"/>
          <a:lstStyle/>
          <a:p>
            <a:pPr indent="0" marL="0">
              <a:buNone/>
            </a:pPr>
            <a:r>
              <a:rPr lang="en-US" sz="1200" b="1" spc="120" kern="0" dirty="0">
                <a:solidFill>
                  <a:srgbClr val="5E6B64"/>
                </a:solidFill>
                <a:latin typeface="Calibri" pitchFamily="34" charset="0"/>
                <a:ea typeface="Calibri" pitchFamily="34" charset="-122"/>
                <a:cs typeface="Calibri" pitchFamily="34" charset="-120"/>
              </a:rPr>
              <a:t>STUDENT SIDE</a:t>
            </a:r>
            <a:endParaRPr lang="en-US" sz="1200" dirty="0"/>
          </a:p>
        </p:txBody>
      </p:sp>
      <p:sp>
        <p:nvSpPr>
          <p:cNvPr id="5" name="Text 3"/>
          <p:cNvSpPr txBox="1"/>
          <p:nvPr/>
        </p:nvSpPr>
        <p:spPr>
          <a:xfrm>
            <a:off x="566928" y="1956816"/>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69264" y="1938528"/>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Account and profile</a:t>
            </a:r>
            <a:endParaRPr lang="en-US" sz="1300" dirty="0"/>
          </a:p>
        </p:txBody>
      </p:sp>
      <p:sp>
        <p:nvSpPr>
          <p:cNvPr id="7" name="Text 5"/>
          <p:cNvSpPr txBox="1"/>
          <p:nvPr/>
        </p:nvSpPr>
        <p:spPr>
          <a:xfrm>
            <a:off x="969264" y="2194560"/>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Identity, academic record, subject results, household circumstances</a:t>
            </a:r>
            <a:endParaRPr lang="en-US" sz="1150" dirty="0"/>
          </a:p>
        </p:txBody>
      </p:sp>
      <p:sp>
        <p:nvSpPr>
          <p:cNvPr id="8" name="Text 6"/>
          <p:cNvSpPr txBox="1"/>
          <p:nvPr/>
        </p:nvSpPr>
        <p:spPr>
          <a:xfrm>
            <a:off x="566928" y="2715768"/>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969264" y="2697480"/>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Opportunity directory</a:t>
            </a:r>
            <a:endParaRPr lang="en-US" sz="1300" dirty="0"/>
          </a:p>
        </p:txBody>
      </p:sp>
      <p:sp>
        <p:nvSpPr>
          <p:cNvPr id="10" name="Text 8"/>
          <p:cNvSpPr txBox="1"/>
          <p:nvPr/>
        </p:nvSpPr>
        <p:spPr>
          <a:xfrm>
            <a:off x="969264" y="2953512"/>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Every opportunity held, each showing its source page</a:t>
            </a:r>
            <a:endParaRPr lang="en-US" sz="1150" dirty="0"/>
          </a:p>
        </p:txBody>
      </p:sp>
      <p:sp>
        <p:nvSpPr>
          <p:cNvPr id="11" name="Text 9"/>
          <p:cNvSpPr txBox="1"/>
          <p:nvPr/>
        </p:nvSpPr>
        <p:spPr>
          <a:xfrm>
            <a:off x="566928" y="3474720"/>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969264" y="3456432"/>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Matching and eligibility</a:t>
            </a:r>
            <a:endParaRPr lang="en-US" sz="1300" dirty="0"/>
          </a:p>
        </p:txBody>
      </p:sp>
      <p:sp>
        <p:nvSpPr>
          <p:cNvPr id="13" name="Text 11"/>
          <p:cNvSpPr txBox="1"/>
          <p:nvPr/>
        </p:nvSpPr>
        <p:spPr>
          <a:xfrm>
            <a:off x="969264" y="3712464"/>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Ranked results with the reason behind every score</a:t>
            </a:r>
            <a:endParaRPr lang="en-US" sz="1150" dirty="0"/>
          </a:p>
        </p:txBody>
      </p:sp>
      <p:sp>
        <p:nvSpPr>
          <p:cNvPr id="14" name="Text 12"/>
          <p:cNvSpPr txBox="1"/>
          <p:nvPr/>
        </p:nvSpPr>
        <p:spPr>
          <a:xfrm>
            <a:off x="566928" y="4233672"/>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969264" y="4215384"/>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Application workflow</a:t>
            </a:r>
            <a:endParaRPr lang="en-US" sz="1300" dirty="0"/>
          </a:p>
        </p:txBody>
      </p:sp>
      <p:sp>
        <p:nvSpPr>
          <p:cNvPr id="16" name="Text 14"/>
          <p:cNvSpPr txBox="1"/>
          <p:nvPr/>
        </p:nvSpPr>
        <p:spPr>
          <a:xfrm>
            <a:off x="969264" y="4471416"/>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Apply from the stored profile; attach documents once; track status</a:t>
            </a:r>
            <a:endParaRPr lang="en-US" sz="1150" dirty="0"/>
          </a:p>
        </p:txBody>
      </p:sp>
      <p:sp>
        <p:nvSpPr>
          <p:cNvPr id="17" name="Text 15"/>
          <p:cNvSpPr txBox="1"/>
          <p:nvPr/>
        </p:nvSpPr>
        <p:spPr>
          <a:xfrm>
            <a:off x="566928" y="4992624"/>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969264" y="4974336"/>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Assisted PDF completion</a:t>
            </a:r>
            <a:endParaRPr lang="en-US" sz="1300" dirty="0"/>
          </a:p>
        </p:txBody>
      </p:sp>
      <p:sp>
        <p:nvSpPr>
          <p:cNvPr id="19" name="Text 17"/>
          <p:cNvSpPr txBox="1"/>
          <p:nvPr/>
        </p:nvSpPr>
        <p:spPr>
          <a:xfrm>
            <a:off x="969264" y="5230368"/>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Forms filled from the profile, with a confidence level per field</a:t>
            </a:r>
            <a:endParaRPr lang="en-US" sz="1150" dirty="0"/>
          </a:p>
        </p:txBody>
      </p:sp>
      <p:sp>
        <p:nvSpPr>
          <p:cNvPr id="20" name="Text 18"/>
          <p:cNvSpPr txBox="1"/>
          <p:nvPr/>
        </p:nvSpPr>
        <p:spPr>
          <a:xfrm>
            <a:off x="566928" y="5751576"/>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txBox="1"/>
          <p:nvPr/>
        </p:nvSpPr>
        <p:spPr>
          <a:xfrm>
            <a:off x="969264" y="5733288"/>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Motivational letter composer</a:t>
            </a:r>
            <a:endParaRPr lang="en-US" sz="1300" dirty="0"/>
          </a:p>
        </p:txBody>
      </p:sp>
      <p:sp>
        <p:nvSpPr>
          <p:cNvPr id="22" name="Text 20"/>
          <p:cNvSpPr txBox="1"/>
          <p:nvPr/>
        </p:nvSpPr>
        <p:spPr>
          <a:xfrm>
            <a:off x="969264" y="5989320"/>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Assembled from stated facts — no text is generated for the student</a:t>
            </a:r>
            <a:endParaRPr lang="en-US" sz="1150" dirty="0"/>
          </a:p>
        </p:txBody>
      </p:sp>
      <p:sp>
        <p:nvSpPr>
          <p:cNvPr id="23" name="Text 21"/>
          <p:cNvSpPr txBox="1"/>
          <p:nvPr/>
        </p:nvSpPr>
        <p:spPr>
          <a:xfrm>
            <a:off x="6446520" y="1517904"/>
            <a:ext cx="5513832" cy="292608"/>
          </a:xfrm>
          <a:prstGeom prst="rect">
            <a:avLst/>
          </a:prstGeom>
          <a:noFill/>
          <a:ln/>
        </p:spPr>
        <p:txBody>
          <a:bodyPr wrap="square" lIns="0" tIns="0" rIns="0" bIns="0" rtlCol="0" anchor="ctr"/>
          <a:lstStyle/>
          <a:p>
            <a:pPr indent="0" marL="0">
              <a:buNone/>
            </a:pPr>
            <a:r>
              <a:rPr lang="en-US" sz="1200" b="1" spc="120" kern="0" dirty="0">
                <a:solidFill>
                  <a:srgbClr val="5E6B64"/>
                </a:solidFill>
                <a:latin typeface="Calibri" pitchFamily="34" charset="0"/>
                <a:ea typeface="Calibri" pitchFamily="34" charset="-122"/>
                <a:cs typeface="Calibri" pitchFamily="34" charset="-120"/>
              </a:rPr>
              <a:t>FUNDING ORGANISATION SIDE</a:t>
            </a:r>
            <a:endParaRPr lang="en-US" sz="1200" dirty="0"/>
          </a:p>
        </p:txBody>
      </p:sp>
      <p:sp>
        <p:nvSpPr>
          <p:cNvPr id="24" name="Text 22"/>
          <p:cNvSpPr txBox="1"/>
          <p:nvPr/>
        </p:nvSpPr>
        <p:spPr>
          <a:xfrm>
            <a:off x="6446520" y="1956816"/>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5" name="Text 23"/>
          <p:cNvSpPr txBox="1"/>
          <p:nvPr/>
        </p:nvSpPr>
        <p:spPr>
          <a:xfrm>
            <a:off x="6848856" y="1938528"/>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Organisation account</a:t>
            </a:r>
            <a:endParaRPr lang="en-US" sz="1300" dirty="0"/>
          </a:p>
        </p:txBody>
      </p:sp>
      <p:sp>
        <p:nvSpPr>
          <p:cNvPr id="26" name="Text 24"/>
          <p:cNvSpPr txBox="1"/>
          <p:nvPr/>
        </p:nvSpPr>
        <p:spPr>
          <a:xfrm>
            <a:off x="6848856" y="2194560"/>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Registration and organisation profile</a:t>
            </a:r>
            <a:endParaRPr lang="en-US" sz="1150" dirty="0"/>
          </a:p>
        </p:txBody>
      </p:sp>
      <p:sp>
        <p:nvSpPr>
          <p:cNvPr id="27" name="Text 25"/>
          <p:cNvSpPr txBox="1"/>
          <p:nvPr/>
        </p:nvSpPr>
        <p:spPr>
          <a:xfrm>
            <a:off x="6446520" y="2715768"/>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Text 26"/>
          <p:cNvSpPr txBox="1"/>
          <p:nvPr/>
        </p:nvSpPr>
        <p:spPr>
          <a:xfrm>
            <a:off x="6848856" y="2697480"/>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Programme publication</a:t>
            </a:r>
            <a:endParaRPr lang="en-US" sz="1300" dirty="0"/>
          </a:p>
        </p:txBody>
      </p:sp>
      <p:sp>
        <p:nvSpPr>
          <p:cNvPr id="29" name="Text 27"/>
          <p:cNvSpPr txBox="1"/>
          <p:nvPr/>
        </p:nvSpPr>
        <p:spPr>
          <a:xfrm>
            <a:off x="6848856" y="2953512"/>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Eligibility criteria entered as structured fields, not prose</a:t>
            </a:r>
            <a:endParaRPr lang="en-US" sz="1150" dirty="0"/>
          </a:p>
        </p:txBody>
      </p:sp>
      <p:sp>
        <p:nvSpPr>
          <p:cNvPr id="30" name="Text 28"/>
          <p:cNvSpPr txBox="1"/>
          <p:nvPr/>
        </p:nvSpPr>
        <p:spPr>
          <a:xfrm>
            <a:off x="6446520" y="3474720"/>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1" name="Text 29"/>
          <p:cNvSpPr txBox="1"/>
          <p:nvPr/>
        </p:nvSpPr>
        <p:spPr>
          <a:xfrm>
            <a:off x="6848856" y="3456432"/>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Applicant review</a:t>
            </a:r>
            <a:endParaRPr lang="en-US" sz="1300" dirty="0"/>
          </a:p>
        </p:txBody>
      </p:sp>
      <p:sp>
        <p:nvSpPr>
          <p:cNvPr id="32" name="Text 30"/>
          <p:cNvSpPr txBox="1"/>
          <p:nvPr/>
        </p:nvSpPr>
        <p:spPr>
          <a:xfrm>
            <a:off x="6848856" y="3712464"/>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Applications as records, screened against the funder’s own criteria</a:t>
            </a:r>
            <a:endParaRPr lang="en-US" sz="1150" dirty="0"/>
          </a:p>
        </p:txBody>
      </p:sp>
      <p:sp>
        <p:nvSpPr>
          <p:cNvPr id="33" name="Text 31"/>
          <p:cNvSpPr txBox="1"/>
          <p:nvPr/>
        </p:nvSpPr>
        <p:spPr>
          <a:xfrm>
            <a:off x="6446520" y="4233672"/>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2"/>
          <p:cNvSpPr txBox="1"/>
          <p:nvPr/>
        </p:nvSpPr>
        <p:spPr>
          <a:xfrm>
            <a:off x="6848856" y="4215384"/>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Shortlisting and selection</a:t>
            </a:r>
            <a:endParaRPr lang="en-US" sz="1300" dirty="0"/>
          </a:p>
        </p:txBody>
      </p:sp>
      <p:sp>
        <p:nvSpPr>
          <p:cNvPr id="35" name="Text 33"/>
          <p:cNvSpPr txBox="1"/>
          <p:nvPr/>
        </p:nvSpPr>
        <p:spPr>
          <a:xfrm>
            <a:off x="6848856" y="4471416"/>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Every step leaves an audit record</a:t>
            </a:r>
            <a:endParaRPr lang="en-US" sz="1150" dirty="0"/>
          </a:p>
        </p:txBody>
      </p:sp>
      <p:sp>
        <p:nvSpPr>
          <p:cNvPr id="36" name="Text 34"/>
          <p:cNvSpPr txBox="1"/>
          <p:nvPr/>
        </p:nvSpPr>
        <p:spPr>
          <a:xfrm>
            <a:off x="6446520" y="4992624"/>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7" name="Text 35"/>
          <p:cNvSpPr txBox="1"/>
          <p:nvPr/>
        </p:nvSpPr>
        <p:spPr>
          <a:xfrm>
            <a:off x="6848856" y="4974336"/>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Bulk application intake</a:t>
            </a:r>
            <a:endParaRPr lang="en-US" sz="1300" dirty="0"/>
          </a:p>
        </p:txBody>
      </p:sp>
      <p:sp>
        <p:nvSpPr>
          <p:cNvPr id="38" name="Text 36"/>
          <p:cNvSpPr txBox="1"/>
          <p:nvPr/>
        </p:nvSpPr>
        <p:spPr>
          <a:xfrm>
            <a:off x="6848856" y="5230368"/>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Forms received by email, read and imported after review</a:t>
            </a:r>
            <a:endParaRPr lang="en-US" sz="1150" dirty="0"/>
          </a:p>
        </p:txBody>
      </p:sp>
      <p:sp>
        <p:nvSpPr>
          <p:cNvPr id="39" name="Text 37"/>
          <p:cNvSpPr txBox="1"/>
          <p:nvPr/>
        </p:nvSpPr>
        <p:spPr>
          <a:xfrm>
            <a:off x="6446520" y="5751576"/>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0" name="Text 38"/>
          <p:cNvSpPr txBox="1"/>
          <p:nvPr/>
        </p:nvSpPr>
        <p:spPr>
          <a:xfrm>
            <a:off x="6848856" y="5733288"/>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Duplicate detection</a:t>
            </a:r>
            <a:endParaRPr lang="en-US" sz="1300" dirty="0"/>
          </a:p>
        </p:txBody>
      </p:sp>
      <p:sp>
        <p:nvSpPr>
          <p:cNvPr id="41" name="Text 39"/>
          <p:cNvSpPr txBox="1"/>
          <p:nvPr/>
        </p:nvSpPr>
        <p:spPr>
          <a:xfrm>
            <a:off x="6848856" y="5989320"/>
            <a:ext cx="5111496" cy="420624"/>
          </a:xfrm>
          <a:prstGeom prst="rect">
            <a:avLst/>
          </a:prstGeom>
          <a:noFill/>
          <a:ln/>
        </p:spPr>
        <p:txBody>
          <a:bodyPr wrap="square" lIns="0" tIns="0" rIns="0" bIns="0" rtlCol="0" anchor="ctr"/>
          <a:lstStyle/>
          <a:p>
            <a:pPr indent="0" marL="0">
              <a:lnSpc>
                <a:spcPct val="110000"/>
              </a:lnSpc>
              <a:buNone/>
            </a:pPr>
            <a:r>
              <a:rPr lang="en-US" sz="1150" dirty="0">
                <a:solidFill>
                  <a:srgbClr val="5E6B64"/>
                </a:solidFill>
                <a:latin typeface="Calibri" pitchFamily="34" charset="0"/>
                <a:ea typeface="Calibri" pitchFamily="34" charset="-122"/>
                <a:cs typeface="Calibri" pitchFamily="34" charset="-120"/>
              </a:rPr>
              <a:t>Suspected duplicates flagged for a person, never merged automatically</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Matching and Eligibility</a:t>
            </a:r>
            <a:endParaRPr lang="en-US" sz="3100" dirty="0"/>
          </a:p>
        </p:txBody>
      </p:sp>
      <p:sp>
        <p:nvSpPr>
          <p:cNvPr id="3" name="Text 1"/>
          <p:cNvSpPr txBox="1"/>
          <p:nvPr/>
        </p:nvSpPr>
        <p:spPr>
          <a:xfrm>
            <a:off x="566928" y="987552"/>
            <a:ext cx="11027664" cy="292608"/>
          </a:xfrm>
          <a:prstGeom prst="rect">
            <a:avLst/>
          </a:prstGeom>
          <a:noFill/>
          <a:ln/>
        </p:spPr>
        <p:txBody>
          <a:bodyPr wrap="square" lIns="0" tIns="0" rIns="0" bIns="0" rtlCol="0" anchor="ctr"/>
          <a:lstStyle/>
          <a:p>
            <a:pPr indent="0" marL="0">
              <a:buNone/>
            </a:pPr>
            <a:r>
              <a:rPr lang="en-US" sz="1250" spc="60" kern="0" dirty="0">
                <a:solidFill>
                  <a:srgbClr val="5E6B64"/>
                </a:solidFill>
                <a:latin typeface="Calibri" pitchFamily="34" charset="0"/>
                <a:ea typeface="Calibri" pitchFamily="34" charset="-122"/>
                <a:cs typeface="Calibri" pitchFamily="34" charset="-120"/>
              </a:rPr>
              <a:t>Related, but deliberately not the same thing</a:t>
            </a:r>
            <a:endParaRPr lang="en-US" sz="1250" dirty="0"/>
          </a:p>
        </p:txBody>
      </p:sp>
      <p:sp>
        <p:nvSpPr>
          <p:cNvPr id="4" name="Shape 2"/>
          <p:cNvSpPr/>
          <p:nvPr/>
        </p:nvSpPr>
        <p:spPr>
          <a:xfrm>
            <a:off x="4160520" y="1481328"/>
            <a:ext cx="3840480" cy="566928"/>
          </a:xfrm>
          <a:prstGeom prst="roundRect">
            <a:avLst>
              <a:gd name="adj" fmla="val 12903"/>
            </a:avLst>
          </a:prstGeom>
          <a:solidFill>
            <a:srgbClr val="0F5132"/>
          </a:solidFill>
          <a:ln w="12700">
            <a:solidFill>
              <a:srgbClr val="0F5132"/>
            </a:solidFill>
            <a:prstDash val="solid"/>
          </a:ln>
        </p:spPr>
      </p:sp>
      <p:sp>
        <p:nvSpPr>
          <p:cNvPr id="5" name="Text 3"/>
          <p:cNvSpPr txBox="1"/>
          <p:nvPr/>
        </p:nvSpPr>
        <p:spPr>
          <a:xfrm>
            <a:off x="4160520" y="1481328"/>
            <a:ext cx="3840480" cy="566928"/>
          </a:xfrm>
          <a:prstGeom prst="rect">
            <a:avLst/>
          </a:prstGeom>
          <a:noFill/>
          <a:ln/>
        </p:spPr>
        <p:txBody>
          <a:bodyPr wrap="square" lIns="0" tIns="0" rIns="0" bIns="0" rtlCol="0" anchor="ctr"/>
          <a:lstStyle/>
          <a:p>
            <a:pPr algn="ctr" indent="0" marL="0">
              <a:buNone/>
            </a:pPr>
            <a:r>
              <a:rPr lang="en-US" sz="1400" b="1" spc="120" kern="0" dirty="0">
                <a:solidFill>
                  <a:srgbClr val="FFFFFF"/>
                </a:solidFill>
                <a:latin typeface="Calibri" pitchFamily="34" charset="0"/>
                <a:ea typeface="Calibri" pitchFamily="34" charset="-122"/>
                <a:cs typeface="Calibri" pitchFamily="34" charset="-120"/>
              </a:rPr>
              <a:t>STUDENT PROFILE</a:t>
            </a:r>
            <a:endParaRPr lang="en-US" sz="1400" dirty="0"/>
          </a:p>
        </p:txBody>
      </p:sp>
      <p:sp>
        <p:nvSpPr>
          <p:cNvPr id="6" name="Shape 4"/>
          <p:cNvSpPr/>
          <p:nvPr/>
        </p:nvSpPr>
        <p:spPr>
          <a:xfrm>
            <a:off x="3223260" y="2157984"/>
            <a:ext cx="201168" cy="201168"/>
          </a:xfrm>
          <a:prstGeom prst="downArrow">
            <a:avLst/>
          </a:prstGeom>
          <a:solidFill>
            <a:srgbClr val="9DBFA8"/>
          </a:solidFill>
          <a:ln w="12700">
            <a:solidFill>
              <a:srgbClr val="9DBFA8"/>
            </a:solidFill>
            <a:prstDash val="solid"/>
          </a:ln>
        </p:spPr>
      </p:sp>
      <p:sp>
        <p:nvSpPr>
          <p:cNvPr id="7" name="Shape 5"/>
          <p:cNvSpPr/>
          <p:nvPr/>
        </p:nvSpPr>
        <p:spPr>
          <a:xfrm>
            <a:off x="9102852" y="2157984"/>
            <a:ext cx="201168" cy="201168"/>
          </a:xfrm>
          <a:prstGeom prst="downArrow">
            <a:avLst/>
          </a:prstGeom>
          <a:solidFill>
            <a:srgbClr val="9DBFA8"/>
          </a:solidFill>
          <a:ln w="12700">
            <a:solidFill>
              <a:srgbClr val="9DBFA8"/>
            </a:solidFill>
            <a:prstDash val="solid"/>
          </a:ln>
        </p:spPr>
      </p:sp>
      <p:sp>
        <p:nvSpPr>
          <p:cNvPr id="8" name="Text 6"/>
          <p:cNvSpPr txBox="1"/>
          <p:nvPr/>
        </p:nvSpPr>
        <p:spPr>
          <a:xfrm>
            <a:off x="566928" y="2487168"/>
            <a:ext cx="5513832" cy="566928"/>
          </a:xfrm>
          <a:prstGeom prst="roundRect">
            <a:avLst>
              <a:gd name="adj" fmla="val 12903"/>
            </a:avLst>
          </a:prstGeom>
          <a:solidFill>
            <a:srgbClr val="EDF3EF"/>
          </a:solidFill>
          <a:ln w="12700">
            <a:solidFill>
              <a:srgbClr val="9DBFA8"/>
            </a:solidFill>
          </a:ln>
        </p:spPr>
        <p:txBody>
          <a:bodyPr wrap="square" lIns="508" tIns="508" rIns="508" bIns="508" rtlCol="0" anchor="ctr"/>
          <a:lstStyle/>
          <a:p>
            <a:pPr algn="ctr" indent="0" marL="0">
              <a:buNone/>
            </a:pPr>
            <a:r>
              <a:rPr lang="en-US" sz="1350" b="1" dirty="0">
                <a:solidFill>
                  <a:srgbClr val="0F5132"/>
                </a:solidFill>
                <a:latin typeface="Calibri" pitchFamily="34" charset="0"/>
                <a:ea typeface="Calibri" pitchFamily="34" charset="-122"/>
                <a:cs typeface="Calibri" pitchFamily="34" charset="-120"/>
              </a:rPr>
              <a:t>Rule-based eligibility evaluation</a:t>
            </a:r>
            <a:endParaRPr lang="en-US" sz="1350" dirty="0"/>
          </a:p>
        </p:txBody>
      </p:sp>
      <p:sp>
        <p:nvSpPr>
          <p:cNvPr id="9" name="Text 7"/>
          <p:cNvSpPr txBox="1"/>
          <p:nvPr/>
        </p:nvSpPr>
        <p:spPr>
          <a:xfrm>
            <a:off x="6446520" y="2487168"/>
            <a:ext cx="5513832" cy="566928"/>
          </a:xfrm>
          <a:prstGeom prst="roundRect">
            <a:avLst>
              <a:gd name="adj" fmla="val 12903"/>
            </a:avLst>
          </a:prstGeom>
          <a:solidFill>
            <a:srgbClr val="EDF3EF"/>
          </a:solidFill>
          <a:ln w="12700">
            <a:solidFill>
              <a:srgbClr val="9DBFA8"/>
            </a:solidFill>
          </a:ln>
        </p:spPr>
        <p:txBody>
          <a:bodyPr wrap="square" lIns="508" tIns="508" rIns="508" bIns="508" rtlCol="0" anchor="ctr"/>
          <a:lstStyle/>
          <a:p>
            <a:pPr algn="ctr" indent="0" marL="0">
              <a:buNone/>
            </a:pPr>
            <a:r>
              <a:rPr lang="en-US" sz="1350" b="1" dirty="0">
                <a:solidFill>
                  <a:srgbClr val="0F5132"/>
                </a:solidFill>
                <a:latin typeface="Calibri" pitchFamily="34" charset="0"/>
                <a:ea typeface="Calibri" pitchFamily="34" charset="-122"/>
                <a:cs typeface="Calibri" pitchFamily="34" charset="-120"/>
              </a:rPr>
              <a:t>Weighted criterion matching</a:t>
            </a:r>
            <a:endParaRPr lang="en-US" sz="1350" dirty="0"/>
          </a:p>
        </p:txBody>
      </p:sp>
      <p:sp>
        <p:nvSpPr>
          <p:cNvPr id="10" name="Shape 8"/>
          <p:cNvSpPr/>
          <p:nvPr/>
        </p:nvSpPr>
        <p:spPr>
          <a:xfrm>
            <a:off x="3223260" y="3127248"/>
            <a:ext cx="201168" cy="201168"/>
          </a:xfrm>
          <a:prstGeom prst="downArrow">
            <a:avLst/>
          </a:prstGeom>
          <a:solidFill>
            <a:srgbClr val="9DBFA8"/>
          </a:solidFill>
          <a:ln w="12700">
            <a:solidFill>
              <a:srgbClr val="9DBFA8"/>
            </a:solidFill>
            <a:prstDash val="solid"/>
          </a:ln>
        </p:spPr>
      </p:sp>
      <p:sp>
        <p:nvSpPr>
          <p:cNvPr id="11" name="Shape 9"/>
          <p:cNvSpPr/>
          <p:nvPr/>
        </p:nvSpPr>
        <p:spPr>
          <a:xfrm>
            <a:off x="9102852" y="3127248"/>
            <a:ext cx="201168" cy="201168"/>
          </a:xfrm>
          <a:prstGeom prst="downArrow">
            <a:avLst/>
          </a:prstGeom>
          <a:solidFill>
            <a:srgbClr val="9DBFA8"/>
          </a:solidFill>
          <a:ln w="12700">
            <a:solidFill>
              <a:srgbClr val="9DBFA8"/>
            </a:solidFill>
            <a:prstDash val="solid"/>
          </a:ln>
        </p:spPr>
      </p:sp>
      <p:sp>
        <p:nvSpPr>
          <p:cNvPr id="12" name="Text 10"/>
          <p:cNvSpPr txBox="1"/>
          <p:nvPr/>
        </p:nvSpPr>
        <p:spPr>
          <a:xfrm>
            <a:off x="566928" y="3456432"/>
            <a:ext cx="1746504" cy="603504"/>
          </a:xfrm>
          <a:prstGeom prst="roundRect">
            <a:avLst>
              <a:gd name="adj" fmla="val 12121"/>
            </a:avLst>
          </a:prstGeom>
          <a:solidFill>
            <a:srgbClr val="FFFFFF"/>
          </a:solidFill>
          <a:ln w="12700">
            <a:solidFill>
              <a:srgbClr val="9DBFA8"/>
            </a:solidFill>
          </a:ln>
        </p:spPr>
        <p:txBody>
          <a:bodyPr wrap="square" lIns="508" tIns="508" rIns="508" bIns="508" rtlCol="0" anchor="ctr"/>
          <a:lstStyle/>
          <a:p>
            <a:pPr algn="ctr" indent="0" marL="0">
              <a:buNone/>
            </a:pPr>
            <a:r>
              <a:rPr lang="en-US" sz="1150" b="1" dirty="0">
                <a:solidFill>
                  <a:srgbClr val="0F5132"/>
                </a:solidFill>
                <a:latin typeface="Calibri" pitchFamily="34" charset="0"/>
                <a:ea typeface="Calibri" pitchFamily="34" charset="-122"/>
                <a:cs typeface="Calibri" pitchFamily="34" charset="-120"/>
              </a:rPr>
              <a:t>Eligible</a:t>
            </a:r>
            <a:endParaRPr lang="en-US" sz="1150" dirty="0"/>
          </a:p>
        </p:txBody>
      </p:sp>
      <p:sp>
        <p:nvSpPr>
          <p:cNvPr id="13" name="Text 11"/>
          <p:cNvSpPr txBox="1"/>
          <p:nvPr/>
        </p:nvSpPr>
        <p:spPr>
          <a:xfrm>
            <a:off x="2450592" y="3456432"/>
            <a:ext cx="1746504" cy="603504"/>
          </a:xfrm>
          <a:prstGeom prst="roundRect">
            <a:avLst>
              <a:gd name="adj" fmla="val 12121"/>
            </a:avLst>
          </a:prstGeom>
          <a:solidFill>
            <a:srgbClr val="FFFFFF"/>
          </a:solidFill>
          <a:ln w="12700">
            <a:solidFill>
              <a:srgbClr val="9DBFA8"/>
            </a:solidFill>
          </a:ln>
        </p:spPr>
        <p:txBody>
          <a:bodyPr wrap="square" lIns="508" tIns="508" rIns="508" bIns="508" rtlCol="0" anchor="ctr"/>
          <a:lstStyle/>
          <a:p>
            <a:pPr algn="ctr" indent="0" marL="0">
              <a:buNone/>
            </a:pPr>
            <a:r>
              <a:rPr lang="en-US" sz="1150" b="1" dirty="0">
                <a:solidFill>
                  <a:srgbClr val="0F5132"/>
                </a:solidFill>
                <a:latin typeface="Calibri" pitchFamily="34" charset="0"/>
                <a:ea typeface="Calibri" pitchFamily="34" charset="-122"/>
                <a:cs typeface="Calibri" pitchFamily="34" charset="-120"/>
              </a:rPr>
              <a:t>Not eligible</a:t>
            </a:r>
            <a:endParaRPr lang="en-US" sz="1150" dirty="0"/>
          </a:p>
        </p:txBody>
      </p:sp>
      <p:sp>
        <p:nvSpPr>
          <p:cNvPr id="14" name="Text 12"/>
          <p:cNvSpPr txBox="1"/>
          <p:nvPr/>
        </p:nvSpPr>
        <p:spPr>
          <a:xfrm>
            <a:off x="4334256" y="3456432"/>
            <a:ext cx="1746504" cy="603504"/>
          </a:xfrm>
          <a:prstGeom prst="roundRect">
            <a:avLst>
              <a:gd name="adj" fmla="val 12121"/>
            </a:avLst>
          </a:prstGeom>
          <a:solidFill>
            <a:srgbClr val="FFFFFF"/>
          </a:solidFill>
          <a:ln w="12700">
            <a:solidFill>
              <a:srgbClr val="9DBFA8"/>
            </a:solidFill>
          </a:ln>
        </p:spPr>
        <p:txBody>
          <a:bodyPr wrap="square" lIns="508" tIns="508" rIns="508" bIns="508" rtlCol="0" anchor="ctr"/>
          <a:lstStyle/>
          <a:p>
            <a:pPr algn="ctr" indent="0" marL="0">
              <a:buNone/>
            </a:pPr>
            <a:r>
              <a:rPr lang="en-US" sz="1150" b="1" dirty="0">
                <a:solidFill>
                  <a:srgbClr val="0F5132"/>
                </a:solidFill>
                <a:latin typeface="Calibri" pitchFamily="34" charset="0"/>
                <a:ea typeface="Calibri" pitchFamily="34" charset="-122"/>
                <a:cs typeface="Calibri" pitchFamily="34" charset="-120"/>
              </a:rPr>
              <a:t>Pending verification</a:t>
            </a:r>
            <a:endParaRPr lang="en-US" sz="1150" dirty="0"/>
          </a:p>
        </p:txBody>
      </p:sp>
      <p:sp>
        <p:nvSpPr>
          <p:cNvPr id="15" name="Shape 13"/>
          <p:cNvSpPr/>
          <p:nvPr/>
        </p:nvSpPr>
        <p:spPr>
          <a:xfrm>
            <a:off x="6446520" y="3456432"/>
            <a:ext cx="5513832" cy="603504"/>
          </a:xfrm>
          <a:prstGeom prst="roundRect">
            <a:avLst>
              <a:gd name="adj" fmla="val 12121"/>
            </a:avLst>
          </a:prstGeom>
          <a:solidFill>
            <a:srgbClr val="C08A2E"/>
          </a:solidFill>
          <a:ln w="12700">
            <a:solidFill>
              <a:srgbClr val="C08A2E"/>
            </a:solidFill>
            <a:prstDash val="solid"/>
          </a:ln>
        </p:spPr>
      </p:sp>
      <p:sp>
        <p:nvSpPr>
          <p:cNvPr id="16" name="Text 14"/>
          <p:cNvSpPr txBox="1"/>
          <p:nvPr/>
        </p:nvSpPr>
        <p:spPr>
          <a:xfrm>
            <a:off x="6446520" y="3456432"/>
            <a:ext cx="5513832" cy="603504"/>
          </a:xfrm>
          <a:prstGeom prst="rect">
            <a:avLst/>
          </a:prstGeom>
          <a:noFill/>
          <a:ln/>
        </p:spPr>
        <p:txBody>
          <a:bodyPr wrap="square" lIns="508" tIns="508" rIns="508" bIns="508" rtlCol="0" anchor="ctr"/>
          <a:lstStyle/>
          <a:p>
            <a:pPr algn="ctr" indent="0" marL="0">
              <a:buNone/>
            </a:pPr>
            <a:r>
              <a:rPr lang="en-US" sz="1250" b="1" dirty="0">
                <a:solidFill>
                  <a:srgbClr val="2A1D05"/>
                </a:solidFill>
                <a:latin typeface="Calibri" pitchFamily="34" charset="0"/>
                <a:ea typeface="Calibri" pitchFamily="34" charset="-122"/>
                <a:cs typeface="Calibri" pitchFamily="34" charset="-120"/>
              </a:rPr>
              <a:t>Match score, as a percentage, with per-criterion reasons</a:t>
            </a:r>
            <a:endParaRPr lang="en-US" sz="1250" dirty="0"/>
          </a:p>
        </p:txBody>
      </p:sp>
      <p:sp>
        <p:nvSpPr>
          <p:cNvPr id="17" name="Shape 15"/>
          <p:cNvSpPr/>
          <p:nvPr/>
        </p:nvSpPr>
        <p:spPr>
          <a:xfrm>
            <a:off x="566928" y="4261104"/>
            <a:ext cx="5513832" cy="1371600"/>
          </a:xfrm>
          <a:prstGeom prst="roundRect">
            <a:avLst>
              <a:gd name="adj" fmla="val 6000"/>
            </a:avLst>
          </a:prstGeom>
          <a:solidFill>
            <a:srgbClr val="EDF3EF"/>
          </a:solidFill>
          <a:ln w="12700">
            <a:solidFill>
              <a:srgbClr val="EDF3EF"/>
            </a:solidFill>
            <a:prstDash val="solid"/>
          </a:ln>
        </p:spPr>
      </p:sp>
      <p:sp>
        <p:nvSpPr>
          <p:cNvPr id="18" name="Text 16"/>
          <p:cNvSpPr txBox="1"/>
          <p:nvPr/>
        </p:nvSpPr>
        <p:spPr>
          <a:xfrm>
            <a:off x="804672" y="4425696"/>
            <a:ext cx="5038344"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A criterion that cannot be evaluated</a:t>
            </a:r>
            <a:endParaRPr lang="en-US" sz="1450" dirty="0"/>
          </a:p>
        </p:txBody>
      </p:sp>
      <p:sp>
        <p:nvSpPr>
          <p:cNvPr id="19" name="Text 17"/>
          <p:cNvSpPr txBox="1"/>
          <p:nvPr/>
        </p:nvSpPr>
        <p:spPr>
          <a:xfrm>
            <a:off x="804672" y="4791456"/>
            <a:ext cx="5038344" cy="67665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Contributes a defined partial weight to the score</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Reported as needing verification — never silently failed</a:t>
            </a:r>
            <a:endParaRPr lang="en-US" sz="1250" dirty="0"/>
          </a:p>
        </p:txBody>
      </p:sp>
      <p:sp>
        <p:nvSpPr>
          <p:cNvPr id="20" name="Shape 18"/>
          <p:cNvSpPr/>
          <p:nvPr/>
        </p:nvSpPr>
        <p:spPr>
          <a:xfrm>
            <a:off x="6446520" y="4261104"/>
            <a:ext cx="5513832" cy="1371600"/>
          </a:xfrm>
          <a:prstGeom prst="roundRect">
            <a:avLst>
              <a:gd name="adj" fmla="val 6000"/>
            </a:avLst>
          </a:prstGeom>
          <a:solidFill>
            <a:srgbClr val="EDF3EF"/>
          </a:solidFill>
          <a:ln w="12700">
            <a:solidFill>
              <a:srgbClr val="EDF3EF"/>
            </a:solidFill>
            <a:prstDash val="solid"/>
          </a:ln>
        </p:spPr>
      </p:sp>
      <p:sp>
        <p:nvSpPr>
          <p:cNvPr id="21" name="Text 19"/>
          <p:cNvSpPr txBox="1"/>
          <p:nvPr/>
        </p:nvSpPr>
        <p:spPr>
          <a:xfrm>
            <a:off x="6684264" y="4425696"/>
            <a:ext cx="5038344"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Criteria used</a:t>
            </a:r>
            <a:endParaRPr lang="en-US" sz="1450" dirty="0"/>
          </a:p>
        </p:txBody>
      </p:sp>
      <p:sp>
        <p:nvSpPr>
          <p:cNvPr id="22" name="Text 20"/>
          <p:cNvSpPr txBox="1"/>
          <p:nvPr/>
        </p:nvSpPr>
        <p:spPr>
          <a:xfrm>
            <a:off x="6684264" y="4791456"/>
            <a:ext cx="5038344" cy="67665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Field of study · Institution · Academic performance</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Subject requirements · Household circumstances · Demographics</a:t>
            </a:r>
            <a:endParaRPr lang="en-US" sz="1250" dirty="0"/>
          </a:p>
        </p:txBody>
      </p:sp>
      <p:sp>
        <p:nvSpPr>
          <p:cNvPr id="23" name="Shape 21"/>
          <p:cNvSpPr/>
          <p:nvPr/>
        </p:nvSpPr>
        <p:spPr>
          <a:xfrm>
            <a:off x="566928" y="5815584"/>
            <a:ext cx="11027664" cy="566928"/>
          </a:xfrm>
          <a:prstGeom prst="roundRect">
            <a:avLst>
              <a:gd name="adj" fmla="val 12903"/>
            </a:avLst>
          </a:prstGeom>
          <a:solidFill>
            <a:srgbClr val="0B2E24"/>
          </a:solidFill>
          <a:ln w="12700">
            <a:solidFill>
              <a:srgbClr val="0B2E24"/>
            </a:solidFill>
            <a:prstDash val="solid"/>
          </a:ln>
        </p:spPr>
      </p:sp>
      <p:sp>
        <p:nvSpPr>
          <p:cNvPr id="24" name="Text 22"/>
          <p:cNvSpPr txBox="1"/>
          <p:nvPr/>
        </p:nvSpPr>
        <p:spPr>
          <a:xfrm>
            <a:off x="566928" y="5815584"/>
            <a:ext cx="11027664" cy="56692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 high match score never implies a qualification the student does not hold.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65760"/>
            <a:ext cx="11027664" cy="658368"/>
          </a:xfrm>
          <a:prstGeom prst="rect">
            <a:avLst/>
          </a:prstGeom>
          <a:noFill/>
          <a:ln/>
        </p:spPr>
        <p:txBody>
          <a:bodyPr wrap="square" lIns="0" tIns="0" rIns="0" bIns="0" rtlCol="0" anchor="ctr"/>
          <a:lstStyle/>
          <a:p>
            <a:pPr indent="0" marL="0">
              <a:buNone/>
            </a:pPr>
            <a:r>
              <a:rPr lang="en-US" sz="3100" b="1" dirty="0">
                <a:solidFill>
                  <a:srgbClr val="0F5132"/>
                </a:solidFill>
                <a:latin typeface="Cambria" pitchFamily="34" charset="0"/>
                <a:ea typeface="Cambria" pitchFamily="34" charset="-122"/>
                <a:cs typeface="Cambria" pitchFamily="34" charset="-120"/>
              </a:rPr>
              <a:t>Methodology and Project Value</a:t>
            </a:r>
            <a:endParaRPr lang="en-US" sz="3100" dirty="0"/>
          </a:p>
        </p:txBody>
      </p:sp>
      <p:sp>
        <p:nvSpPr>
          <p:cNvPr id="3" name="Shape 1"/>
          <p:cNvSpPr/>
          <p:nvPr/>
        </p:nvSpPr>
        <p:spPr>
          <a:xfrm>
            <a:off x="566928" y="1207008"/>
            <a:ext cx="5513832" cy="603504"/>
          </a:xfrm>
          <a:prstGeom prst="roundRect">
            <a:avLst>
              <a:gd name="adj" fmla="val 12121"/>
            </a:avLst>
          </a:prstGeom>
          <a:solidFill>
            <a:srgbClr val="0F5132"/>
          </a:solidFill>
          <a:ln w="12700">
            <a:solidFill>
              <a:srgbClr val="0F5132"/>
            </a:solidFill>
            <a:prstDash val="solid"/>
          </a:ln>
        </p:spPr>
      </p:sp>
      <p:sp>
        <p:nvSpPr>
          <p:cNvPr id="4" name="Text 2"/>
          <p:cNvSpPr txBox="1"/>
          <p:nvPr/>
        </p:nvSpPr>
        <p:spPr>
          <a:xfrm>
            <a:off x="566928" y="1207008"/>
            <a:ext cx="5513832" cy="603504"/>
          </a:xfrm>
          <a:prstGeom prst="rect">
            <a:avLst/>
          </a:prstGeom>
          <a:noFill/>
          <a:ln/>
        </p:spPr>
        <p:txBody>
          <a:bodyPr wrap="square" lIns="0" tIns="0" rIns="0" bIns="0" rtlCol="0" anchor="ctr"/>
          <a:lstStyle/>
          <a:p>
            <a:pPr algn="ctr" indent="0" marL="0">
              <a:buNone/>
            </a:pPr>
            <a:r>
              <a:rPr lang="en-US" sz="1400" b="1" spc="120" kern="0" dirty="0">
                <a:solidFill>
                  <a:srgbClr val="FFFFFF"/>
                </a:solidFill>
                <a:latin typeface="Calibri" pitchFamily="34" charset="0"/>
                <a:ea typeface="Calibri" pitchFamily="34" charset="-122"/>
                <a:cs typeface="Calibri" pitchFamily="34" charset="-120"/>
              </a:rPr>
              <a:t>AGILE — SCRUM</a:t>
            </a:r>
            <a:endParaRPr lang="en-US" sz="1400" dirty="0"/>
          </a:p>
        </p:txBody>
      </p:sp>
      <p:sp>
        <p:nvSpPr>
          <p:cNvPr id="5" name="Text 3"/>
          <p:cNvSpPr txBox="1"/>
          <p:nvPr/>
        </p:nvSpPr>
        <p:spPr>
          <a:xfrm>
            <a:off x="566928" y="2048256"/>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69264" y="2029968"/>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Product backlog</a:t>
            </a:r>
            <a:endParaRPr lang="en-US" sz="1300" dirty="0"/>
          </a:p>
        </p:txBody>
      </p:sp>
      <p:sp>
        <p:nvSpPr>
          <p:cNvPr id="7" name="Text 5"/>
          <p:cNvSpPr txBox="1"/>
          <p:nvPr/>
        </p:nvSpPr>
        <p:spPr>
          <a:xfrm>
            <a:off x="969264" y="2286000"/>
            <a:ext cx="5111496" cy="384048"/>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Requirements re-ordered at the start of each sprint</a:t>
            </a:r>
            <a:endParaRPr lang="en-US" sz="1150" dirty="0"/>
          </a:p>
        </p:txBody>
      </p:sp>
      <p:sp>
        <p:nvSpPr>
          <p:cNvPr id="8" name="Text 6"/>
          <p:cNvSpPr txBox="1"/>
          <p:nvPr/>
        </p:nvSpPr>
        <p:spPr>
          <a:xfrm>
            <a:off x="566928" y="2761488"/>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969264" y="2743200"/>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Fixed-length sprints</a:t>
            </a:r>
            <a:endParaRPr lang="en-US" sz="1300" dirty="0"/>
          </a:p>
        </p:txBody>
      </p:sp>
      <p:sp>
        <p:nvSpPr>
          <p:cNvPr id="10" name="Text 8"/>
          <p:cNvSpPr txBox="1"/>
          <p:nvPr/>
        </p:nvSpPr>
        <p:spPr>
          <a:xfrm>
            <a:off x="969264" y="2999232"/>
            <a:ext cx="5111496" cy="384048"/>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Each produces a working increment of the system</a:t>
            </a:r>
            <a:endParaRPr lang="en-US" sz="1150" dirty="0"/>
          </a:p>
        </p:txBody>
      </p:sp>
      <p:sp>
        <p:nvSpPr>
          <p:cNvPr id="11" name="Text 9"/>
          <p:cNvSpPr txBox="1"/>
          <p:nvPr/>
        </p:nvSpPr>
        <p:spPr>
          <a:xfrm>
            <a:off x="566928" y="3474720"/>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969264" y="3456432"/>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Sprint reviews</a:t>
            </a:r>
            <a:endParaRPr lang="en-US" sz="1300" dirty="0"/>
          </a:p>
        </p:txBody>
      </p:sp>
      <p:sp>
        <p:nvSpPr>
          <p:cNvPr id="13" name="Text 11"/>
          <p:cNvSpPr txBox="1"/>
          <p:nvPr/>
        </p:nvSpPr>
        <p:spPr>
          <a:xfrm>
            <a:off x="969264" y="3712464"/>
            <a:ext cx="5111496" cy="384048"/>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The supervisor acts as product owner and directs what is built next</a:t>
            </a:r>
            <a:endParaRPr lang="en-US" sz="1150" dirty="0"/>
          </a:p>
        </p:txBody>
      </p:sp>
      <p:sp>
        <p:nvSpPr>
          <p:cNvPr id="14" name="Text 12"/>
          <p:cNvSpPr txBox="1"/>
          <p:nvPr/>
        </p:nvSpPr>
        <p:spPr>
          <a:xfrm>
            <a:off x="566928" y="4187952"/>
            <a:ext cx="274320" cy="274320"/>
          </a:xfrm>
          <a:prstGeom prst="ellipse">
            <a:avLst/>
          </a:prstGeom>
          <a:solidFill>
            <a:srgbClr val="0F5132"/>
          </a:solidFill>
          <a:ln>
            <a:solidFill>
              <a:srgbClr val="0F513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969264" y="4169664"/>
            <a:ext cx="5111496" cy="256032"/>
          </a:xfrm>
          <a:prstGeom prst="rect">
            <a:avLst/>
          </a:prstGeom>
          <a:noFill/>
          <a:ln/>
        </p:spPr>
        <p:txBody>
          <a:bodyPr wrap="square" lIns="0" tIns="0" rIns="0" bIns="0" rtlCol="0" anchor="ctr"/>
          <a:lstStyle/>
          <a:p>
            <a:pPr indent="0" marL="0">
              <a:buNone/>
            </a:pPr>
            <a:r>
              <a:rPr lang="en-US" sz="1300" b="1" dirty="0">
                <a:solidFill>
                  <a:srgbClr val="0F5132"/>
                </a:solidFill>
                <a:latin typeface="Calibri" pitchFamily="34" charset="0"/>
                <a:ea typeface="Calibri" pitchFamily="34" charset="-122"/>
                <a:cs typeface="Calibri" pitchFamily="34" charset="-120"/>
              </a:rPr>
              <a:t>Retrospectives</a:t>
            </a:r>
            <a:endParaRPr lang="en-US" sz="1300" dirty="0"/>
          </a:p>
        </p:txBody>
      </p:sp>
      <p:sp>
        <p:nvSpPr>
          <p:cNvPr id="16" name="Text 14"/>
          <p:cNvSpPr txBox="1"/>
          <p:nvPr/>
        </p:nvSpPr>
        <p:spPr>
          <a:xfrm>
            <a:off x="969264" y="4425696"/>
            <a:ext cx="5111496" cy="384048"/>
          </a:xfrm>
          <a:prstGeom prst="rect">
            <a:avLst/>
          </a:prstGeom>
          <a:noFill/>
          <a:ln/>
        </p:spPr>
        <p:txBody>
          <a:bodyPr wrap="square" lIns="0" tIns="0" rIns="0" bIns="0" rtlCol="0" anchor="ctr"/>
          <a:lstStyle/>
          <a:p>
            <a:pPr indent="0" marL="0">
              <a:buNone/>
            </a:pPr>
            <a:r>
              <a:rPr lang="en-US" sz="1150" dirty="0">
                <a:solidFill>
                  <a:srgbClr val="5E6B64"/>
                </a:solidFill>
                <a:latin typeface="Calibri" pitchFamily="34" charset="0"/>
                <a:ea typeface="Calibri" pitchFamily="34" charset="-122"/>
                <a:cs typeface="Calibri" pitchFamily="34" charset="-120"/>
              </a:rPr>
              <a:t>The team adjusts how it works between sprints</a:t>
            </a:r>
            <a:endParaRPr lang="en-US" sz="1150" dirty="0"/>
          </a:p>
        </p:txBody>
      </p:sp>
      <p:sp>
        <p:nvSpPr>
          <p:cNvPr id="17" name="Shape 15"/>
          <p:cNvSpPr/>
          <p:nvPr/>
        </p:nvSpPr>
        <p:spPr>
          <a:xfrm>
            <a:off x="566928" y="5029200"/>
            <a:ext cx="5513832" cy="1024128"/>
          </a:xfrm>
          <a:prstGeom prst="roundRect">
            <a:avLst>
              <a:gd name="adj" fmla="val 8036"/>
            </a:avLst>
          </a:prstGeom>
          <a:solidFill>
            <a:srgbClr val="EDF3EF"/>
          </a:solidFill>
          <a:ln w="12700">
            <a:solidFill>
              <a:srgbClr val="EDF3EF"/>
            </a:solidFill>
            <a:prstDash val="solid"/>
          </a:ln>
        </p:spPr>
      </p:sp>
      <p:sp>
        <p:nvSpPr>
          <p:cNvPr id="18" name="Text 16"/>
          <p:cNvSpPr txBox="1"/>
          <p:nvPr/>
        </p:nvSpPr>
        <p:spPr>
          <a:xfrm>
            <a:off x="804672" y="5193792"/>
            <a:ext cx="5038344"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Why Scrum</a:t>
            </a:r>
            <a:endParaRPr lang="en-US" sz="1450" dirty="0"/>
          </a:p>
        </p:txBody>
      </p:sp>
      <p:sp>
        <p:nvSpPr>
          <p:cNvPr id="19" name="Text 17"/>
          <p:cNvSpPr txBox="1"/>
          <p:nvPr/>
        </p:nvSpPr>
        <p:spPr>
          <a:xfrm>
            <a:off x="804672" y="5559552"/>
            <a:ext cx="5038344" cy="329184"/>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6211C"/>
                </a:solidFill>
                <a:latin typeface="Calibri" pitchFamily="34" charset="0"/>
                <a:ea typeface="Calibri" pitchFamily="34" charset="-122"/>
                <a:cs typeface="Calibri" pitchFamily="34" charset="-120"/>
              </a:rPr>
              <a:t>The criteria funders use were not known upfront — the data model had to keep changing</a:t>
            </a:r>
            <a:endParaRPr lang="en-US" sz="1200" dirty="0"/>
          </a:p>
        </p:txBody>
      </p:sp>
      <p:sp>
        <p:nvSpPr>
          <p:cNvPr id="20" name="Shape 18"/>
          <p:cNvSpPr/>
          <p:nvPr/>
        </p:nvSpPr>
        <p:spPr>
          <a:xfrm>
            <a:off x="6446520" y="1207008"/>
            <a:ext cx="5513832" cy="603504"/>
          </a:xfrm>
          <a:prstGeom prst="roundRect">
            <a:avLst>
              <a:gd name="adj" fmla="val 12121"/>
            </a:avLst>
          </a:prstGeom>
          <a:solidFill>
            <a:srgbClr val="C08A2E"/>
          </a:solidFill>
          <a:ln w="12700">
            <a:solidFill>
              <a:srgbClr val="C08A2E"/>
            </a:solidFill>
            <a:prstDash val="solid"/>
          </a:ln>
        </p:spPr>
      </p:sp>
      <p:sp>
        <p:nvSpPr>
          <p:cNvPr id="21" name="Text 19"/>
          <p:cNvSpPr txBox="1"/>
          <p:nvPr/>
        </p:nvSpPr>
        <p:spPr>
          <a:xfrm>
            <a:off x="6446520" y="1207008"/>
            <a:ext cx="5513832" cy="603504"/>
          </a:xfrm>
          <a:prstGeom prst="rect">
            <a:avLst/>
          </a:prstGeom>
          <a:noFill/>
          <a:ln/>
        </p:spPr>
        <p:txBody>
          <a:bodyPr wrap="square" lIns="0" tIns="0" rIns="0" bIns="0" rtlCol="0" anchor="ctr"/>
          <a:lstStyle/>
          <a:p>
            <a:pPr algn="ctr" indent="0" marL="0">
              <a:buNone/>
            </a:pPr>
            <a:r>
              <a:rPr lang="en-US" sz="1400" b="1" spc="120" kern="0" dirty="0">
                <a:solidFill>
                  <a:srgbClr val="2A1D05"/>
                </a:solidFill>
                <a:latin typeface="Calibri" pitchFamily="34" charset="0"/>
                <a:ea typeface="Calibri" pitchFamily="34" charset="-122"/>
                <a:cs typeface="Calibri" pitchFamily="34" charset="-120"/>
              </a:rPr>
              <a:t>PROJECT VALUE</a:t>
            </a:r>
            <a:endParaRPr lang="en-US" sz="1400" dirty="0"/>
          </a:p>
        </p:txBody>
      </p:sp>
      <p:sp>
        <p:nvSpPr>
          <p:cNvPr id="22" name="Shape 20"/>
          <p:cNvSpPr/>
          <p:nvPr/>
        </p:nvSpPr>
        <p:spPr>
          <a:xfrm>
            <a:off x="6446520" y="2029968"/>
            <a:ext cx="5513832" cy="1920240"/>
          </a:xfrm>
          <a:prstGeom prst="roundRect">
            <a:avLst>
              <a:gd name="adj" fmla="val 4286"/>
            </a:avLst>
          </a:prstGeom>
          <a:solidFill>
            <a:srgbClr val="EDF3EF"/>
          </a:solidFill>
          <a:ln w="12700">
            <a:solidFill>
              <a:srgbClr val="EDF3EF"/>
            </a:solidFill>
            <a:prstDash val="solid"/>
          </a:ln>
        </p:spPr>
      </p:sp>
      <p:sp>
        <p:nvSpPr>
          <p:cNvPr id="23" name="Text 21"/>
          <p:cNvSpPr txBox="1"/>
          <p:nvPr/>
        </p:nvSpPr>
        <p:spPr>
          <a:xfrm>
            <a:off x="6684264" y="2194560"/>
            <a:ext cx="5038344"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For students</a:t>
            </a:r>
            <a:endParaRPr lang="en-US" sz="1450" dirty="0"/>
          </a:p>
        </p:txBody>
      </p:sp>
      <p:sp>
        <p:nvSpPr>
          <p:cNvPr id="24" name="Text 22"/>
          <p:cNvSpPr txBox="1"/>
          <p:nvPr/>
        </p:nvSpPr>
        <p:spPr>
          <a:xfrm>
            <a:off x="6684264" y="2560320"/>
            <a:ext cx="5038344" cy="1225296"/>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Search is replaced by matching</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The same details entered once, not on every form</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Reasons behind each score show what would improve it</a:t>
            </a:r>
            <a:endParaRPr lang="en-US" sz="1250" dirty="0"/>
          </a:p>
        </p:txBody>
      </p:sp>
      <p:sp>
        <p:nvSpPr>
          <p:cNvPr id="25" name="Shape 23"/>
          <p:cNvSpPr/>
          <p:nvPr/>
        </p:nvSpPr>
        <p:spPr>
          <a:xfrm>
            <a:off x="6446520" y="4114800"/>
            <a:ext cx="5513832" cy="1938528"/>
          </a:xfrm>
          <a:prstGeom prst="roundRect">
            <a:avLst>
              <a:gd name="adj" fmla="val 4245"/>
            </a:avLst>
          </a:prstGeom>
          <a:solidFill>
            <a:srgbClr val="EDF3EF"/>
          </a:solidFill>
          <a:ln w="12700">
            <a:solidFill>
              <a:srgbClr val="EDF3EF"/>
            </a:solidFill>
            <a:prstDash val="solid"/>
          </a:ln>
        </p:spPr>
      </p:sp>
      <p:sp>
        <p:nvSpPr>
          <p:cNvPr id="26" name="Text 24"/>
          <p:cNvSpPr txBox="1"/>
          <p:nvPr/>
        </p:nvSpPr>
        <p:spPr>
          <a:xfrm>
            <a:off x="6684264" y="4279392"/>
            <a:ext cx="5038344" cy="310896"/>
          </a:xfrm>
          <a:prstGeom prst="rect">
            <a:avLst/>
          </a:prstGeom>
          <a:noFill/>
          <a:ln/>
        </p:spPr>
        <p:txBody>
          <a:bodyPr wrap="square" lIns="0" tIns="0" rIns="0" bIns="0" rtlCol="0" anchor="ctr"/>
          <a:lstStyle/>
          <a:p>
            <a:pPr indent="0" marL="0">
              <a:buNone/>
            </a:pPr>
            <a:r>
              <a:rPr lang="en-US" sz="1450" b="1" dirty="0">
                <a:solidFill>
                  <a:srgbClr val="0F5132"/>
                </a:solidFill>
                <a:latin typeface="Calibri" pitchFamily="34" charset="0"/>
                <a:ea typeface="Calibri" pitchFamily="34" charset="-122"/>
                <a:cs typeface="Calibri" pitchFamily="34" charset="-120"/>
              </a:rPr>
              <a:t>For funding organisations</a:t>
            </a:r>
            <a:endParaRPr lang="en-US" sz="1450" dirty="0"/>
          </a:p>
        </p:txBody>
      </p:sp>
      <p:sp>
        <p:nvSpPr>
          <p:cNvPr id="27" name="Text 25"/>
          <p:cNvSpPr txBox="1"/>
          <p:nvPr/>
        </p:nvSpPr>
        <p:spPr>
          <a:xfrm>
            <a:off x="6684264" y="4645152"/>
            <a:ext cx="5038344" cy="1243584"/>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Structured publication of programmes and criteria</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Applications as records, screened against their own rules</a:t>
            </a:r>
            <a:endParaRPr lang="en-US" sz="1250" dirty="0"/>
          </a:p>
          <a:p>
            <a:pPr marL="342900" indent="-342900">
              <a:spcAft>
                <a:spcPts val="500"/>
              </a:spcAft>
              <a:buSzPct val="100000"/>
              <a:buChar char="•"/>
            </a:pPr>
            <a:r>
              <a:rPr lang="en-US" sz="1250" dirty="0">
                <a:solidFill>
                  <a:srgbClr val="16211C"/>
                </a:solidFill>
                <a:latin typeface="Calibri" pitchFamily="34" charset="0"/>
                <a:ea typeface="Calibri" pitchFamily="34" charset="-122"/>
                <a:cs typeface="Calibri" pitchFamily="34" charset="-120"/>
              </a:rPr>
              <a:t>Auditable review, shortlisting and selection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E24"/>
        </a:solidFill>
      </p:bgPr>
    </p:bg>
    <p:spTree>
      <p:nvGrpSpPr>
        <p:cNvPr id="1" name=""/>
        <p:cNvGrpSpPr/>
        <p:nvPr/>
      </p:nvGrpSpPr>
      <p:grpSpPr>
        <a:xfrm>
          <a:off x="0" y="0"/>
          <a:ext cx="0" cy="0"/>
          <a:chOff x="0" y="0"/>
          <a:chExt cx="0" cy="0"/>
        </a:xfrm>
      </p:grpSpPr>
      <p:sp>
        <p:nvSpPr>
          <p:cNvPr id="2" name="Text 0"/>
          <p:cNvSpPr txBox="1"/>
          <p:nvPr/>
        </p:nvSpPr>
        <p:spPr>
          <a:xfrm>
            <a:off x="566928" y="658368"/>
            <a:ext cx="11027664" cy="731520"/>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From here, the system itself</a:t>
            </a:r>
            <a:endParaRPr lang="en-US" sz="3100" dirty="0"/>
          </a:p>
        </p:txBody>
      </p:sp>
      <p:sp>
        <p:nvSpPr>
          <p:cNvPr id="3" name="Shape 1"/>
          <p:cNvSpPr/>
          <p:nvPr/>
        </p:nvSpPr>
        <p:spPr>
          <a:xfrm>
            <a:off x="566928" y="1828800"/>
            <a:ext cx="3602736" cy="2286000"/>
          </a:xfrm>
          <a:prstGeom prst="roundRect">
            <a:avLst>
              <a:gd name="adj" fmla="val 3600"/>
            </a:avLst>
          </a:prstGeom>
          <a:solidFill>
            <a:srgbClr val="123A2D"/>
          </a:solidFill>
          <a:ln w="12700">
            <a:solidFill>
              <a:srgbClr val="123A2D"/>
            </a:solidFill>
            <a:prstDash val="solid"/>
          </a:ln>
        </p:spPr>
      </p:sp>
      <p:sp>
        <p:nvSpPr>
          <p:cNvPr id="4" name="Text 2"/>
          <p:cNvSpPr txBox="1"/>
          <p:nvPr/>
        </p:nvSpPr>
        <p:spPr>
          <a:xfrm>
            <a:off x="822960" y="2066544"/>
            <a:ext cx="3090672" cy="292608"/>
          </a:xfrm>
          <a:prstGeom prst="rect">
            <a:avLst/>
          </a:prstGeom>
          <a:noFill/>
          <a:ln/>
        </p:spPr>
        <p:txBody>
          <a:bodyPr wrap="square" lIns="0" tIns="0" rIns="0" bIns="0" rtlCol="0" anchor="ctr"/>
          <a:lstStyle/>
          <a:p>
            <a:pPr indent="0" marL="0">
              <a:buNone/>
            </a:pPr>
            <a:r>
              <a:rPr lang="en-US" sz="1200" b="1" spc="120" kern="0" dirty="0">
                <a:solidFill>
                  <a:srgbClr val="C08A2E"/>
                </a:solidFill>
                <a:latin typeface="Calibri" pitchFamily="34" charset="0"/>
                <a:ea typeface="Calibri" pitchFamily="34" charset="-122"/>
                <a:cs typeface="Calibri" pitchFamily="34" charset="-120"/>
              </a:rPr>
              <a:t>THE PROBLEM</a:t>
            </a:r>
            <a:endParaRPr lang="en-US" sz="1200" dirty="0"/>
          </a:p>
        </p:txBody>
      </p:sp>
      <p:sp>
        <p:nvSpPr>
          <p:cNvPr id="5" name="Text 3"/>
          <p:cNvSpPr txBox="1"/>
          <p:nvPr/>
        </p:nvSpPr>
        <p:spPr>
          <a:xfrm>
            <a:off x="822960" y="2450592"/>
            <a:ext cx="3090672" cy="146304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Bursary discovery and application are fragmented and manual, on both sides.</a:t>
            </a:r>
            <a:endParaRPr lang="en-US" sz="1300" dirty="0"/>
          </a:p>
        </p:txBody>
      </p:sp>
      <p:sp>
        <p:nvSpPr>
          <p:cNvPr id="6" name="Shape 4"/>
          <p:cNvSpPr/>
          <p:nvPr/>
        </p:nvSpPr>
        <p:spPr>
          <a:xfrm>
            <a:off x="4434840" y="1828800"/>
            <a:ext cx="3602736" cy="2286000"/>
          </a:xfrm>
          <a:prstGeom prst="roundRect">
            <a:avLst>
              <a:gd name="adj" fmla="val 3600"/>
            </a:avLst>
          </a:prstGeom>
          <a:solidFill>
            <a:srgbClr val="123A2D"/>
          </a:solidFill>
          <a:ln w="12700">
            <a:solidFill>
              <a:srgbClr val="123A2D"/>
            </a:solidFill>
            <a:prstDash val="solid"/>
          </a:ln>
        </p:spPr>
      </p:sp>
      <p:sp>
        <p:nvSpPr>
          <p:cNvPr id="7" name="Text 5"/>
          <p:cNvSpPr txBox="1"/>
          <p:nvPr/>
        </p:nvSpPr>
        <p:spPr>
          <a:xfrm>
            <a:off x="4690872" y="2066544"/>
            <a:ext cx="3090672" cy="292608"/>
          </a:xfrm>
          <a:prstGeom prst="rect">
            <a:avLst/>
          </a:prstGeom>
          <a:noFill/>
          <a:ln/>
        </p:spPr>
        <p:txBody>
          <a:bodyPr wrap="square" lIns="0" tIns="0" rIns="0" bIns="0" rtlCol="0" anchor="ctr"/>
          <a:lstStyle/>
          <a:p>
            <a:pPr indent="0" marL="0">
              <a:buNone/>
            </a:pPr>
            <a:r>
              <a:rPr lang="en-US" sz="1200" b="1" spc="120" kern="0" dirty="0">
                <a:solidFill>
                  <a:srgbClr val="C08A2E"/>
                </a:solidFill>
                <a:latin typeface="Calibri" pitchFamily="34" charset="0"/>
                <a:ea typeface="Calibri" pitchFamily="34" charset="-122"/>
                <a:cs typeface="Calibri" pitchFamily="34" charset="-120"/>
              </a:rPr>
              <a:t>OUR SOLUTION</a:t>
            </a:r>
            <a:endParaRPr lang="en-US" sz="1200" dirty="0"/>
          </a:p>
        </p:txBody>
      </p:sp>
      <p:sp>
        <p:nvSpPr>
          <p:cNvPr id="8" name="Text 6"/>
          <p:cNvSpPr txBox="1"/>
          <p:nvPr/>
        </p:nvSpPr>
        <p:spPr>
          <a:xfrm>
            <a:off x="4690872" y="2450592"/>
            <a:ext cx="3090672" cy="146304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Criteria held as data, circumstances held once, and the two used together to decide, explain and administer the fit.</a:t>
            </a:r>
            <a:endParaRPr lang="en-US" sz="1300" dirty="0"/>
          </a:p>
        </p:txBody>
      </p:sp>
      <p:sp>
        <p:nvSpPr>
          <p:cNvPr id="9" name="Shape 7"/>
          <p:cNvSpPr/>
          <p:nvPr/>
        </p:nvSpPr>
        <p:spPr>
          <a:xfrm>
            <a:off x="8302752" y="1828800"/>
            <a:ext cx="3602736" cy="2286000"/>
          </a:xfrm>
          <a:prstGeom prst="roundRect">
            <a:avLst>
              <a:gd name="adj" fmla="val 3600"/>
            </a:avLst>
          </a:prstGeom>
          <a:solidFill>
            <a:srgbClr val="123A2D"/>
          </a:solidFill>
          <a:ln w="12700">
            <a:solidFill>
              <a:srgbClr val="123A2D"/>
            </a:solidFill>
            <a:prstDash val="solid"/>
          </a:ln>
        </p:spPr>
      </p:sp>
      <p:sp>
        <p:nvSpPr>
          <p:cNvPr id="10" name="Text 8"/>
          <p:cNvSpPr txBox="1"/>
          <p:nvPr/>
        </p:nvSpPr>
        <p:spPr>
          <a:xfrm>
            <a:off x="8558784" y="2066544"/>
            <a:ext cx="3090672" cy="292608"/>
          </a:xfrm>
          <a:prstGeom prst="rect">
            <a:avLst/>
          </a:prstGeom>
          <a:noFill/>
          <a:ln/>
        </p:spPr>
        <p:txBody>
          <a:bodyPr wrap="square" lIns="0" tIns="0" rIns="0" bIns="0" rtlCol="0" anchor="ctr"/>
          <a:lstStyle/>
          <a:p>
            <a:pPr indent="0" marL="0">
              <a:buNone/>
            </a:pPr>
            <a:r>
              <a:rPr lang="en-US" sz="1200" b="1" spc="120" kern="0" dirty="0">
                <a:solidFill>
                  <a:srgbClr val="C08A2E"/>
                </a:solidFill>
                <a:latin typeface="Calibri" pitchFamily="34" charset="0"/>
                <a:ea typeface="Calibri" pitchFamily="34" charset="-122"/>
                <a:cs typeface="Calibri" pitchFamily="34" charset="-120"/>
              </a:rPr>
              <a:t>THE DEMONSTRATION</a:t>
            </a:r>
            <a:endParaRPr lang="en-US" sz="1200" dirty="0"/>
          </a:p>
        </p:txBody>
      </p:sp>
      <p:sp>
        <p:nvSpPr>
          <p:cNvPr id="11" name="Text 9"/>
          <p:cNvSpPr txBox="1"/>
          <p:nvPr/>
        </p:nvSpPr>
        <p:spPr>
          <a:xfrm>
            <a:off x="8558784" y="2450592"/>
            <a:ext cx="3090672" cy="146304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The student journey through matching and application, and the funder journey through review and selection.</a:t>
            </a:r>
            <a:endParaRPr lang="en-US" sz="1300" dirty="0"/>
          </a:p>
        </p:txBody>
      </p:sp>
      <p:sp>
        <p:nvSpPr>
          <p:cNvPr id="12" name="Text 10"/>
          <p:cNvSpPr txBox="1"/>
          <p:nvPr/>
        </p:nvSpPr>
        <p:spPr>
          <a:xfrm>
            <a:off x="566928" y="4754880"/>
            <a:ext cx="11027664"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Thank you</a:t>
            </a:r>
            <a:endParaRPr lang="en-US" sz="2800" dirty="0"/>
          </a:p>
        </p:txBody>
      </p:sp>
      <p:sp>
        <p:nvSpPr>
          <p:cNvPr id="13" name="Text 11"/>
          <p:cNvSpPr txBox="1"/>
          <p:nvPr/>
        </p:nvSpPr>
        <p:spPr>
          <a:xfrm>
            <a:off x="566928" y="5413248"/>
            <a:ext cx="11027664" cy="310896"/>
          </a:xfrm>
          <a:prstGeom prst="rect">
            <a:avLst/>
          </a:prstGeom>
          <a:noFill/>
          <a:ln/>
        </p:spPr>
        <p:txBody>
          <a:bodyPr wrap="square" lIns="0" tIns="0" rIns="0" bIns="0" rtlCol="0" anchor="ctr"/>
          <a:lstStyle/>
          <a:p>
            <a:pPr indent="0" marL="0">
              <a:buNone/>
            </a:pPr>
            <a:r>
              <a:rPr lang="en-US" sz="1300" dirty="0">
                <a:solidFill>
                  <a:srgbClr val="9DBFA8"/>
                </a:solidFill>
                <a:latin typeface="Calibri" pitchFamily="34" charset="0"/>
                <a:ea typeface="Calibri" pitchFamily="34" charset="-122"/>
                <a:cs typeface="Calibri" pitchFamily="34" charset="-120"/>
              </a:rPr>
              <a:t>Group 25  ·  Supervisor: Ms Zulu</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Bursary-Bridge</dc:title>
  <dc:subject>PptxGenJS Presentation</dc:subject>
  <dc:creator>Group 25</dc:creator>
  <cp:lastModifiedBy>Group 25</cp:lastModifiedBy>
  <cp:revision>1</cp:revision>
  <dcterms:created xsi:type="dcterms:W3CDTF">2026-09-27T19:34:54Z</dcterms:created>
  <dcterms:modified xsi:type="dcterms:W3CDTF">2026-09-27T19:34:54Z</dcterms:modified>
</cp:coreProperties>
</file>