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CPP Mchunu — 0:20.
Say hello, give the project name in one line, and introduce the four of us by name only. Do not read the student numbers out.
Main point: say in one sentence what Bursary-Bridge does. It matches South African students to bursaries they qualify for, and helps companies handle the applications they get.
Words to use: matching, bursary, funder. Then move straight on to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CPP Mchunu — 0:24.
Explain that for most of these students the big question is money, not marks. NSFAS answers it for one group and is easy to find. Everything outside NSFAS is the problem.
Main point: the other bursaries are not badly organised, they are not organised at all. Three different places, all just writing it out as a page for a person to read.
Do not read the three places out one by one. Name them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CPP Mchunu — 0:26.
Walk across the top row once, quickly. Then give the two sides underneath.
Main point: the dark strip at the bottom is what turns this from an opinion into a finding, so say the numbers. A student faces exactly this, with nothing to filter out the unclear ones for them.
Then hand over to Nsibande.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Nsibande — 0:28.
Read the goal out properly. It is marked on its own. Then say we set ten measurable objectives, and these are the ones that shaped what we built.
Main point: the first one is the key. Everything else depends on the rules being stored as data instead of sentences, because a computer cannot check a sentence.
Do not read all six out. Name two or three and let the slide do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Nsibande — 0:28.
This is the main idea slide, so give it room. A student fills in their details once. A company enters its rules once, in boxes instead of sentences. The system uses the two together.
Main point: it works for both sides. Most things that already exist only help one side.
Then hand over to Bikile.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Nsibande — 0:24.
Do not explain what Scrum is. The examiner knows it. Walk the cycle once, quickly, and say the sprint length you actually used.
Main point: say why this project needed it. We could not know what rules companies use until we looked at what they publish, so the design had to keep changing. Waterfall fixes the design before you start, which would have locked in a wrong guess.
Step 5 matters: our supervisor is the one who checked each sprint and said what to build next.
The books are on the slide so the examiner can see them. Do not read them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 Bikile — 0:26.
Walk the four boxes left to right, as one request. Somebody opens a page, we check who they are and what they may see, then we fetch the right data.
Main point: step 2 happens first, before anything is read. If you are not allowed to see something, you get nothing back rather than another persons data. And the matching rules sit on their own, away from the database, which is why we can test them directly.
Do not read the technology names out. They are there for the examiner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 Bikile — 0:42.
Do not read twelve items out. Walk the student column as a story: profile, matches, apply. Then the company column as a story: advertise, receive, review, choose.
Main point: uploading many forms at once exists because companies also get applications by email. Possible duplicates are flagged for a person to decide on, and nothing is saved until somebody confirms it.
Then hand over to Tshazi.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 Tshazi — 0:36.
This is the strongest technical point in the project. One profile, two separate questions.
Do they qualify? That is checked against the rules the company published, and the answer is qualifies, does not qualify, or we need more information. How well do they fit? That is a score out of 100, with the reason for each rule shown next to it.
Main point: we keep these apart on purpose, so a high score never suggests a student qualifies when they do not. And if we cannot check a rule, it still counts partly and we say so. We never just mark it failed, because that would hide a bursary the student might actually get.
Expect a question here. Answer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 Tshazi — 0:22.
Give one side then the other. Do not read all six lines.
Main point is the strip at the bottom: the reasons. Right now a student who is turned down is told nothing, so they make the same mistake next year. Our system tells them which rule they missed.
Keep this quick and move to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 Tshazi — 0:17.
Three sentences, one per block, then stop and move to the live system.
Main point: this slide exists to hand over to the demo, which carries 30 of the 100 marks. Have the system open and signed in before you start.
Do not add anything new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E24"/>
        </a:solidFill>
      </p:bgPr>
    </p:bg>
    <p:spTree>
      <p:nvGrpSpPr>
        <p:cNvPr id="1" name=""/>
        <p:cNvGrpSpPr/>
        <p:nvPr/>
      </p:nvGrpSpPr>
      <p:grpSpPr>
        <a:xfrm>
          <a:off x="0" y="0"/>
          <a:ext cx="0" cy="0"/>
          <a:chOff x="0" y="0"/>
          <a:chExt cx="0" cy="0"/>
        </a:xfrm>
      </p:grpSpPr>
      <p:sp>
        <p:nvSpPr>
          <p:cNvPr id="2" name="Text 0"/>
          <p:cNvSpPr txBox="1"/>
          <p:nvPr/>
        </p:nvSpPr>
        <p:spPr>
          <a:xfrm>
            <a:off x="566928" y="1325880"/>
            <a:ext cx="11027664" cy="96012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Bursary-Bridge</a:t>
            </a:r>
            <a:endParaRPr lang="en-US" sz="5200" dirty="0"/>
          </a:p>
        </p:txBody>
      </p:sp>
      <p:sp>
        <p:nvSpPr>
          <p:cNvPr id="3" name="Text 1"/>
          <p:cNvSpPr txBox="1"/>
          <p:nvPr/>
        </p:nvSpPr>
        <p:spPr>
          <a:xfrm>
            <a:off x="566928" y="2331720"/>
            <a:ext cx="9509760" cy="777240"/>
          </a:xfrm>
          <a:prstGeom prst="rect">
            <a:avLst/>
          </a:prstGeom>
          <a:noFill/>
          <a:ln/>
        </p:spPr>
        <p:txBody>
          <a:bodyPr wrap="square" lIns="0" tIns="0" rIns="0" bIns="0" rtlCol="0" anchor="ctr"/>
          <a:lstStyle/>
          <a:p>
            <a:pPr indent="0" marL="0">
              <a:lnSpc>
                <a:spcPct val="125000"/>
              </a:lnSpc>
              <a:buNone/>
            </a:pPr>
            <a:r>
              <a:rPr lang="en-US" sz="1600" i="1" dirty="0">
                <a:solidFill>
                  <a:srgbClr val="9DBFA8"/>
                </a:solidFill>
                <a:latin typeface="Calibri" pitchFamily="34" charset="0"/>
                <a:ea typeface="Calibri" pitchFamily="34" charset="-122"/>
                <a:cs typeface="Calibri" pitchFamily="34" charset="-120"/>
              </a:rPr>
              <a:t>A Web-Based Bursary Matching and Application Management System</a:t>
            </a:r>
            <a:endParaRPr lang="en-US" sz="1600" dirty="0"/>
          </a:p>
          <a:p>
            <a:pPr indent="0" marL="0">
              <a:lnSpc>
                <a:spcPct val="125000"/>
              </a:lnSpc>
              <a:buNone/>
            </a:pPr>
            <a:r>
              <a:rPr lang="en-US" sz="1600" i="1" dirty="0">
                <a:solidFill>
                  <a:srgbClr val="9DBFA8"/>
                </a:solidFill>
                <a:latin typeface="Calibri" pitchFamily="34" charset="0"/>
                <a:ea typeface="Calibri" pitchFamily="34" charset="-122"/>
                <a:cs typeface="Calibri" pitchFamily="34" charset="-120"/>
              </a:rPr>
              <a:t>for South African Students and Funding Organisations</a:t>
            </a:r>
            <a:endParaRPr lang="en-US" sz="1600" dirty="0"/>
          </a:p>
        </p:txBody>
      </p:sp>
      <p:sp>
        <p:nvSpPr>
          <p:cNvPr id="4" name="Text 2"/>
          <p:cNvSpPr txBox="1"/>
          <p:nvPr/>
        </p:nvSpPr>
        <p:spPr>
          <a:xfrm>
            <a:off x="566928"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CPP Mchunu</a:t>
            </a:r>
            <a:endParaRPr lang="en-US" sz="1450" dirty="0"/>
          </a:p>
        </p:txBody>
      </p:sp>
      <p:sp>
        <p:nvSpPr>
          <p:cNvPr id="5" name="Text 3"/>
          <p:cNvSpPr txBox="1"/>
          <p:nvPr/>
        </p:nvSpPr>
        <p:spPr>
          <a:xfrm>
            <a:off x="566928"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202242486</a:t>
            </a:r>
            <a:endParaRPr lang="en-US" sz="1250" dirty="0"/>
          </a:p>
        </p:txBody>
      </p:sp>
      <p:sp>
        <p:nvSpPr>
          <p:cNvPr id="6" name="Text 4"/>
          <p:cNvSpPr txBox="1"/>
          <p:nvPr/>
        </p:nvSpPr>
        <p:spPr>
          <a:xfrm>
            <a:off x="3291840"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 Nsibande</a:t>
            </a:r>
            <a:endParaRPr lang="en-US" sz="1450" dirty="0"/>
          </a:p>
        </p:txBody>
      </p:sp>
      <p:sp>
        <p:nvSpPr>
          <p:cNvPr id="7" name="Text 5"/>
          <p:cNvSpPr txBox="1"/>
          <p:nvPr/>
        </p:nvSpPr>
        <p:spPr>
          <a:xfrm>
            <a:off x="3291840"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240079346</a:t>
            </a:r>
            <a:endParaRPr lang="en-US" sz="1250" dirty="0"/>
          </a:p>
        </p:txBody>
      </p:sp>
      <p:sp>
        <p:nvSpPr>
          <p:cNvPr id="8" name="Text 6"/>
          <p:cNvSpPr txBox="1"/>
          <p:nvPr/>
        </p:nvSpPr>
        <p:spPr>
          <a:xfrm>
            <a:off x="6016752"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KN Bikile</a:t>
            </a:r>
            <a:endParaRPr lang="en-US" sz="1450" dirty="0"/>
          </a:p>
        </p:txBody>
      </p:sp>
      <p:sp>
        <p:nvSpPr>
          <p:cNvPr id="9" name="Text 7"/>
          <p:cNvSpPr txBox="1"/>
          <p:nvPr/>
        </p:nvSpPr>
        <p:spPr>
          <a:xfrm>
            <a:off x="6016752"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202356797</a:t>
            </a:r>
            <a:endParaRPr lang="en-US" sz="1250" dirty="0"/>
          </a:p>
        </p:txBody>
      </p:sp>
      <p:sp>
        <p:nvSpPr>
          <p:cNvPr id="10" name="Text 8"/>
          <p:cNvSpPr txBox="1"/>
          <p:nvPr/>
        </p:nvSpPr>
        <p:spPr>
          <a:xfrm>
            <a:off x="8741664"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SP Tshazi</a:t>
            </a:r>
            <a:endParaRPr lang="en-US" sz="1450" dirty="0"/>
          </a:p>
        </p:txBody>
      </p:sp>
      <p:sp>
        <p:nvSpPr>
          <p:cNvPr id="11" name="Text 9"/>
          <p:cNvSpPr txBox="1"/>
          <p:nvPr/>
        </p:nvSpPr>
        <p:spPr>
          <a:xfrm>
            <a:off x="8741664"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240103222</a:t>
            </a:r>
            <a:endParaRPr lang="en-US" sz="1250" dirty="0"/>
          </a:p>
        </p:txBody>
      </p:sp>
      <p:sp>
        <p:nvSpPr>
          <p:cNvPr id="12" name="Text 10"/>
          <p:cNvSpPr txBox="1"/>
          <p:nvPr/>
        </p:nvSpPr>
        <p:spPr>
          <a:xfrm>
            <a:off x="566928" y="5394960"/>
            <a:ext cx="11027664" cy="292608"/>
          </a:xfrm>
          <a:prstGeom prst="rect">
            <a:avLst/>
          </a:prstGeom>
          <a:noFill/>
          <a:ln/>
        </p:spPr>
        <p:txBody>
          <a:bodyPr wrap="square" lIns="0" tIns="0" rIns="0" bIns="0" rtlCol="0" anchor="ctr"/>
          <a:lstStyle/>
          <a:p>
            <a:pPr indent="0" marL="0">
              <a:buNone/>
            </a:pPr>
            <a:r>
              <a:rPr lang="en-US" sz="1350" dirty="0">
                <a:solidFill>
                  <a:srgbClr val="9DBFA8"/>
                </a:solidFill>
                <a:latin typeface="Calibri" pitchFamily="34" charset="0"/>
                <a:ea typeface="Calibri" pitchFamily="34" charset="-122"/>
                <a:cs typeface="Calibri" pitchFamily="34" charset="-120"/>
              </a:rPr>
              <a:t>Supervisor: Ms Zulu</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Background and Context</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Who needs money to study, and where bursaries are advertised</a:t>
            </a:r>
            <a:endParaRPr lang="en-US" sz="1250" dirty="0"/>
          </a:p>
        </p:txBody>
      </p:sp>
      <p:sp>
        <p:nvSpPr>
          <p:cNvPr id="4" name="Shape 2"/>
          <p:cNvSpPr/>
          <p:nvPr/>
        </p:nvSpPr>
        <p:spPr>
          <a:xfrm>
            <a:off x="566928" y="1572768"/>
            <a:ext cx="4892040" cy="2011680"/>
          </a:xfrm>
          <a:prstGeom prst="roundRect">
            <a:avLst>
              <a:gd name="adj" fmla="val 4091"/>
            </a:avLst>
          </a:prstGeom>
          <a:solidFill>
            <a:srgbClr val="0F5132"/>
          </a:solidFill>
          <a:ln w="12700">
            <a:solidFill>
              <a:srgbClr val="0F5132"/>
            </a:solidFill>
            <a:prstDash val="solid"/>
          </a:ln>
        </p:spPr>
      </p:sp>
      <p:sp>
        <p:nvSpPr>
          <p:cNvPr id="5" name="Text 3"/>
          <p:cNvSpPr txBox="1"/>
          <p:nvPr/>
        </p:nvSpPr>
        <p:spPr>
          <a:xfrm>
            <a:off x="841248" y="1783080"/>
            <a:ext cx="4343400" cy="77724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1 358 169</a:t>
            </a:r>
            <a:endParaRPr lang="en-US" sz="4600" dirty="0"/>
          </a:p>
        </p:txBody>
      </p:sp>
      <p:sp>
        <p:nvSpPr>
          <p:cNvPr id="6" name="Text 4"/>
          <p:cNvSpPr txBox="1"/>
          <p:nvPr/>
        </p:nvSpPr>
        <p:spPr>
          <a:xfrm>
            <a:off x="841248" y="2578608"/>
            <a:ext cx="4343400" cy="731520"/>
          </a:xfrm>
          <a:prstGeom prst="rect">
            <a:avLst/>
          </a:prstGeom>
          <a:noFill/>
          <a:ln/>
        </p:spPr>
        <p:txBody>
          <a:bodyPr wrap="square" lIns="0" tIns="0" rIns="0" bIns="0" rtlCol="0" anchor="ctr"/>
          <a:lstStyle/>
          <a:p>
            <a:pPr indent="0" marL="0">
              <a:lnSpc>
                <a:spcPct val="120000"/>
              </a:lnSpc>
              <a:buNone/>
            </a:pPr>
            <a:r>
              <a:rPr lang="en-US" sz="1350" dirty="0">
                <a:solidFill>
                  <a:srgbClr val="9DBFA8"/>
                </a:solidFill>
                <a:latin typeface="Calibri" pitchFamily="34" charset="0"/>
                <a:ea typeface="Calibri" pitchFamily="34" charset="-122"/>
                <a:cs typeface="Calibri" pitchFamily="34" charset="-120"/>
              </a:rPr>
              <a:t>students in South African universities and colleges, 2023</a:t>
            </a:r>
            <a:endParaRPr lang="en-US" sz="1350" dirty="0"/>
          </a:p>
        </p:txBody>
      </p:sp>
      <p:sp>
        <p:nvSpPr>
          <p:cNvPr id="7" name="Shape 5"/>
          <p:cNvSpPr/>
          <p:nvPr/>
        </p:nvSpPr>
        <p:spPr>
          <a:xfrm>
            <a:off x="566928" y="3730752"/>
            <a:ext cx="4892040" cy="1810512"/>
          </a:xfrm>
          <a:prstGeom prst="roundRect">
            <a:avLst>
              <a:gd name="adj" fmla="val 4545"/>
            </a:avLst>
          </a:prstGeom>
          <a:solidFill>
            <a:srgbClr val="EDF3EF"/>
          </a:solidFill>
          <a:ln w="12700">
            <a:solidFill>
              <a:srgbClr val="EDF3EF"/>
            </a:solidFill>
            <a:prstDash val="solid"/>
          </a:ln>
        </p:spPr>
      </p:sp>
      <p:sp>
        <p:nvSpPr>
          <p:cNvPr id="8" name="Text 6"/>
          <p:cNvSpPr txBox="1"/>
          <p:nvPr/>
        </p:nvSpPr>
        <p:spPr>
          <a:xfrm>
            <a:off x="804672" y="3895344"/>
            <a:ext cx="4416552"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NSFAS — one clear place to apply</a:t>
            </a:r>
            <a:endParaRPr lang="en-US" sz="1450" dirty="0"/>
          </a:p>
        </p:txBody>
      </p:sp>
      <p:sp>
        <p:nvSpPr>
          <p:cNvPr id="9" name="Text 7"/>
          <p:cNvSpPr txBox="1"/>
          <p:nvPr/>
        </p:nvSpPr>
        <p:spPr>
          <a:xfrm>
            <a:off x="804672" y="4261104"/>
            <a:ext cx="4416552" cy="111556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For families earning under R350 000 a year</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One application, one set of rules, clearly published</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Families earning a little more only get a loan, not a bursary</a:t>
            </a:r>
            <a:endParaRPr lang="en-US" sz="1250" dirty="0"/>
          </a:p>
        </p:txBody>
      </p:sp>
      <p:sp>
        <p:nvSpPr>
          <p:cNvPr id="10" name="Text 8"/>
          <p:cNvSpPr txBox="1"/>
          <p:nvPr/>
        </p:nvSpPr>
        <p:spPr>
          <a:xfrm>
            <a:off x="5824728" y="1572768"/>
            <a:ext cx="5769864" cy="329184"/>
          </a:xfrm>
          <a:prstGeom prst="rect">
            <a:avLst/>
          </a:prstGeom>
          <a:noFill/>
          <a:ln/>
        </p:spPr>
        <p:txBody>
          <a:bodyPr wrap="square" lIns="0" tIns="0" rIns="0" bIns="0" rtlCol="0" anchor="ctr"/>
          <a:lstStyle/>
          <a:p>
            <a:pPr indent="0" marL="0">
              <a:buNone/>
            </a:pPr>
            <a:r>
              <a:rPr lang="en-US" sz="1500" b="1" dirty="0">
                <a:solidFill>
                  <a:srgbClr val="16211C"/>
                </a:solidFill>
                <a:latin typeface="Calibri" pitchFamily="34" charset="0"/>
                <a:ea typeface="Calibri" pitchFamily="34" charset="-122"/>
                <a:cs typeface="Calibri" pitchFamily="34" charset="-120"/>
              </a:rPr>
              <a:t>Every other bursary is spread across many websites</a:t>
            </a:r>
            <a:endParaRPr lang="en-US" sz="1500" dirty="0"/>
          </a:p>
        </p:txBody>
      </p:sp>
      <p:sp>
        <p:nvSpPr>
          <p:cNvPr id="11" name="Text 9"/>
          <p:cNvSpPr txBox="1"/>
          <p:nvPr/>
        </p:nvSpPr>
        <p:spPr>
          <a:xfrm>
            <a:off x="5824728" y="2139696"/>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txBox="1"/>
          <p:nvPr/>
        </p:nvSpPr>
        <p:spPr>
          <a:xfrm>
            <a:off x="6245352" y="2084832"/>
            <a:ext cx="5349240" cy="274320"/>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Bursary listing websites</a:t>
            </a:r>
            <a:endParaRPr lang="en-US" sz="1350" dirty="0"/>
          </a:p>
        </p:txBody>
      </p:sp>
      <p:sp>
        <p:nvSpPr>
          <p:cNvPr id="13" name="Text 11"/>
          <p:cNvSpPr txBox="1"/>
          <p:nvPr/>
        </p:nvSpPr>
        <p:spPr>
          <a:xfrm>
            <a:off x="6245352" y="2368296"/>
            <a:ext cx="5349240" cy="310896"/>
          </a:xfrm>
          <a:prstGeom prst="rect">
            <a:avLst/>
          </a:prstGeom>
          <a:noFill/>
          <a:ln/>
        </p:spPr>
        <p:txBody>
          <a:bodyPr wrap="square" lIns="0" tIns="0" rIns="0" bIns="0" rtlCol="0" anchor="ctr"/>
          <a:lstStyle/>
          <a:p>
            <a:pPr indent="0" marL="0">
              <a:buNone/>
            </a:pPr>
            <a:r>
              <a:rPr lang="en-US" sz="1200" dirty="0">
                <a:solidFill>
                  <a:srgbClr val="5E6B64"/>
                </a:solidFill>
                <a:latin typeface="Calibri" pitchFamily="34" charset="0"/>
                <a:ea typeface="Calibri" pitchFamily="34" charset="-122"/>
                <a:cs typeface="Calibri" pitchFamily="34" charset="-120"/>
              </a:rPr>
              <a:t>Bursaries written up as articles</a:t>
            </a:r>
            <a:endParaRPr lang="en-US" sz="1200" dirty="0"/>
          </a:p>
        </p:txBody>
      </p:sp>
      <p:sp>
        <p:nvSpPr>
          <p:cNvPr id="14" name="Text 12"/>
          <p:cNvSpPr txBox="1"/>
          <p:nvPr/>
        </p:nvSpPr>
        <p:spPr>
          <a:xfrm>
            <a:off x="5824728" y="307238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6245352" y="3017520"/>
            <a:ext cx="5349240" cy="274320"/>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Company websites</a:t>
            </a:r>
            <a:endParaRPr lang="en-US" sz="1350" dirty="0"/>
          </a:p>
        </p:txBody>
      </p:sp>
      <p:sp>
        <p:nvSpPr>
          <p:cNvPr id="16" name="Text 14"/>
          <p:cNvSpPr txBox="1"/>
          <p:nvPr/>
        </p:nvSpPr>
        <p:spPr>
          <a:xfrm>
            <a:off x="6245352" y="3300984"/>
            <a:ext cx="5349240" cy="310896"/>
          </a:xfrm>
          <a:prstGeom prst="rect">
            <a:avLst/>
          </a:prstGeom>
          <a:noFill/>
          <a:ln/>
        </p:spPr>
        <p:txBody>
          <a:bodyPr wrap="square" lIns="0" tIns="0" rIns="0" bIns="0" rtlCol="0" anchor="ctr"/>
          <a:lstStyle/>
          <a:p>
            <a:pPr indent="0" marL="0">
              <a:buNone/>
            </a:pPr>
            <a:r>
              <a:rPr lang="en-US" sz="1200" dirty="0">
                <a:solidFill>
                  <a:srgbClr val="5E6B64"/>
                </a:solidFill>
                <a:latin typeface="Calibri" pitchFamily="34" charset="0"/>
                <a:ea typeface="Calibri" pitchFamily="34" charset="-122"/>
                <a:cs typeface="Calibri" pitchFamily="34" charset="-120"/>
              </a:rPr>
              <a:t>On a careers page, often a PDF to download</a:t>
            </a:r>
            <a:endParaRPr lang="en-US" sz="1200" dirty="0"/>
          </a:p>
        </p:txBody>
      </p:sp>
      <p:sp>
        <p:nvSpPr>
          <p:cNvPr id="17" name="Text 15"/>
          <p:cNvSpPr txBox="1"/>
          <p:nvPr/>
        </p:nvSpPr>
        <p:spPr>
          <a:xfrm>
            <a:off x="5824728" y="400507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6245352" y="3950208"/>
            <a:ext cx="5349240" cy="274320"/>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University aid offices</a:t>
            </a:r>
            <a:endParaRPr lang="en-US" sz="1350" dirty="0"/>
          </a:p>
        </p:txBody>
      </p:sp>
      <p:sp>
        <p:nvSpPr>
          <p:cNvPr id="19" name="Text 17"/>
          <p:cNvSpPr txBox="1"/>
          <p:nvPr/>
        </p:nvSpPr>
        <p:spPr>
          <a:xfrm>
            <a:off x="6245352" y="4233672"/>
            <a:ext cx="5349240" cy="310896"/>
          </a:xfrm>
          <a:prstGeom prst="rect">
            <a:avLst/>
          </a:prstGeom>
          <a:noFill/>
          <a:ln/>
        </p:spPr>
        <p:txBody>
          <a:bodyPr wrap="square" lIns="0" tIns="0" rIns="0" bIns="0" rtlCol="0" anchor="ctr"/>
          <a:lstStyle/>
          <a:p>
            <a:pPr indent="0" marL="0">
              <a:buNone/>
            </a:pPr>
            <a:r>
              <a:rPr lang="en-US" sz="1200" dirty="0">
                <a:solidFill>
                  <a:srgbClr val="5E6B64"/>
                </a:solidFill>
                <a:latin typeface="Calibri" pitchFamily="34" charset="0"/>
                <a:ea typeface="Calibri" pitchFamily="34" charset="-122"/>
                <a:cs typeface="Calibri" pitchFamily="34" charset="-120"/>
              </a:rPr>
              <a:t>Notice boards, emails and campus portals</a:t>
            </a:r>
            <a:endParaRPr lang="en-US" sz="1200" dirty="0"/>
          </a:p>
        </p:txBody>
      </p:sp>
      <p:sp>
        <p:nvSpPr>
          <p:cNvPr id="20" name="Shape 18"/>
          <p:cNvSpPr/>
          <p:nvPr/>
        </p:nvSpPr>
        <p:spPr>
          <a:xfrm>
            <a:off x="5824728" y="4956048"/>
            <a:ext cx="5769864" cy="585216"/>
          </a:xfrm>
          <a:prstGeom prst="roundRect">
            <a:avLst>
              <a:gd name="adj" fmla="val 14063"/>
            </a:avLst>
          </a:prstGeom>
          <a:solidFill>
            <a:srgbClr val="EDF3EF"/>
          </a:solidFill>
          <a:ln w="12700">
            <a:solidFill>
              <a:srgbClr val="EDF3EF"/>
            </a:solidFill>
            <a:prstDash val="solid"/>
          </a:ln>
        </p:spPr>
      </p:sp>
      <p:sp>
        <p:nvSpPr>
          <p:cNvPr id="21" name="Text 19"/>
          <p:cNvSpPr txBox="1"/>
          <p:nvPr/>
        </p:nvSpPr>
        <p:spPr>
          <a:xfrm>
            <a:off x="6062472" y="5120640"/>
            <a:ext cx="5294376" cy="310896"/>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No single list. No shared application form.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Problem Statement</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Every step is done by hand</a:t>
            </a:r>
            <a:endParaRPr lang="en-US" sz="1250" dirty="0"/>
          </a:p>
        </p:txBody>
      </p:sp>
      <p:sp>
        <p:nvSpPr>
          <p:cNvPr id="4" name="Text 2"/>
          <p:cNvSpPr txBox="1"/>
          <p:nvPr/>
        </p:nvSpPr>
        <p:spPr>
          <a:xfrm>
            <a:off x="566928"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Bursaries in</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many places</a:t>
            </a:r>
            <a:endParaRPr lang="en-US" sz="1200" dirty="0"/>
          </a:p>
        </p:txBody>
      </p:sp>
      <p:sp>
        <p:nvSpPr>
          <p:cNvPr id="5" name="Shape 3"/>
          <p:cNvSpPr/>
          <p:nvPr/>
        </p:nvSpPr>
        <p:spPr>
          <a:xfrm>
            <a:off x="2624328" y="1819656"/>
            <a:ext cx="237744" cy="182880"/>
          </a:xfrm>
          <a:prstGeom prst="rightArrow">
            <a:avLst/>
          </a:prstGeom>
          <a:solidFill>
            <a:srgbClr val="9DBFA8"/>
          </a:solidFill>
          <a:ln w="12700">
            <a:solidFill>
              <a:srgbClr val="9DBFA8"/>
            </a:solidFill>
            <a:prstDash val="solid"/>
          </a:ln>
        </p:spPr>
      </p:sp>
      <p:sp>
        <p:nvSpPr>
          <p:cNvPr id="6" name="Text 4"/>
          <p:cNvSpPr txBox="1"/>
          <p:nvPr/>
        </p:nvSpPr>
        <p:spPr>
          <a:xfrm>
            <a:off x="2871216"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Rules written as</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sentences</a:t>
            </a:r>
            <a:endParaRPr lang="en-US" sz="1200" dirty="0"/>
          </a:p>
        </p:txBody>
      </p:sp>
      <p:sp>
        <p:nvSpPr>
          <p:cNvPr id="7" name="Shape 5"/>
          <p:cNvSpPr/>
          <p:nvPr/>
        </p:nvSpPr>
        <p:spPr>
          <a:xfrm>
            <a:off x="4928616" y="1819656"/>
            <a:ext cx="237744" cy="182880"/>
          </a:xfrm>
          <a:prstGeom prst="rightArrow">
            <a:avLst/>
          </a:prstGeom>
          <a:solidFill>
            <a:srgbClr val="9DBFA8"/>
          </a:solidFill>
          <a:ln w="12700">
            <a:solidFill>
              <a:srgbClr val="9DBFA8"/>
            </a:solidFill>
            <a:prstDash val="solid"/>
          </a:ln>
        </p:spPr>
      </p:sp>
      <p:sp>
        <p:nvSpPr>
          <p:cNvPr id="8" name="Text 6"/>
          <p:cNvSpPr txBox="1"/>
          <p:nvPr/>
        </p:nvSpPr>
        <p:spPr>
          <a:xfrm>
            <a:off x="5175504"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Student must</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read and judge</a:t>
            </a:r>
            <a:endParaRPr lang="en-US" sz="1200" dirty="0"/>
          </a:p>
        </p:txBody>
      </p:sp>
      <p:sp>
        <p:nvSpPr>
          <p:cNvPr id="9" name="Shape 7"/>
          <p:cNvSpPr/>
          <p:nvPr/>
        </p:nvSpPr>
        <p:spPr>
          <a:xfrm>
            <a:off x="7232904" y="1819656"/>
            <a:ext cx="237744" cy="182880"/>
          </a:xfrm>
          <a:prstGeom prst="rightArrow">
            <a:avLst/>
          </a:prstGeom>
          <a:solidFill>
            <a:srgbClr val="9DBFA8"/>
          </a:solidFill>
          <a:ln w="12700">
            <a:solidFill>
              <a:srgbClr val="9DBFA8"/>
            </a:solidFill>
            <a:prstDash val="solid"/>
          </a:ln>
        </p:spPr>
      </p:sp>
      <p:sp>
        <p:nvSpPr>
          <p:cNvPr id="10" name="Text 8"/>
          <p:cNvSpPr txBox="1"/>
          <p:nvPr/>
        </p:nvSpPr>
        <p:spPr>
          <a:xfrm>
            <a:off x="7479792"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Same details</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typed again</a:t>
            </a:r>
            <a:endParaRPr lang="en-US" sz="1200" dirty="0"/>
          </a:p>
        </p:txBody>
      </p:sp>
      <p:sp>
        <p:nvSpPr>
          <p:cNvPr id="11" name="Shape 9"/>
          <p:cNvSpPr/>
          <p:nvPr/>
        </p:nvSpPr>
        <p:spPr>
          <a:xfrm>
            <a:off x="9537192" y="1819656"/>
            <a:ext cx="237744" cy="182880"/>
          </a:xfrm>
          <a:prstGeom prst="rightArrow">
            <a:avLst/>
          </a:prstGeom>
          <a:solidFill>
            <a:srgbClr val="9DBFA8"/>
          </a:solidFill>
          <a:ln w="12700">
            <a:solidFill>
              <a:srgbClr val="9DBFA8"/>
            </a:solidFill>
            <a:prstDash val="solid"/>
          </a:ln>
        </p:spPr>
      </p:sp>
      <p:sp>
        <p:nvSpPr>
          <p:cNvPr id="12" name="Text 10"/>
          <p:cNvSpPr txBox="1"/>
          <p:nvPr/>
        </p:nvSpPr>
        <p:spPr>
          <a:xfrm>
            <a:off x="9784080"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A different form</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every time</a:t>
            </a:r>
            <a:endParaRPr lang="en-US" sz="1200" dirty="0"/>
          </a:p>
        </p:txBody>
      </p:sp>
      <p:sp>
        <p:nvSpPr>
          <p:cNvPr id="13" name="Shape 11"/>
          <p:cNvSpPr/>
          <p:nvPr/>
        </p:nvSpPr>
        <p:spPr>
          <a:xfrm>
            <a:off x="566928" y="2688336"/>
            <a:ext cx="5513832" cy="2139696"/>
          </a:xfrm>
          <a:prstGeom prst="roundRect">
            <a:avLst>
              <a:gd name="adj" fmla="val 3846"/>
            </a:avLst>
          </a:prstGeom>
          <a:solidFill>
            <a:srgbClr val="EDF3EF"/>
          </a:solidFill>
          <a:ln w="12700">
            <a:solidFill>
              <a:srgbClr val="EDF3EF"/>
            </a:solidFill>
            <a:prstDash val="solid"/>
          </a:ln>
        </p:spPr>
      </p:sp>
      <p:sp>
        <p:nvSpPr>
          <p:cNvPr id="14" name="Text 12"/>
          <p:cNvSpPr txBox="1"/>
          <p:nvPr/>
        </p:nvSpPr>
        <p:spPr>
          <a:xfrm>
            <a:off x="804672" y="2852928"/>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For students</a:t>
            </a:r>
            <a:endParaRPr lang="en-US" sz="1450" dirty="0"/>
          </a:p>
        </p:txBody>
      </p:sp>
      <p:sp>
        <p:nvSpPr>
          <p:cNvPr id="15" name="Text 13"/>
          <p:cNvSpPr txBox="1"/>
          <p:nvPr/>
        </p:nvSpPr>
        <p:spPr>
          <a:xfrm>
            <a:off x="804672" y="3218688"/>
            <a:ext cx="5038344" cy="14447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They must read and decide if they qualify, which is easy to get wrong</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Time wasted on bursaries they never qualified for</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The same details written out again on every form</a:t>
            </a:r>
            <a:endParaRPr lang="en-US" sz="1250" dirty="0"/>
          </a:p>
        </p:txBody>
      </p:sp>
      <p:sp>
        <p:nvSpPr>
          <p:cNvPr id="16" name="Shape 14"/>
          <p:cNvSpPr/>
          <p:nvPr/>
        </p:nvSpPr>
        <p:spPr>
          <a:xfrm>
            <a:off x="6446520" y="2688336"/>
            <a:ext cx="5513832" cy="2139696"/>
          </a:xfrm>
          <a:prstGeom prst="roundRect">
            <a:avLst>
              <a:gd name="adj" fmla="val 3846"/>
            </a:avLst>
          </a:prstGeom>
          <a:solidFill>
            <a:srgbClr val="EDF3EF"/>
          </a:solidFill>
          <a:ln w="12700">
            <a:solidFill>
              <a:srgbClr val="EDF3EF"/>
            </a:solidFill>
            <a:prstDash val="solid"/>
          </a:ln>
        </p:spPr>
      </p:sp>
      <p:sp>
        <p:nvSpPr>
          <p:cNvPr id="17" name="Text 15"/>
          <p:cNvSpPr txBox="1"/>
          <p:nvPr/>
        </p:nvSpPr>
        <p:spPr>
          <a:xfrm>
            <a:off x="6684264" y="2852928"/>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For companies that give bursaries</a:t>
            </a:r>
            <a:endParaRPr lang="en-US" sz="1450" dirty="0"/>
          </a:p>
        </p:txBody>
      </p:sp>
      <p:sp>
        <p:nvSpPr>
          <p:cNvPr id="18" name="Text 16"/>
          <p:cNvSpPr txBox="1"/>
          <p:nvPr/>
        </p:nvSpPr>
        <p:spPr>
          <a:xfrm>
            <a:off x="6684264" y="3218688"/>
            <a:ext cx="5038344" cy="14447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Applications arrive by email, all in different formats</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Checking is done by hand, so it is slow and uneven</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No clear record of why someone was turned down</a:t>
            </a:r>
            <a:endParaRPr lang="en-US" sz="1250" dirty="0"/>
          </a:p>
        </p:txBody>
      </p:sp>
      <p:sp>
        <p:nvSpPr>
          <p:cNvPr id="19" name="Shape 17"/>
          <p:cNvSpPr/>
          <p:nvPr/>
        </p:nvSpPr>
        <p:spPr>
          <a:xfrm>
            <a:off x="566928" y="5138928"/>
            <a:ext cx="11027664" cy="1097280"/>
          </a:xfrm>
          <a:prstGeom prst="roundRect">
            <a:avLst>
              <a:gd name="adj" fmla="val 7500"/>
            </a:avLst>
          </a:prstGeom>
          <a:solidFill>
            <a:srgbClr val="0B2E24"/>
          </a:solidFill>
          <a:ln w="12700">
            <a:solidFill>
              <a:srgbClr val="0B2E24"/>
            </a:solidFill>
            <a:prstDash val="solid"/>
          </a:ln>
        </p:spPr>
      </p:sp>
      <p:sp>
        <p:nvSpPr>
          <p:cNvPr id="20" name="Text 18"/>
          <p:cNvSpPr txBox="1"/>
          <p:nvPr/>
        </p:nvSpPr>
        <p:spPr>
          <a:xfrm>
            <a:off x="841248" y="5248656"/>
            <a:ext cx="10479024" cy="877824"/>
          </a:xfrm>
          <a:prstGeom prst="rect">
            <a:avLst/>
          </a:prstGeom>
          <a:noFill/>
          <a:ln/>
        </p:spPr>
        <p:txBody>
          <a:bodyPr wrap="square" lIns="0" tIns="0" rIns="0" bIns="0" rtlCol="0" anchor="ctr"/>
          <a:lstStyle/>
          <a:p>
            <a:pPr indent="0" marL="0">
              <a:lnSpc>
                <a:spcPct val="115000"/>
              </a:lnSpc>
              <a:buNone/>
            </a:pPr>
            <a:r>
              <a:rPr lang="en-US" sz="1300" b="1" dirty="0">
                <a:solidFill>
                  <a:srgbClr val="C08A2E"/>
                </a:solidFill>
                <a:latin typeface="Calibri" pitchFamily="34" charset="0"/>
                <a:ea typeface="Calibri" pitchFamily="34" charset="-122"/>
                <a:cs typeface="Calibri" pitchFamily="34" charset="-120"/>
              </a:rPr>
              <a:t>We measured it.  </a:t>
            </a:r>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We checked 13 pages on South Africa’s biggest bursary website. Only </a:t>
            </a:r>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189 bursaries</a:t>
            </a:r>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 clearly showed who gives them, the closing date, and where the information came from. We left out the rest instead of guessing.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Goal and Objectives</a:t>
            </a:r>
            <a:endParaRPr lang="en-US" sz="3100" dirty="0"/>
          </a:p>
        </p:txBody>
      </p:sp>
      <p:sp>
        <p:nvSpPr>
          <p:cNvPr id="3" name="Shape 1"/>
          <p:cNvSpPr/>
          <p:nvPr/>
        </p:nvSpPr>
        <p:spPr>
          <a:xfrm>
            <a:off x="566928" y="1152144"/>
            <a:ext cx="11027664" cy="1133856"/>
          </a:xfrm>
          <a:prstGeom prst="roundRect">
            <a:avLst>
              <a:gd name="adj" fmla="val 7258"/>
            </a:avLst>
          </a:prstGeom>
          <a:solidFill>
            <a:srgbClr val="0F5132"/>
          </a:solidFill>
          <a:ln w="12700">
            <a:solidFill>
              <a:srgbClr val="0F5132"/>
            </a:solidFill>
            <a:prstDash val="solid"/>
          </a:ln>
        </p:spPr>
      </p:sp>
      <p:sp>
        <p:nvSpPr>
          <p:cNvPr id="4" name="Text 2"/>
          <p:cNvSpPr txBox="1"/>
          <p:nvPr/>
        </p:nvSpPr>
        <p:spPr>
          <a:xfrm>
            <a:off x="859536" y="1280160"/>
            <a:ext cx="1280160" cy="256032"/>
          </a:xfrm>
          <a:prstGeom prst="rect">
            <a:avLst/>
          </a:prstGeom>
          <a:noFill/>
          <a:ln/>
        </p:spPr>
        <p:txBody>
          <a:bodyPr wrap="square" lIns="0" tIns="0" rIns="0" bIns="0" rtlCol="0" anchor="ctr"/>
          <a:lstStyle/>
          <a:p>
            <a:pPr indent="0" marL="0">
              <a:buNone/>
            </a:pPr>
            <a:r>
              <a:rPr lang="en-US" sz="1150" b="1" spc="120" kern="0" dirty="0">
                <a:solidFill>
                  <a:srgbClr val="9DBFA8"/>
                </a:solidFill>
                <a:latin typeface="Calibri" pitchFamily="34" charset="0"/>
                <a:ea typeface="Calibri" pitchFamily="34" charset="-122"/>
                <a:cs typeface="Calibri" pitchFamily="34" charset="-120"/>
              </a:rPr>
              <a:t>GOAL</a:t>
            </a:r>
            <a:endParaRPr lang="en-US" sz="1150" dirty="0"/>
          </a:p>
        </p:txBody>
      </p:sp>
      <p:sp>
        <p:nvSpPr>
          <p:cNvPr id="5" name="Text 3"/>
          <p:cNvSpPr txBox="1"/>
          <p:nvPr/>
        </p:nvSpPr>
        <p:spPr>
          <a:xfrm>
            <a:off x="859536" y="1536192"/>
            <a:ext cx="10442448" cy="64008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Calibri" pitchFamily="34" charset="0"/>
                <a:ea typeface="Calibri" pitchFamily="34" charset="-122"/>
                <a:cs typeface="Calibri" pitchFamily="34" charset="-120"/>
              </a:rPr>
              <a:t>Match South African students to bursaries they qualify for, show the reason for every match, and give companies one place to advertise bursaries and manage the applications they get.</a:t>
            </a:r>
            <a:endParaRPr lang="en-US" sz="1400" dirty="0"/>
          </a:p>
        </p:txBody>
      </p:sp>
      <p:sp>
        <p:nvSpPr>
          <p:cNvPr id="6" name="Text 4"/>
          <p:cNvSpPr txBox="1"/>
          <p:nvPr/>
        </p:nvSpPr>
        <p:spPr>
          <a:xfrm>
            <a:off x="566928" y="2651760"/>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987552" y="2596896"/>
            <a:ext cx="5093208" cy="877824"/>
          </a:xfrm>
          <a:prstGeom prst="rect">
            <a:avLst/>
          </a:prstGeom>
          <a:noFill/>
          <a:ln/>
        </p:spPr>
        <p:txBody>
          <a:bodyPr wrap="square" lIns="0" tIns="0" rIns="0" bIns="0" rtlCol="0" anchor="t"/>
          <a:lstStyle/>
          <a:p>
            <a:pPr indent="0" marL="0">
              <a:lnSpc>
                <a:spcPct val="116000"/>
              </a:lnSpc>
              <a:buNone/>
            </a:pPr>
            <a:r>
              <a:rPr lang="en-US" sz="1400" b="1" dirty="0">
                <a:solidFill>
                  <a:srgbClr val="0F5132"/>
                </a:solidFill>
                <a:latin typeface="Calibri" pitchFamily="34" charset="0"/>
                <a:ea typeface="Calibri" pitchFamily="34" charset="-122"/>
                <a:cs typeface="Calibri" pitchFamily="34" charset="-120"/>
              </a:rPr>
              <a:t>DESIGN  </a:t>
            </a:r>
            <a:pPr indent="0" marL="0">
              <a:lnSpc>
                <a:spcPct val="116000"/>
              </a:lnSpc>
              <a:buNone/>
            </a:pPr>
            <a:r>
              <a:rPr lang="en-US" sz="1250" dirty="0">
                <a:solidFill>
                  <a:srgbClr val="16211C"/>
                </a:solidFill>
                <a:latin typeface="Calibri" pitchFamily="34" charset="0"/>
                <a:ea typeface="Calibri" pitchFamily="34" charset="-122"/>
                <a:cs typeface="Calibri" pitchFamily="34" charset="-120"/>
              </a:rPr>
              <a:t>a database that stores what a bursary needs as rules a computer can check</a:t>
            </a:r>
            <a:endParaRPr lang="en-US" sz="1400" dirty="0"/>
          </a:p>
        </p:txBody>
      </p:sp>
      <p:sp>
        <p:nvSpPr>
          <p:cNvPr id="8" name="Text 6"/>
          <p:cNvSpPr txBox="1"/>
          <p:nvPr/>
        </p:nvSpPr>
        <p:spPr>
          <a:xfrm>
            <a:off x="6446520" y="2651760"/>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6867144" y="2596896"/>
            <a:ext cx="5093208" cy="877824"/>
          </a:xfrm>
          <a:prstGeom prst="rect">
            <a:avLst/>
          </a:prstGeom>
          <a:noFill/>
          <a:ln/>
        </p:spPr>
        <p:txBody>
          <a:bodyPr wrap="square" lIns="0" tIns="0" rIns="0" bIns="0" rtlCol="0" anchor="t"/>
          <a:lstStyle/>
          <a:p>
            <a:pPr indent="0" marL="0">
              <a:lnSpc>
                <a:spcPct val="116000"/>
              </a:lnSpc>
              <a:buNone/>
            </a:pPr>
            <a:r>
              <a:rPr lang="en-US" sz="1400" b="1" dirty="0">
                <a:solidFill>
                  <a:srgbClr val="0F5132"/>
                </a:solidFill>
                <a:latin typeface="Calibri" pitchFamily="34" charset="0"/>
                <a:ea typeface="Calibri" pitchFamily="34" charset="-122"/>
                <a:cs typeface="Calibri" pitchFamily="34" charset="-120"/>
              </a:rPr>
              <a:t>BUILD  </a:t>
            </a:r>
            <a:pPr indent="0" marL="0">
              <a:lnSpc>
                <a:spcPct val="116000"/>
              </a:lnSpc>
              <a:buNone/>
            </a:pPr>
            <a:r>
              <a:rPr lang="en-US" sz="1250" dirty="0">
                <a:solidFill>
                  <a:srgbClr val="16211C"/>
                </a:solidFill>
                <a:latin typeface="Calibri" pitchFamily="34" charset="0"/>
                <a:ea typeface="Calibri" pitchFamily="34" charset="-122"/>
                <a:cs typeface="Calibri" pitchFamily="34" charset="-120"/>
              </a:rPr>
              <a:t>a matching engine that gives a score and the reason for every rule</a:t>
            </a:r>
            <a:endParaRPr lang="en-US" sz="1400" dirty="0"/>
          </a:p>
        </p:txBody>
      </p:sp>
      <p:sp>
        <p:nvSpPr>
          <p:cNvPr id="10" name="Text 8"/>
          <p:cNvSpPr txBox="1"/>
          <p:nvPr/>
        </p:nvSpPr>
        <p:spPr>
          <a:xfrm>
            <a:off x="566928" y="391363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987552" y="3858768"/>
            <a:ext cx="5093208" cy="877824"/>
          </a:xfrm>
          <a:prstGeom prst="rect">
            <a:avLst/>
          </a:prstGeom>
          <a:noFill/>
          <a:ln/>
        </p:spPr>
        <p:txBody>
          <a:bodyPr wrap="square" lIns="0" tIns="0" rIns="0" bIns="0" rtlCol="0" anchor="t"/>
          <a:lstStyle/>
          <a:p>
            <a:pPr indent="0" marL="0">
              <a:lnSpc>
                <a:spcPct val="116000"/>
              </a:lnSpc>
              <a:buNone/>
            </a:pPr>
            <a:r>
              <a:rPr lang="en-US" sz="1400" b="1" dirty="0">
                <a:solidFill>
                  <a:srgbClr val="0F5132"/>
                </a:solidFill>
                <a:latin typeface="Calibri" pitchFamily="34" charset="0"/>
                <a:ea typeface="Calibri" pitchFamily="34" charset="-122"/>
                <a:cs typeface="Calibri" pitchFamily="34" charset="-120"/>
              </a:rPr>
              <a:t>DEVELOP  </a:t>
            </a:r>
            <a:pPr indent="0" marL="0">
              <a:lnSpc>
                <a:spcPct val="116000"/>
              </a:lnSpc>
              <a:buNone/>
            </a:pPr>
            <a:r>
              <a:rPr lang="en-US" sz="1250" dirty="0">
                <a:solidFill>
                  <a:srgbClr val="16211C"/>
                </a:solidFill>
                <a:latin typeface="Calibri" pitchFamily="34" charset="0"/>
                <a:ea typeface="Calibri" pitchFamily="34" charset="-122"/>
                <a:cs typeface="Calibri" pitchFamily="34" charset="-120"/>
              </a:rPr>
              <a:t>the student side: one profile, ranked bursaries, and applying online</a:t>
            </a:r>
            <a:endParaRPr lang="en-US" sz="1400" dirty="0"/>
          </a:p>
        </p:txBody>
      </p:sp>
      <p:sp>
        <p:nvSpPr>
          <p:cNvPr id="12" name="Text 10"/>
          <p:cNvSpPr txBox="1"/>
          <p:nvPr/>
        </p:nvSpPr>
        <p:spPr>
          <a:xfrm>
            <a:off x="6446520" y="391363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3" name="Text 11"/>
          <p:cNvSpPr txBox="1"/>
          <p:nvPr/>
        </p:nvSpPr>
        <p:spPr>
          <a:xfrm>
            <a:off x="6867144" y="3858768"/>
            <a:ext cx="5093208" cy="877824"/>
          </a:xfrm>
          <a:prstGeom prst="rect">
            <a:avLst/>
          </a:prstGeom>
          <a:noFill/>
          <a:ln/>
        </p:spPr>
        <p:txBody>
          <a:bodyPr wrap="square" lIns="0" tIns="0" rIns="0" bIns="0" rtlCol="0" anchor="t"/>
          <a:lstStyle/>
          <a:p>
            <a:pPr indent="0" marL="0">
              <a:lnSpc>
                <a:spcPct val="116000"/>
              </a:lnSpc>
              <a:buNone/>
            </a:pPr>
            <a:r>
              <a:rPr lang="en-US" sz="1400" b="1" dirty="0">
                <a:solidFill>
                  <a:srgbClr val="0F5132"/>
                </a:solidFill>
                <a:latin typeface="Calibri" pitchFamily="34" charset="0"/>
                <a:ea typeface="Calibri" pitchFamily="34" charset="-122"/>
                <a:cs typeface="Calibri" pitchFamily="34" charset="-120"/>
              </a:rPr>
              <a:t>DEVELOP  </a:t>
            </a:r>
            <a:pPr indent="0" marL="0">
              <a:lnSpc>
                <a:spcPct val="116000"/>
              </a:lnSpc>
              <a:buNone/>
            </a:pPr>
            <a:r>
              <a:rPr lang="en-US" sz="1250" dirty="0">
                <a:solidFill>
                  <a:srgbClr val="16211C"/>
                </a:solidFill>
                <a:latin typeface="Calibri" pitchFamily="34" charset="0"/>
                <a:ea typeface="Calibri" pitchFamily="34" charset="-122"/>
                <a:cs typeface="Calibri" pitchFamily="34" charset="-120"/>
              </a:rPr>
              <a:t>the company side: advertise a bursary, review, shortlist and choose</a:t>
            </a:r>
            <a:endParaRPr lang="en-US" sz="1400" dirty="0"/>
          </a:p>
        </p:txBody>
      </p:sp>
      <p:sp>
        <p:nvSpPr>
          <p:cNvPr id="14" name="Text 12"/>
          <p:cNvSpPr txBox="1"/>
          <p:nvPr/>
        </p:nvSpPr>
        <p:spPr>
          <a:xfrm>
            <a:off x="566928" y="517550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987552" y="5120640"/>
            <a:ext cx="5093208" cy="877824"/>
          </a:xfrm>
          <a:prstGeom prst="rect">
            <a:avLst/>
          </a:prstGeom>
          <a:noFill/>
          <a:ln/>
        </p:spPr>
        <p:txBody>
          <a:bodyPr wrap="square" lIns="0" tIns="0" rIns="0" bIns="0" rtlCol="0" anchor="t"/>
          <a:lstStyle/>
          <a:p>
            <a:pPr indent="0" marL="0">
              <a:lnSpc>
                <a:spcPct val="116000"/>
              </a:lnSpc>
              <a:buNone/>
            </a:pPr>
            <a:r>
              <a:rPr lang="en-US" sz="1400" b="1" dirty="0">
                <a:solidFill>
                  <a:srgbClr val="0F5132"/>
                </a:solidFill>
                <a:latin typeface="Calibri" pitchFamily="34" charset="0"/>
                <a:ea typeface="Calibri" pitchFamily="34" charset="-122"/>
                <a:cs typeface="Calibri" pitchFamily="34" charset="-120"/>
              </a:rPr>
              <a:t>COLLECT  </a:t>
            </a:r>
            <a:pPr indent="0" marL="0">
              <a:lnSpc>
                <a:spcPct val="116000"/>
              </a:lnSpc>
              <a:buNone/>
            </a:pPr>
            <a:r>
              <a:rPr lang="en-US" sz="1250" dirty="0">
                <a:solidFill>
                  <a:srgbClr val="16211C"/>
                </a:solidFill>
                <a:latin typeface="Calibri" pitchFamily="34" charset="0"/>
                <a:ea typeface="Calibri" pitchFamily="34" charset="-122"/>
                <a:cs typeface="Calibri" pitchFamily="34" charset="-120"/>
              </a:rPr>
              <a:t>real bursaries from named websites, saving where each one came from</a:t>
            </a:r>
            <a:endParaRPr lang="en-US" sz="1400" dirty="0"/>
          </a:p>
        </p:txBody>
      </p:sp>
      <p:sp>
        <p:nvSpPr>
          <p:cNvPr id="16" name="Text 14"/>
          <p:cNvSpPr txBox="1"/>
          <p:nvPr/>
        </p:nvSpPr>
        <p:spPr>
          <a:xfrm>
            <a:off x="6446520" y="517550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17" name="Text 15"/>
          <p:cNvSpPr txBox="1"/>
          <p:nvPr/>
        </p:nvSpPr>
        <p:spPr>
          <a:xfrm>
            <a:off x="6867144" y="5120640"/>
            <a:ext cx="5093208" cy="877824"/>
          </a:xfrm>
          <a:prstGeom prst="rect">
            <a:avLst/>
          </a:prstGeom>
          <a:noFill/>
          <a:ln/>
        </p:spPr>
        <p:txBody>
          <a:bodyPr wrap="square" lIns="0" tIns="0" rIns="0" bIns="0" rtlCol="0" anchor="t"/>
          <a:lstStyle/>
          <a:p>
            <a:pPr indent="0" marL="0">
              <a:lnSpc>
                <a:spcPct val="116000"/>
              </a:lnSpc>
              <a:buNone/>
            </a:pPr>
            <a:r>
              <a:rPr lang="en-US" sz="1400" b="1" dirty="0">
                <a:solidFill>
                  <a:srgbClr val="0F5132"/>
                </a:solidFill>
                <a:latin typeface="Calibri" pitchFamily="34" charset="0"/>
                <a:ea typeface="Calibri" pitchFamily="34" charset="-122"/>
                <a:cs typeface="Calibri" pitchFamily="34" charset="-120"/>
              </a:rPr>
              <a:t>TEST  </a:t>
            </a:r>
            <a:pPr indent="0" marL="0">
              <a:lnSpc>
                <a:spcPct val="116000"/>
              </a:lnSpc>
              <a:buNone/>
            </a:pPr>
            <a:r>
              <a:rPr lang="en-US" sz="1250" dirty="0">
                <a:solidFill>
                  <a:srgbClr val="16211C"/>
                </a:solidFill>
                <a:latin typeface="Calibri" pitchFamily="34" charset="0"/>
                <a:ea typeface="Calibri" pitchFamily="34" charset="-122"/>
                <a:cs typeface="Calibri" pitchFamily="34" charset="-120"/>
              </a:rPr>
              <a:t>the whole system, and check every requirement was really built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The Proposed Solution</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One student profile, one set of bursary rules, and matching in between</a:t>
            </a:r>
            <a:endParaRPr lang="en-US" sz="1250" dirty="0"/>
          </a:p>
        </p:txBody>
      </p:sp>
      <p:sp>
        <p:nvSpPr>
          <p:cNvPr id="4" name="Shape 2"/>
          <p:cNvSpPr/>
          <p:nvPr/>
        </p:nvSpPr>
        <p:spPr>
          <a:xfrm>
            <a:off x="3977640" y="1481328"/>
            <a:ext cx="4206240" cy="658368"/>
          </a:xfrm>
          <a:prstGeom prst="roundRect">
            <a:avLst>
              <a:gd name="adj" fmla="val 12500"/>
            </a:avLst>
          </a:prstGeom>
          <a:solidFill>
            <a:srgbClr val="0F5132"/>
          </a:solidFill>
          <a:ln w="12700">
            <a:solidFill>
              <a:srgbClr val="0F5132"/>
            </a:solidFill>
            <a:prstDash val="solid"/>
          </a:ln>
        </p:spPr>
      </p:sp>
      <p:sp>
        <p:nvSpPr>
          <p:cNvPr id="5" name="Text 3"/>
          <p:cNvSpPr txBox="1"/>
          <p:nvPr/>
        </p:nvSpPr>
        <p:spPr>
          <a:xfrm>
            <a:off x="3977640" y="1481328"/>
            <a:ext cx="4206240" cy="658368"/>
          </a:xfrm>
          <a:prstGeom prst="rect">
            <a:avLst/>
          </a:prstGeom>
          <a:noFill/>
          <a:ln/>
        </p:spPr>
        <p:txBody>
          <a:bodyPr wrap="square" lIns="0" tIns="0" rIns="0" bIns="0" rtlCol="0" anchor="ctr"/>
          <a:lstStyle/>
          <a:p>
            <a:pPr algn="ctr" indent="0" marL="0">
              <a:buNone/>
            </a:pPr>
            <a:r>
              <a:rPr lang="en-US" sz="1600" b="1" spc="140" kern="0" dirty="0">
                <a:solidFill>
                  <a:srgbClr val="FFFFFF"/>
                </a:solidFill>
                <a:latin typeface="Calibri" pitchFamily="34" charset="0"/>
                <a:ea typeface="Calibri" pitchFamily="34" charset="-122"/>
                <a:cs typeface="Calibri" pitchFamily="34" charset="-120"/>
              </a:rPr>
              <a:t>BURSARY-BRIDGE</a:t>
            </a:r>
            <a:endParaRPr lang="en-US" sz="1600" dirty="0"/>
          </a:p>
        </p:txBody>
      </p:sp>
      <p:sp>
        <p:nvSpPr>
          <p:cNvPr id="6" name="Text 4"/>
          <p:cNvSpPr txBox="1"/>
          <p:nvPr/>
        </p:nvSpPr>
        <p:spPr>
          <a:xfrm>
            <a:off x="886968" y="2487168"/>
            <a:ext cx="5120640" cy="274320"/>
          </a:xfrm>
          <a:prstGeom prst="rect">
            <a:avLst/>
          </a:prstGeom>
          <a:noFill/>
          <a:ln/>
        </p:spPr>
        <p:txBody>
          <a:bodyPr wrap="square" lIns="0" tIns="0" rIns="0" bIns="0" rtlCol="0" anchor="ctr"/>
          <a:lstStyle/>
          <a:p>
            <a:pPr algn="ctr" indent="0" marL="0">
              <a:buNone/>
            </a:pPr>
            <a:r>
              <a:rPr lang="en-US" sz="1200" b="1" spc="120" kern="0" dirty="0">
                <a:solidFill>
                  <a:srgbClr val="5E6B64"/>
                </a:solidFill>
                <a:latin typeface="Calibri" pitchFamily="34" charset="0"/>
                <a:ea typeface="Calibri" pitchFamily="34" charset="-122"/>
                <a:cs typeface="Calibri" pitchFamily="34" charset="-120"/>
              </a:rPr>
              <a:t>STUDENTS</a:t>
            </a:r>
            <a:endParaRPr lang="en-US" sz="1200" dirty="0"/>
          </a:p>
        </p:txBody>
      </p:sp>
      <p:sp>
        <p:nvSpPr>
          <p:cNvPr id="7" name="Text 5"/>
          <p:cNvSpPr txBox="1"/>
          <p:nvPr/>
        </p:nvSpPr>
        <p:spPr>
          <a:xfrm>
            <a:off x="886968" y="2871216"/>
            <a:ext cx="5120640" cy="548640"/>
          </a:xfrm>
          <a:prstGeom prst="roundRect">
            <a:avLst>
              <a:gd name="adj" fmla="val 13333"/>
            </a:avLst>
          </a:prstGeom>
          <a:solidFill>
            <a:srgbClr val="EDF3E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Fills in their details once</a:t>
            </a:r>
            <a:endParaRPr lang="en-US" sz="1250" dirty="0"/>
          </a:p>
        </p:txBody>
      </p:sp>
      <p:sp>
        <p:nvSpPr>
          <p:cNvPr id="8" name="Shape 6"/>
          <p:cNvSpPr/>
          <p:nvPr/>
        </p:nvSpPr>
        <p:spPr>
          <a:xfrm>
            <a:off x="3346704" y="3438144"/>
            <a:ext cx="201168" cy="201168"/>
          </a:xfrm>
          <a:prstGeom prst="downArrow">
            <a:avLst/>
          </a:prstGeom>
          <a:solidFill>
            <a:srgbClr val="9DBFA8"/>
          </a:solidFill>
          <a:ln w="12700">
            <a:solidFill>
              <a:srgbClr val="9DBFA8"/>
            </a:solidFill>
            <a:prstDash val="solid"/>
          </a:ln>
        </p:spPr>
      </p:sp>
      <p:sp>
        <p:nvSpPr>
          <p:cNvPr id="9" name="Text 7"/>
          <p:cNvSpPr txBox="1"/>
          <p:nvPr/>
        </p:nvSpPr>
        <p:spPr>
          <a:xfrm>
            <a:off x="886968" y="3657600"/>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System checks the rules and scores the match</a:t>
            </a:r>
            <a:endParaRPr lang="en-US" sz="1250" dirty="0"/>
          </a:p>
        </p:txBody>
      </p:sp>
      <p:sp>
        <p:nvSpPr>
          <p:cNvPr id="10" name="Shape 8"/>
          <p:cNvSpPr/>
          <p:nvPr/>
        </p:nvSpPr>
        <p:spPr>
          <a:xfrm>
            <a:off x="3346704" y="4224528"/>
            <a:ext cx="201168" cy="201168"/>
          </a:xfrm>
          <a:prstGeom prst="downArrow">
            <a:avLst/>
          </a:prstGeom>
          <a:solidFill>
            <a:srgbClr val="9DBFA8"/>
          </a:solidFill>
          <a:ln w="12700">
            <a:solidFill>
              <a:srgbClr val="9DBFA8"/>
            </a:solidFill>
            <a:prstDash val="solid"/>
          </a:ln>
        </p:spPr>
      </p:sp>
      <p:sp>
        <p:nvSpPr>
          <p:cNvPr id="11" name="Text 9"/>
          <p:cNvSpPr txBox="1"/>
          <p:nvPr/>
        </p:nvSpPr>
        <p:spPr>
          <a:xfrm>
            <a:off x="886968" y="4443984"/>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Gets a ranked list, with reasons</a:t>
            </a:r>
            <a:endParaRPr lang="en-US" sz="1250" dirty="0"/>
          </a:p>
        </p:txBody>
      </p:sp>
      <p:sp>
        <p:nvSpPr>
          <p:cNvPr id="12" name="Shape 10"/>
          <p:cNvSpPr/>
          <p:nvPr/>
        </p:nvSpPr>
        <p:spPr>
          <a:xfrm>
            <a:off x="3346704" y="5010912"/>
            <a:ext cx="201168" cy="201168"/>
          </a:xfrm>
          <a:prstGeom prst="downArrow">
            <a:avLst/>
          </a:prstGeom>
          <a:solidFill>
            <a:srgbClr val="9DBFA8"/>
          </a:solidFill>
          <a:ln w="12700">
            <a:solidFill>
              <a:srgbClr val="9DBFA8"/>
            </a:solidFill>
            <a:prstDash val="solid"/>
          </a:ln>
        </p:spPr>
      </p:sp>
      <p:sp>
        <p:nvSpPr>
          <p:cNvPr id="13" name="Text 11"/>
          <p:cNvSpPr txBox="1"/>
          <p:nvPr/>
        </p:nvSpPr>
        <p:spPr>
          <a:xfrm>
            <a:off x="886968" y="5230368"/>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Applies using details already saved</a:t>
            </a:r>
            <a:endParaRPr lang="en-US" sz="1250" dirty="0"/>
          </a:p>
        </p:txBody>
      </p:sp>
      <p:sp>
        <p:nvSpPr>
          <p:cNvPr id="14" name="Text 12"/>
          <p:cNvSpPr txBox="1"/>
          <p:nvPr/>
        </p:nvSpPr>
        <p:spPr>
          <a:xfrm>
            <a:off x="6153912" y="2487168"/>
            <a:ext cx="5120640" cy="274320"/>
          </a:xfrm>
          <a:prstGeom prst="rect">
            <a:avLst/>
          </a:prstGeom>
          <a:noFill/>
          <a:ln/>
        </p:spPr>
        <p:txBody>
          <a:bodyPr wrap="square" lIns="0" tIns="0" rIns="0" bIns="0" rtlCol="0" anchor="ctr"/>
          <a:lstStyle/>
          <a:p>
            <a:pPr algn="ctr" indent="0" marL="0">
              <a:buNone/>
            </a:pPr>
            <a:r>
              <a:rPr lang="en-US" sz="1200" b="1" spc="120" kern="0" dirty="0">
                <a:solidFill>
                  <a:srgbClr val="5E6B64"/>
                </a:solidFill>
                <a:latin typeface="Calibri" pitchFamily="34" charset="0"/>
                <a:ea typeface="Calibri" pitchFamily="34" charset="-122"/>
                <a:cs typeface="Calibri" pitchFamily="34" charset="-120"/>
              </a:rPr>
              <a:t>COMPANIES GIVING BURSARIES</a:t>
            </a:r>
            <a:endParaRPr lang="en-US" sz="1200" dirty="0"/>
          </a:p>
        </p:txBody>
      </p:sp>
      <p:sp>
        <p:nvSpPr>
          <p:cNvPr id="15" name="Text 13"/>
          <p:cNvSpPr txBox="1"/>
          <p:nvPr/>
        </p:nvSpPr>
        <p:spPr>
          <a:xfrm>
            <a:off x="6153912" y="2871216"/>
            <a:ext cx="5120640" cy="548640"/>
          </a:xfrm>
          <a:prstGeom prst="roundRect">
            <a:avLst>
              <a:gd name="adj" fmla="val 13333"/>
            </a:avLst>
          </a:prstGeom>
          <a:solidFill>
            <a:srgbClr val="EDF3E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Advertises a bursary with clear rules</a:t>
            </a:r>
            <a:endParaRPr lang="en-US" sz="1250" dirty="0"/>
          </a:p>
        </p:txBody>
      </p:sp>
      <p:sp>
        <p:nvSpPr>
          <p:cNvPr id="16" name="Shape 14"/>
          <p:cNvSpPr/>
          <p:nvPr/>
        </p:nvSpPr>
        <p:spPr>
          <a:xfrm>
            <a:off x="8613648" y="3438144"/>
            <a:ext cx="201168" cy="201168"/>
          </a:xfrm>
          <a:prstGeom prst="downArrow">
            <a:avLst/>
          </a:prstGeom>
          <a:solidFill>
            <a:srgbClr val="9DBFA8"/>
          </a:solidFill>
          <a:ln w="12700">
            <a:solidFill>
              <a:srgbClr val="9DBFA8"/>
            </a:solidFill>
            <a:prstDash val="solid"/>
          </a:ln>
        </p:spPr>
      </p:sp>
      <p:sp>
        <p:nvSpPr>
          <p:cNvPr id="17" name="Text 15"/>
          <p:cNvSpPr txBox="1"/>
          <p:nvPr/>
        </p:nvSpPr>
        <p:spPr>
          <a:xfrm>
            <a:off x="6153912" y="3657600"/>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Applications arrive already organised</a:t>
            </a:r>
            <a:endParaRPr lang="en-US" sz="1250" dirty="0"/>
          </a:p>
        </p:txBody>
      </p:sp>
      <p:sp>
        <p:nvSpPr>
          <p:cNvPr id="18" name="Shape 16"/>
          <p:cNvSpPr/>
          <p:nvPr/>
        </p:nvSpPr>
        <p:spPr>
          <a:xfrm>
            <a:off x="8613648" y="4224528"/>
            <a:ext cx="201168" cy="201168"/>
          </a:xfrm>
          <a:prstGeom prst="downArrow">
            <a:avLst/>
          </a:prstGeom>
          <a:solidFill>
            <a:srgbClr val="9DBFA8"/>
          </a:solidFill>
          <a:ln w="12700">
            <a:solidFill>
              <a:srgbClr val="9DBFA8"/>
            </a:solidFill>
            <a:prstDash val="solid"/>
          </a:ln>
        </p:spPr>
      </p:sp>
      <p:sp>
        <p:nvSpPr>
          <p:cNvPr id="19" name="Text 17"/>
          <p:cNvSpPr txBox="1"/>
          <p:nvPr/>
        </p:nvSpPr>
        <p:spPr>
          <a:xfrm>
            <a:off x="6153912" y="4443984"/>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Checks applicants against its own rules</a:t>
            </a:r>
            <a:endParaRPr lang="en-US" sz="1250" dirty="0"/>
          </a:p>
        </p:txBody>
      </p:sp>
      <p:sp>
        <p:nvSpPr>
          <p:cNvPr id="20" name="Shape 18"/>
          <p:cNvSpPr/>
          <p:nvPr/>
        </p:nvSpPr>
        <p:spPr>
          <a:xfrm>
            <a:off x="8613648" y="5010912"/>
            <a:ext cx="201168" cy="201168"/>
          </a:xfrm>
          <a:prstGeom prst="downArrow">
            <a:avLst/>
          </a:prstGeom>
          <a:solidFill>
            <a:srgbClr val="9DBFA8"/>
          </a:solidFill>
          <a:ln w="12700">
            <a:solidFill>
              <a:srgbClr val="9DBFA8"/>
            </a:solidFill>
            <a:prstDash val="solid"/>
          </a:ln>
        </p:spPr>
      </p:sp>
      <p:sp>
        <p:nvSpPr>
          <p:cNvPr id="21" name="Text 19"/>
          <p:cNvSpPr txBox="1"/>
          <p:nvPr/>
        </p:nvSpPr>
        <p:spPr>
          <a:xfrm>
            <a:off x="6153912" y="5230368"/>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Shortlists and chooses, every step recorded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Methodology — Agile with Scrum</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The same short cycle, repeated until the system was finished</a:t>
            </a:r>
            <a:endParaRPr lang="en-US" sz="1250" dirty="0"/>
          </a:p>
        </p:txBody>
      </p:sp>
      <p:sp>
        <p:nvSpPr>
          <p:cNvPr id="4" name="Shape 2"/>
          <p:cNvSpPr/>
          <p:nvPr/>
        </p:nvSpPr>
        <p:spPr>
          <a:xfrm>
            <a:off x="566928" y="1609344"/>
            <a:ext cx="2048256" cy="1572768"/>
          </a:xfrm>
          <a:prstGeom prst="roundRect">
            <a:avLst>
              <a:gd name="adj" fmla="val 4651"/>
            </a:avLst>
          </a:prstGeom>
          <a:solidFill>
            <a:srgbClr val="EDF3EF"/>
          </a:solidFill>
          <a:ln w="12700">
            <a:solidFill>
              <a:srgbClr val="EDF3EF"/>
            </a:solidFill>
            <a:prstDash val="solid"/>
          </a:ln>
        </p:spPr>
      </p:sp>
      <p:sp>
        <p:nvSpPr>
          <p:cNvPr id="5" name="Text 3"/>
          <p:cNvSpPr txBox="1"/>
          <p:nvPr/>
        </p:nvSpPr>
        <p:spPr>
          <a:xfrm>
            <a:off x="1435608" y="1773936"/>
            <a:ext cx="310896" cy="310896"/>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694944" y="2176272"/>
            <a:ext cx="1792224" cy="310896"/>
          </a:xfrm>
          <a:prstGeom prst="rect">
            <a:avLst/>
          </a:prstGeom>
          <a:noFill/>
          <a:ln/>
        </p:spPr>
        <p:txBody>
          <a:bodyPr wrap="square" lIns="0" tIns="0" rIns="0" bIns="0" rtlCol="0" anchor="ctr"/>
          <a:lstStyle/>
          <a:p>
            <a:pPr algn="ctr" indent="0" marL="0">
              <a:buNone/>
            </a:pPr>
            <a:r>
              <a:rPr lang="en-US" sz="1350" b="1" dirty="0">
                <a:solidFill>
                  <a:srgbClr val="0F5132"/>
                </a:solidFill>
                <a:latin typeface="Calibri" pitchFamily="34" charset="0"/>
                <a:ea typeface="Calibri" pitchFamily="34" charset="-122"/>
                <a:cs typeface="Calibri" pitchFamily="34" charset="-120"/>
              </a:rPr>
              <a:t>Backlog</a:t>
            </a:r>
            <a:endParaRPr lang="en-US" sz="1350" dirty="0"/>
          </a:p>
        </p:txBody>
      </p:sp>
      <p:sp>
        <p:nvSpPr>
          <p:cNvPr id="7" name="Text 5"/>
          <p:cNvSpPr txBox="1"/>
          <p:nvPr/>
        </p:nvSpPr>
        <p:spPr>
          <a:xfrm>
            <a:off x="694944" y="2487168"/>
            <a:ext cx="1792224" cy="566928"/>
          </a:xfrm>
          <a:prstGeom prst="rect">
            <a:avLst/>
          </a:prstGeom>
          <a:noFill/>
          <a:ln/>
        </p:spPr>
        <p:txBody>
          <a:bodyPr wrap="square" lIns="0" tIns="0" rIns="0" bIns="0" rtlCol="0" anchor="ctr"/>
          <a:lstStyle/>
          <a:p>
            <a:pPr algn="ctr" indent="0" marL="0">
              <a:lnSpc>
                <a:spcPct val="110000"/>
              </a:lnSpc>
              <a:buNone/>
            </a:pPr>
            <a:r>
              <a:rPr lang="en-US" sz="1100" dirty="0">
                <a:solidFill>
                  <a:srgbClr val="5E6B64"/>
                </a:solidFill>
                <a:latin typeface="Calibri" pitchFamily="34" charset="0"/>
                <a:ea typeface="Calibri" pitchFamily="34" charset="-122"/>
                <a:cs typeface="Calibri" pitchFamily="34" charset="-120"/>
              </a:rPr>
              <a:t>All the work, most important first</a:t>
            </a:r>
            <a:endParaRPr lang="en-US" sz="1100" dirty="0"/>
          </a:p>
        </p:txBody>
      </p:sp>
      <p:sp>
        <p:nvSpPr>
          <p:cNvPr id="8" name="Shape 6"/>
          <p:cNvSpPr/>
          <p:nvPr/>
        </p:nvSpPr>
        <p:spPr>
          <a:xfrm>
            <a:off x="2624328" y="2304288"/>
            <a:ext cx="237744" cy="182880"/>
          </a:xfrm>
          <a:prstGeom prst="rightArrow">
            <a:avLst/>
          </a:prstGeom>
          <a:solidFill>
            <a:srgbClr val="9DBFA8"/>
          </a:solidFill>
          <a:ln w="12700">
            <a:solidFill>
              <a:srgbClr val="9DBFA8"/>
            </a:solidFill>
            <a:prstDash val="solid"/>
          </a:ln>
        </p:spPr>
      </p:sp>
      <p:sp>
        <p:nvSpPr>
          <p:cNvPr id="9" name="Shape 7"/>
          <p:cNvSpPr/>
          <p:nvPr/>
        </p:nvSpPr>
        <p:spPr>
          <a:xfrm>
            <a:off x="2871216" y="1609344"/>
            <a:ext cx="2048256" cy="1572768"/>
          </a:xfrm>
          <a:prstGeom prst="roundRect">
            <a:avLst>
              <a:gd name="adj" fmla="val 4651"/>
            </a:avLst>
          </a:prstGeom>
          <a:solidFill>
            <a:srgbClr val="EDF3EF"/>
          </a:solidFill>
          <a:ln w="12700">
            <a:solidFill>
              <a:srgbClr val="EDF3EF"/>
            </a:solidFill>
            <a:prstDash val="solid"/>
          </a:ln>
        </p:spPr>
      </p:sp>
      <p:sp>
        <p:nvSpPr>
          <p:cNvPr id="10" name="Text 8"/>
          <p:cNvSpPr txBox="1"/>
          <p:nvPr/>
        </p:nvSpPr>
        <p:spPr>
          <a:xfrm>
            <a:off x="3739896" y="1773936"/>
            <a:ext cx="310896" cy="310896"/>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2999232" y="2176272"/>
            <a:ext cx="1792224" cy="310896"/>
          </a:xfrm>
          <a:prstGeom prst="rect">
            <a:avLst/>
          </a:prstGeom>
          <a:noFill/>
          <a:ln/>
        </p:spPr>
        <p:txBody>
          <a:bodyPr wrap="square" lIns="0" tIns="0" rIns="0" bIns="0" rtlCol="0" anchor="ctr"/>
          <a:lstStyle/>
          <a:p>
            <a:pPr algn="ctr" indent="0" marL="0">
              <a:buNone/>
            </a:pPr>
            <a:r>
              <a:rPr lang="en-US" sz="1350" b="1" dirty="0">
                <a:solidFill>
                  <a:srgbClr val="0F5132"/>
                </a:solidFill>
                <a:latin typeface="Calibri" pitchFamily="34" charset="0"/>
                <a:ea typeface="Calibri" pitchFamily="34" charset="-122"/>
                <a:cs typeface="Calibri" pitchFamily="34" charset="-120"/>
              </a:rPr>
              <a:t>Sprint planning</a:t>
            </a:r>
            <a:endParaRPr lang="en-US" sz="1350" dirty="0"/>
          </a:p>
        </p:txBody>
      </p:sp>
      <p:sp>
        <p:nvSpPr>
          <p:cNvPr id="12" name="Text 10"/>
          <p:cNvSpPr txBox="1"/>
          <p:nvPr/>
        </p:nvSpPr>
        <p:spPr>
          <a:xfrm>
            <a:off x="2999232" y="2487168"/>
            <a:ext cx="1792224" cy="566928"/>
          </a:xfrm>
          <a:prstGeom prst="rect">
            <a:avLst/>
          </a:prstGeom>
          <a:noFill/>
          <a:ln/>
        </p:spPr>
        <p:txBody>
          <a:bodyPr wrap="square" lIns="0" tIns="0" rIns="0" bIns="0" rtlCol="0" anchor="ctr"/>
          <a:lstStyle/>
          <a:p>
            <a:pPr algn="ctr" indent="0" marL="0">
              <a:lnSpc>
                <a:spcPct val="110000"/>
              </a:lnSpc>
              <a:buNone/>
            </a:pPr>
            <a:r>
              <a:rPr lang="en-US" sz="1100" dirty="0">
                <a:solidFill>
                  <a:srgbClr val="5E6B64"/>
                </a:solidFill>
                <a:latin typeface="Calibri" pitchFamily="34" charset="0"/>
                <a:ea typeface="Calibri" pitchFamily="34" charset="-122"/>
                <a:cs typeface="Calibri" pitchFamily="34" charset="-120"/>
              </a:rPr>
              <a:t>Choose what to build next</a:t>
            </a:r>
            <a:endParaRPr lang="en-US" sz="1100" dirty="0"/>
          </a:p>
        </p:txBody>
      </p:sp>
      <p:sp>
        <p:nvSpPr>
          <p:cNvPr id="13" name="Shape 11"/>
          <p:cNvSpPr/>
          <p:nvPr/>
        </p:nvSpPr>
        <p:spPr>
          <a:xfrm>
            <a:off x="4928616" y="2304288"/>
            <a:ext cx="237744" cy="182880"/>
          </a:xfrm>
          <a:prstGeom prst="rightArrow">
            <a:avLst/>
          </a:prstGeom>
          <a:solidFill>
            <a:srgbClr val="9DBFA8"/>
          </a:solidFill>
          <a:ln w="12700">
            <a:solidFill>
              <a:srgbClr val="9DBFA8"/>
            </a:solidFill>
            <a:prstDash val="solid"/>
          </a:ln>
        </p:spPr>
      </p:sp>
      <p:sp>
        <p:nvSpPr>
          <p:cNvPr id="14" name="Shape 12"/>
          <p:cNvSpPr/>
          <p:nvPr/>
        </p:nvSpPr>
        <p:spPr>
          <a:xfrm>
            <a:off x="5175504" y="1609344"/>
            <a:ext cx="2048256" cy="1572768"/>
          </a:xfrm>
          <a:prstGeom prst="roundRect">
            <a:avLst>
              <a:gd name="adj" fmla="val 4651"/>
            </a:avLst>
          </a:prstGeom>
          <a:solidFill>
            <a:srgbClr val="EDF3EF"/>
          </a:solidFill>
          <a:ln w="12700">
            <a:solidFill>
              <a:srgbClr val="EDF3EF"/>
            </a:solidFill>
            <a:prstDash val="solid"/>
          </a:ln>
        </p:spPr>
      </p:sp>
      <p:sp>
        <p:nvSpPr>
          <p:cNvPr id="15" name="Text 13"/>
          <p:cNvSpPr txBox="1"/>
          <p:nvPr/>
        </p:nvSpPr>
        <p:spPr>
          <a:xfrm>
            <a:off x="6044184" y="1773936"/>
            <a:ext cx="310896" cy="310896"/>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5303520" y="2176272"/>
            <a:ext cx="1792224" cy="310896"/>
          </a:xfrm>
          <a:prstGeom prst="rect">
            <a:avLst/>
          </a:prstGeom>
          <a:noFill/>
          <a:ln/>
        </p:spPr>
        <p:txBody>
          <a:bodyPr wrap="square" lIns="0" tIns="0" rIns="0" bIns="0" rtlCol="0" anchor="ctr"/>
          <a:lstStyle/>
          <a:p>
            <a:pPr algn="ctr" indent="0" marL="0">
              <a:buNone/>
            </a:pPr>
            <a:r>
              <a:rPr lang="en-US" sz="1350" b="1" dirty="0">
                <a:solidFill>
                  <a:srgbClr val="0F5132"/>
                </a:solidFill>
                <a:latin typeface="Calibri" pitchFamily="34" charset="0"/>
                <a:ea typeface="Calibri" pitchFamily="34" charset="-122"/>
                <a:cs typeface="Calibri" pitchFamily="34" charset="-120"/>
              </a:rPr>
              <a:t>Build and test</a:t>
            </a:r>
            <a:endParaRPr lang="en-US" sz="1350" dirty="0"/>
          </a:p>
        </p:txBody>
      </p:sp>
      <p:sp>
        <p:nvSpPr>
          <p:cNvPr id="17" name="Text 15"/>
          <p:cNvSpPr txBox="1"/>
          <p:nvPr/>
        </p:nvSpPr>
        <p:spPr>
          <a:xfrm>
            <a:off x="5303520" y="2487168"/>
            <a:ext cx="1792224" cy="566928"/>
          </a:xfrm>
          <a:prstGeom prst="rect">
            <a:avLst/>
          </a:prstGeom>
          <a:noFill/>
          <a:ln/>
        </p:spPr>
        <p:txBody>
          <a:bodyPr wrap="square" lIns="0" tIns="0" rIns="0" bIns="0" rtlCol="0" anchor="ctr"/>
          <a:lstStyle/>
          <a:p>
            <a:pPr algn="ctr" indent="0" marL="0">
              <a:lnSpc>
                <a:spcPct val="110000"/>
              </a:lnSpc>
              <a:buNone/>
            </a:pPr>
            <a:r>
              <a:rPr lang="en-US" sz="1100" dirty="0">
                <a:solidFill>
                  <a:srgbClr val="5E6B64"/>
                </a:solidFill>
                <a:latin typeface="Calibri" pitchFamily="34" charset="0"/>
                <a:ea typeface="Calibri" pitchFamily="34" charset="-122"/>
                <a:cs typeface="Calibri" pitchFamily="34" charset="-120"/>
              </a:rPr>
              <a:t>One short sprint</a:t>
            </a:r>
            <a:endParaRPr lang="en-US" sz="1100" dirty="0"/>
          </a:p>
        </p:txBody>
      </p:sp>
      <p:sp>
        <p:nvSpPr>
          <p:cNvPr id="18" name="Shape 16"/>
          <p:cNvSpPr/>
          <p:nvPr/>
        </p:nvSpPr>
        <p:spPr>
          <a:xfrm>
            <a:off x="7232904" y="2304288"/>
            <a:ext cx="237744" cy="182880"/>
          </a:xfrm>
          <a:prstGeom prst="rightArrow">
            <a:avLst/>
          </a:prstGeom>
          <a:solidFill>
            <a:srgbClr val="9DBFA8"/>
          </a:solidFill>
          <a:ln w="12700">
            <a:solidFill>
              <a:srgbClr val="9DBFA8"/>
            </a:solidFill>
            <a:prstDash val="solid"/>
          </a:ln>
        </p:spPr>
      </p:sp>
      <p:sp>
        <p:nvSpPr>
          <p:cNvPr id="19" name="Shape 17"/>
          <p:cNvSpPr/>
          <p:nvPr/>
        </p:nvSpPr>
        <p:spPr>
          <a:xfrm>
            <a:off x="7479792" y="1609344"/>
            <a:ext cx="2048256" cy="1572768"/>
          </a:xfrm>
          <a:prstGeom prst="roundRect">
            <a:avLst>
              <a:gd name="adj" fmla="val 4651"/>
            </a:avLst>
          </a:prstGeom>
          <a:solidFill>
            <a:srgbClr val="EDF3EF"/>
          </a:solidFill>
          <a:ln w="12700">
            <a:solidFill>
              <a:srgbClr val="EDF3EF"/>
            </a:solidFill>
            <a:prstDash val="solid"/>
          </a:ln>
        </p:spPr>
      </p:sp>
      <p:sp>
        <p:nvSpPr>
          <p:cNvPr id="20" name="Text 18"/>
          <p:cNvSpPr txBox="1"/>
          <p:nvPr/>
        </p:nvSpPr>
        <p:spPr>
          <a:xfrm>
            <a:off x="8348472" y="1773936"/>
            <a:ext cx="310896" cy="310896"/>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7607808" y="2176272"/>
            <a:ext cx="1792224" cy="310896"/>
          </a:xfrm>
          <a:prstGeom prst="rect">
            <a:avLst/>
          </a:prstGeom>
          <a:noFill/>
          <a:ln/>
        </p:spPr>
        <p:txBody>
          <a:bodyPr wrap="square" lIns="0" tIns="0" rIns="0" bIns="0" rtlCol="0" anchor="ctr"/>
          <a:lstStyle/>
          <a:p>
            <a:pPr algn="ctr" indent="0" marL="0">
              <a:buNone/>
            </a:pPr>
            <a:r>
              <a:rPr lang="en-US" sz="1350" b="1" dirty="0">
                <a:solidFill>
                  <a:srgbClr val="0F5132"/>
                </a:solidFill>
                <a:latin typeface="Calibri" pitchFamily="34" charset="0"/>
                <a:ea typeface="Calibri" pitchFamily="34" charset="-122"/>
                <a:cs typeface="Calibri" pitchFamily="34" charset="-120"/>
              </a:rPr>
              <a:t>Working part</a:t>
            </a:r>
            <a:endParaRPr lang="en-US" sz="1350" dirty="0"/>
          </a:p>
        </p:txBody>
      </p:sp>
      <p:sp>
        <p:nvSpPr>
          <p:cNvPr id="22" name="Text 20"/>
          <p:cNvSpPr txBox="1"/>
          <p:nvPr/>
        </p:nvSpPr>
        <p:spPr>
          <a:xfrm>
            <a:off x="7607808" y="2487168"/>
            <a:ext cx="1792224" cy="566928"/>
          </a:xfrm>
          <a:prstGeom prst="rect">
            <a:avLst/>
          </a:prstGeom>
          <a:noFill/>
          <a:ln/>
        </p:spPr>
        <p:txBody>
          <a:bodyPr wrap="square" lIns="0" tIns="0" rIns="0" bIns="0" rtlCol="0" anchor="ctr"/>
          <a:lstStyle/>
          <a:p>
            <a:pPr algn="ctr" indent="0" marL="0">
              <a:lnSpc>
                <a:spcPct val="110000"/>
              </a:lnSpc>
              <a:buNone/>
            </a:pPr>
            <a:r>
              <a:rPr lang="en-US" sz="1100" dirty="0">
                <a:solidFill>
                  <a:srgbClr val="5E6B64"/>
                </a:solidFill>
                <a:latin typeface="Calibri" pitchFamily="34" charset="0"/>
                <a:ea typeface="Calibri" pitchFamily="34" charset="-122"/>
                <a:cs typeface="Calibri" pitchFamily="34" charset="-120"/>
              </a:rPr>
              <a:t>Something that actually runs</a:t>
            </a:r>
            <a:endParaRPr lang="en-US" sz="1100" dirty="0"/>
          </a:p>
        </p:txBody>
      </p:sp>
      <p:sp>
        <p:nvSpPr>
          <p:cNvPr id="23" name="Shape 21"/>
          <p:cNvSpPr/>
          <p:nvPr/>
        </p:nvSpPr>
        <p:spPr>
          <a:xfrm>
            <a:off x="9537192" y="2304288"/>
            <a:ext cx="237744" cy="182880"/>
          </a:xfrm>
          <a:prstGeom prst="rightArrow">
            <a:avLst/>
          </a:prstGeom>
          <a:solidFill>
            <a:srgbClr val="9DBFA8"/>
          </a:solidFill>
          <a:ln w="12700">
            <a:solidFill>
              <a:srgbClr val="9DBFA8"/>
            </a:solidFill>
            <a:prstDash val="solid"/>
          </a:ln>
        </p:spPr>
      </p:sp>
      <p:sp>
        <p:nvSpPr>
          <p:cNvPr id="24" name="Shape 22"/>
          <p:cNvSpPr/>
          <p:nvPr/>
        </p:nvSpPr>
        <p:spPr>
          <a:xfrm>
            <a:off x="9784080" y="1609344"/>
            <a:ext cx="2048256" cy="1572768"/>
          </a:xfrm>
          <a:prstGeom prst="roundRect">
            <a:avLst>
              <a:gd name="adj" fmla="val 4651"/>
            </a:avLst>
          </a:prstGeom>
          <a:solidFill>
            <a:srgbClr val="0F5132"/>
          </a:solidFill>
          <a:ln w="12700">
            <a:solidFill>
              <a:srgbClr val="0F5132"/>
            </a:solidFill>
            <a:prstDash val="solid"/>
          </a:ln>
        </p:spPr>
      </p:sp>
      <p:sp>
        <p:nvSpPr>
          <p:cNvPr id="25" name="Text 23"/>
          <p:cNvSpPr txBox="1"/>
          <p:nvPr/>
        </p:nvSpPr>
        <p:spPr>
          <a:xfrm>
            <a:off x="10652760" y="1773936"/>
            <a:ext cx="310896" cy="310896"/>
          </a:xfrm>
          <a:prstGeom prst="ellipse">
            <a:avLst/>
          </a:prstGeom>
          <a:solidFill>
            <a:srgbClr val="FFFFFF"/>
          </a:solidFill>
          <a:ln>
            <a:solidFill>
              <a:srgbClr val="FFFFFF"/>
            </a:solidFill>
          </a:ln>
        </p:spPr>
        <p:txBody>
          <a:bodyPr wrap="square" lIns="0" tIns="0" rIns="0" bIns="0"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9912096" y="2176272"/>
            <a:ext cx="1792224" cy="31089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Review and look back</a:t>
            </a:r>
            <a:endParaRPr lang="en-US" sz="1350" dirty="0"/>
          </a:p>
        </p:txBody>
      </p:sp>
      <p:sp>
        <p:nvSpPr>
          <p:cNvPr id="27" name="Text 25"/>
          <p:cNvSpPr txBox="1"/>
          <p:nvPr/>
        </p:nvSpPr>
        <p:spPr>
          <a:xfrm>
            <a:off x="9912096" y="2487168"/>
            <a:ext cx="1792224" cy="566928"/>
          </a:xfrm>
          <a:prstGeom prst="rect">
            <a:avLst/>
          </a:prstGeom>
          <a:noFill/>
          <a:ln/>
        </p:spPr>
        <p:txBody>
          <a:bodyPr wrap="square" lIns="0" tIns="0" rIns="0" bIns="0" rtlCol="0" anchor="ctr"/>
          <a:lstStyle/>
          <a:p>
            <a:pPr algn="ctr" indent="0" marL="0">
              <a:lnSpc>
                <a:spcPct val="110000"/>
              </a:lnSpc>
              <a:buNone/>
            </a:pPr>
            <a:r>
              <a:rPr lang="en-US" sz="1100" dirty="0">
                <a:solidFill>
                  <a:srgbClr val="9DBFA8"/>
                </a:solidFill>
                <a:latin typeface="Calibri" pitchFamily="34" charset="0"/>
                <a:ea typeface="Calibri" pitchFamily="34" charset="-122"/>
                <a:cs typeface="Calibri" pitchFamily="34" charset="-120"/>
              </a:rPr>
              <a:t>Supervisor checks it; we improve</a:t>
            </a:r>
            <a:endParaRPr lang="en-US" sz="1100" dirty="0"/>
          </a:p>
        </p:txBody>
      </p:sp>
      <p:sp>
        <p:nvSpPr>
          <p:cNvPr id="28" name="Shape 26"/>
          <p:cNvSpPr/>
          <p:nvPr/>
        </p:nvSpPr>
        <p:spPr>
          <a:xfrm>
            <a:off x="932688" y="3566160"/>
            <a:ext cx="10296144" cy="0"/>
          </a:xfrm>
          <a:prstGeom prst="line">
            <a:avLst/>
          </a:prstGeom>
          <a:noFill/>
          <a:ln w="25400">
            <a:solidFill>
              <a:srgbClr val="9DBFA8"/>
            </a:solidFill>
            <a:prstDash val="solid"/>
          </a:ln>
        </p:spPr>
      </p:sp>
      <p:sp>
        <p:nvSpPr>
          <p:cNvPr id="29" name="Shape 27"/>
          <p:cNvSpPr/>
          <p:nvPr/>
        </p:nvSpPr>
        <p:spPr>
          <a:xfrm>
            <a:off x="11228832" y="3255264"/>
            <a:ext cx="0" cy="310896"/>
          </a:xfrm>
          <a:prstGeom prst="line">
            <a:avLst/>
          </a:prstGeom>
          <a:noFill/>
          <a:ln w="25400">
            <a:solidFill>
              <a:srgbClr val="9DBFA8"/>
            </a:solidFill>
            <a:prstDash val="solid"/>
          </a:ln>
        </p:spPr>
      </p:sp>
      <p:sp>
        <p:nvSpPr>
          <p:cNvPr id="30" name="Shape 28"/>
          <p:cNvSpPr/>
          <p:nvPr/>
        </p:nvSpPr>
        <p:spPr>
          <a:xfrm>
            <a:off x="832104" y="3200400"/>
            <a:ext cx="201168" cy="384048"/>
          </a:xfrm>
          <a:prstGeom prst="upArrow">
            <a:avLst/>
          </a:prstGeom>
          <a:solidFill>
            <a:srgbClr val="9DBFA8"/>
          </a:solidFill>
          <a:ln w="12700">
            <a:solidFill>
              <a:srgbClr val="9DBFA8"/>
            </a:solidFill>
            <a:prstDash val="solid"/>
          </a:ln>
        </p:spPr>
      </p:sp>
      <p:sp>
        <p:nvSpPr>
          <p:cNvPr id="31" name="Text 29"/>
          <p:cNvSpPr txBox="1"/>
          <p:nvPr/>
        </p:nvSpPr>
        <p:spPr>
          <a:xfrm>
            <a:off x="566928" y="3602736"/>
            <a:ext cx="11027664" cy="310896"/>
          </a:xfrm>
          <a:prstGeom prst="rect">
            <a:avLst/>
          </a:prstGeom>
          <a:noFill/>
          <a:ln/>
        </p:spPr>
        <p:txBody>
          <a:bodyPr wrap="square" lIns="0" tIns="0" rIns="0" bIns="0" rtlCol="0" anchor="ctr"/>
          <a:lstStyle/>
          <a:p>
            <a:pPr algn="ctr" indent="0" marL="0">
              <a:buNone/>
            </a:pPr>
            <a:r>
              <a:rPr lang="en-US" sz="1200" b="1" dirty="0">
                <a:solidFill>
                  <a:srgbClr val="2C7A57"/>
                </a:solidFill>
                <a:latin typeface="Calibri" pitchFamily="34" charset="0"/>
                <a:ea typeface="Calibri" pitchFamily="34" charset="-122"/>
                <a:cs typeface="Calibri" pitchFamily="34" charset="-120"/>
              </a:rPr>
              <a:t>Repeat every sprint until the system is done</a:t>
            </a:r>
            <a:endParaRPr lang="en-US" sz="1200" dirty="0"/>
          </a:p>
        </p:txBody>
      </p:sp>
      <p:sp>
        <p:nvSpPr>
          <p:cNvPr id="32" name="Shape 30"/>
          <p:cNvSpPr/>
          <p:nvPr/>
        </p:nvSpPr>
        <p:spPr>
          <a:xfrm>
            <a:off x="566928" y="4078224"/>
            <a:ext cx="5513832" cy="1207008"/>
          </a:xfrm>
          <a:prstGeom prst="roundRect">
            <a:avLst>
              <a:gd name="adj" fmla="val 6818"/>
            </a:avLst>
          </a:prstGeom>
          <a:solidFill>
            <a:srgbClr val="EDF3EF"/>
          </a:solidFill>
          <a:ln w="12700">
            <a:solidFill>
              <a:srgbClr val="EDF3EF"/>
            </a:solidFill>
            <a:prstDash val="solid"/>
          </a:ln>
        </p:spPr>
      </p:sp>
      <p:sp>
        <p:nvSpPr>
          <p:cNvPr id="33" name="Text 31"/>
          <p:cNvSpPr txBox="1"/>
          <p:nvPr/>
        </p:nvSpPr>
        <p:spPr>
          <a:xfrm>
            <a:off x="804672" y="4242816"/>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Why we chose it</a:t>
            </a:r>
            <a:endParaRPr lang="en-US" sz="1450" dirty="0"/>
          </a:p>
        </p:txBody>
      </p:sp>
      <p:sp>
        <p:nvSpPr>
          <p:cNvPr id="34" name="Text 32"/>
          <p:cNvSpPr txBox="1"/>
          <p:nvPr/>
        </p:nvSpPr>
        <p:spPr>
          <a:xfrm>
            <a:off x="804672" y="4608576"/>
            <a:ext cx="5038344" cy="512064"/>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6211C"/>
                </a:solidFill>
                <a:latin typeface="Calibri" pitchFamily="34" charset="0"/>
                <a:ea typeface="Calibri" pitchFamily="34" charset="-122"/>
                <a:cs typeface="Calibri" pitchFamily="34" charset="-120"/>
              </a:rPr>
              <a:t>We did not know what rules companies use until we looked, so the design kept changing</a:t>
            </a:r>
            <a:endParaRPr lang="en-US" sz="1200" dirty="0"/>
          </a:p>
        </p:txBody>
      </p:sp>
      <p:sp>
        <p:nvSpPr>
          <p:cNvPr id="35" name="Shape 33"/>
          <p:cNvSpPr/>
          <p:nvPr/>
        </p:nvSpPr>
        <p:spPr>
          <a:xfrm>
            <a:off x="6446520" y="4078224"/>
            <a:ext cx="5513832" cy="1207008"/>
          </a:xfrm>
          <a:prstGeom prst="roundRect">
            <a:avLst>
              <a:gd name="adj" fmla="val 6818"/>
            </a:avLst>
          </a:prstGeom>
          <a:solidFill>
            <a:srgbClr val="EDF3EF"/>
          </a:solidFill>
          <a:ln w="12700">
            <a:solidFill>
              <a:srgbClr val="EDF3EF"/>
            </a:solidFill>
            <a:prstDash val="solid"/>
          </a:ln>
        </p:spPr>
      </p:sp>
      <p:sp>
        <p:nvSpPr>
          <p:cNvPr id="36" name="Text 34"/>
          <p:cNvSpPr txBox="1"/>
          <p:nvPr/>
        </p:nvSpPr>
        <p:spPr>
          <a:xfrm>
            <a:off x="6684264" y="4242816"/>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Why not Waterfall</a:t>
            </a:r>
            <a:endParaRPr lang="en-US" sz="1450" dirty="0"/>
          </a:p>
        </p:txBody>
      </p:sp>
      <p:sp>
        <p:nvSpPr>
          <p:cNvPr id="37" name="Text 35"/>
          <p:cNvSpPr txBox="1"/>
          <p:nvPr/>
        </p:nvSpPr>
        <p:spPr>
          <a:xfrm>
            <a:off x="6684264" y="4608576"/>
            <a:ext cx="5038344" cy="512064"/>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6211C"/>
                </a:solidFill>
                <a:latin typeface="Calibri" pitchFamily="34" charset="0"/>
                <a:ea typeface="Calibri" pitchFamily="34" charset="-122"/>
                <a:cs typeface="Calibri" pitchFamily="34" charset="-120"/>
              </a:rPr>
              <a:t>It fixes the whole design before you start, and ours had to keep moving</a:t>
            </a:r>
            <a:endParaRPr lang="en-US" sz="1200" dirty="0"/>
          </a:p>
        </p:txBody>
      </p:sp>
      <p:sp>
        <p:nvSpPr>
          <p:cNvPr id="38" name="Shape 36"/>
          <p:cNvSpPr/>
          <p:nvPr/>
        </p:nvSpPr>
        <p:spPr>
          <a:xfrm>
            <a:off x="566928" y="5449824"/>
            <a:ext cx="11027664" cy="987552"/>
          </a:xfrm>
          <a:prstGeom prst="roundRect">
            <a:avLst>
              <a:gd name="adj" fmla="val 7407"/>
            </a:avLst>
          </a:prstGeom>
          <a:solidFill>
            <a:srgbClr val="0B2E24"/>
          </a:solidFill>
          <a:ln w="12700">
            <a:solidFill>
              <a:srgbClr val="0B2E24"/>
            </a:solidFill>
            <a:prstDash val="solid"/>
          </a:ln>
        </p:spPr>
      </p:sp>
      <p:sp>
        <p:nvSpPr>
          <p:cNvPr id="39" name="Text 37"/>
          <p:cNvSpPr txBox="1"/>
          <p:nvPr/>
        </p:nvSpPr>
        <p:spPr>
          <a:xfrm>
            <a:off x="841248" y="5559552"/>
            <a:ext cx="1280160" cy="237744"/>
          </a:xfrm>
          <a:prstGeom prst="rect">
            <a:avLst/>
          </a:prstGeom>
          <a:noFill/>
          <a:ln/>
        </p:spPr>
        <p:txBody>
          <a:bodyPr wrap="square" lIns="0" tIns="0" rIns="0" bIns="0" rtlCol="0" anchor="ctr"/>
          <a:lstStyle/>
          <a:p>
            <a:pPr indent="0" marL="0">
              <a:buNone/>
            </a:pPr>
            <a:r>
              <a:rPr lang="en-US" sz="1000" b="1" spc="120" kern="0" dirty="0">
                <a:solidFill>
                  <a:srgbClr val="C08A2E"/>
                </a:solidFill>
                <a:latin typeface="Calibri" pitchFamily="34" charset="0"/>
                <a:ea typeface="Calibri" pitchFamily="34" charset="-122"/>
                <a:cs typeface="Calibri" pitchFamily="34" charset="-120"/>
              </a:rPr>
              <a:t>BASED ON</a:t>
            </a:r>
            <a:endParaRPr lang="en-US" sz="1000" dirty="0"/>
          </a:p>
        </p:txBody>
      </p:sp>
      <p:sp>
        <p:nvSpPr>
          <p:cNvPr id="40" name="Text 38"/>
          <p:cNvSpPr txBox="1"/>
          <p:nvPr/>
        </p:nvSpPr>
        <p:spPr>
          <a:xfrm>
            <a:off x="841248" y="5797296"/>
            <a:ext cx="10479024"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Calibri" pitchFamily="34" charset="0"/>
                <a:ea typeface="Calibri" pitchFamily="34" charset="-122"/>
                <a:cs typeface="Calibri" pitchFamily="34" charset="-120"/>
              </a:rPr>
              <a:t>K. Schwaber and J. Sutherland, The 2020 Scrum Guide   ·   K. Beck et al., Manifesto for Agile Software Development, 2001</a:t>
            </a:r>
            <a:endParaRPr lang="en-US" sz="1050" dirty="0"/>
          </a:p>
          <a:p>
            <a:pPr indent="0" marL="0">
              <a:lnSpc>
                <a:spcPct val="120000"/>
              </a:lnSpc>
              <a:buNone/>
            </a:pPr>
            <a:r>
              <a:rPr lang="en-US" sz="1050" dirty="0">
                <a:solidFill>
                  <a:srgbClr val="FFFFFF"/>
                </a:solidFill>
                <a:latin typeface="Calibri" pitchFamily="34" charset="0"/>
                <a:ea typeface="Calibri" pitchFamily="34" charset="-122"/>
                <a:cs typeface="Calibri" pitchFamily="34" charset="-120"/>
              </a:rPr>
              <a:t>I. Sommerville, Software Engineering, 10th ed., Pearson, 2016   ·   R. S. Pressman and B. R. Maxim, Software Engineering: A Practitioner’s Approach, 9th ed., McGraw-Hill, 2020</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System Architecture</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What happens when someone opens a page</a:t>
            </a:r>
            <a:endParaRPr lang="en-US" sz="1250" dirty="0"/>
          </a:p>
        </p:txBody>
      </p:sp>
      <p:sp>
        <p:nvSpPr>
          <p:cNvPr id="4" name="Shape 2"/>
          <p:cNvSpPr/>
          <p:nvPr/>
        </p:nvSpPr>
        <p:spPr>
          <a:xfrm>
            <a:off x="566928" y="1572768"/>
            <a:ext cx="2468880" cy="1225296"/>
          </a:xfrm>
          <a:prstGeom prst="roundRect">
            <a:avLst>
              <a:gd name="adj" fmla="val 5970"/>
            </a:avLst>
          </a:prstGeom>
          <a:solidFill>
            <a:srgbClr val="EDF3EF"/>
          </a:solidFill>
          <a:ln w="12700">
            <a:solidFill>
              <a:srgbClr val="EDF3EF"/>
            </a:solidFill>
            <a:prstDash val="solid"/>
          </a:ln>
        </p:spPr>
      </p:sp>
      <p:sp>
        <p:nvSpPr>
          <p:cNvPr id="5" name="Text 3"/>
          <p:cNvSpPr txBox="1"/>
          <p:nvPr/>
        </p:nvSpPr>
        <p:spPr>
          <a:xfrm>
            <a:off x="731520" y="173736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078992" y="1719072"/>
            <a:ext cx="1792224" cy="310896"/>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Web browser</a:t>
            </a:r>
            <a:endParaRPr lang="en-US" sz="1400" dirty="0"/>
          </a:p>
        </p:txBody>
      </p:sp>
      <p:sp>
        <p:nvSpPr>
          <p:cNvPr id="7" name="Text 5"/>
          <p:cNvSpPr txBox="1"/>
          <p:nvPr/>
        </p:nvSpPr>
        <p:spPr>
          <a:xfrm>
            <a:off x="731520" y="2103120"/>
            <a:ext cx="2139696" cy="548640"/>
          </a:xfrm>
          <a:prstGeom prst="rect">
            <a:avLst/>
          </a:prstGeom>
          <a:noFill/>
          <a:ln/>
        </p:spPr>
        <p:txBody>
          <a:bodyPr wrap="square" lIns="0" tIns="0" rIns="0" bIns="0" rtlCol="0" anchor="ctr"/>
          <a:lstStyle/>
          <a:p>
            <a:pPr indent="0" marL="0">
              <a:lnSpc>
                <a:spcPct val="112000"/>
              </a:lnSpc>
              <a:buNone/>
            </a:pPr>
            <a:r>
              <a:rPr lang="en-US" sz="1150" dirty="0">
                <a:solidFill>
                  <a:srgbClr val="5E6B64"/>
                </a:solidFill>
                <a:latin typeface="Calibri" pitchFamily="34" charset="0"/>
                <a:ea typeface="Calibri" pitchFamily="34" charset="-122"/>
                <a:cs typeface="Calibri" pitchFamily="34" charset="-120"/>
              </a:rPr>
              <a:t>A student or a company</a:t>
            </a:r>
            <a:endParaRPr lang="en-US" sz="1150" dirty="0"/>
          </a:p>
        </p:txBody>
      </p:sp>
      <p:sp>
        <p:nvSpPr>
          <p:cNvPr id="8" name="Shape 6"/>
          <p:cNvSpPr/>
          <p:nvPr/>
        </p:nvSpPr>
        <p:spPr>
          <a:xfrm>
            <a:off x="3108960" y="2093976"/>
            <a:ext cx="237744" cy="182880"/>
          </a:xfrm>
          <a:prstGeom prst="rightArrow">
            <a:avLst/>
          </a:prstGeom>
          <a:solidFill>
            <a:srgbClr val="9DBFA8"/>
          </a:solidFill>
          <a:ln w="12700">
            <a:solidFill>
              <a:srgbClr val="9DBFA8"/>
            </a:solidFill>
            <a:prstDash val="solid"/>
          </a:ln>
        </p:spPr>
      </p:sp>
      <p:sp>
        <p:nvSpPr>
          <p:cNvPr id="9" name="Shape 7"/>
          <p:cNvSpPr/>
          <p:nvPr/>
        </p:nvSpPr>
        <p:spPr>
          <a:xfrm>
            <a:off x="3419856" y="1572768"/>
            <a:ext cx="2468880" cy="1225296"/>
          </a:xfrm>
          <a:prstGeom prst="roundRect">
            <a:avLst>
              <a:gd name="adj" fmla="val 5970"/>
            </a:avLst>
          </a:prstGeom>
          <a:solidFill>
            <a:srgbClr val="0F5132"/>
          </a:solidFill>
          <a:ln w="12700">
            <a:solidFill>
              <a:srgbClr val="0F5132"/>
            </a:solidFill>
            <a:prstDash val="solid"/>
          </a:ln>
        </p:spPr>
      </p:sp>
      <p:sp>
        <p:nvSpPr>
          <p:cNvPr id="10" name="Text 8"/>
          <p:cNvSpPr txBox="1"/>
          <p:nvPr/>
        </p:nvSpPr>
        <p:spPr>
          <a:xfrm>
            <a:off x="3584448" y="1737360"/>
            <a:ext cx="274320" cy="274320"/>
          </a:xfrm>
          <a:prstGeom prst="ellipse">
            <a:avLst/>
          </a:prstGeom>
          <a:solidFill>
            <a:srgbClr val="FFFFFF"/>
          </a:solidFill>
          <a:ln>
            <a:solidFill>
              <a:srgbClr val="FFFFFF"/>
            </a:solidFill>
          </a:ln>
        </p:spPr>
        <p:txBody>
          <a:bodyPr wrap="square" lIns="0" tIns="0" rIns="0" bIns="0" rtlCol="0" anchor="ctr"/>
          <a:lstStyle/>
          <a:p>
            <a:pPr algn="ctr" indent="0" marL="0">
              <a:buNone/>
            </a:pPr>
            <a:r>
              <a:rPr lang="en-US" sz="1100" b="1" dirty="0">
                <a:solidFill>
                  <a:srgbClr val="0F5132"/>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3931920" y="1719072"/>
            <a:ext cx="1792224"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Security check</a:t>
            </a:r>
            <a:endParaRPr lang="en-US" sz="1400" dirty="0"/>
          </a:p>
        </p:txBody>
      </p:sp>
      <p:sp>
        <p:nvSpPr>
          <p:cNvPr id="12" name="Text 10"/>
          <p:cNvSpPr txBox="1"/>
          <p:nvPr/>
        </p:nvSpPr>
        <p:spPr>
          <a:xfrm>
            <a:off x="3584448" y="2103120"/>
            <a:ext cx="2139696" cy="548640"/>
          </a:xfrm>
          <a:prstGeom prst="rect">
            <a:avLst/>
          </a:prstGeom>
          <a:noFill/>
          <a:ln/>
        </p:spPr>
        <p:txBody>
          <a:bodyPr wrap="square" lIns="0" tIns="0" rIns="0" bIns="0" rtlCol="0" anchor="ctr"/>
          <a:lstStyle/>
          <a:p>
            <a:pPr indent="0" marL="0">
              <a:lnSpc>
                <a:spcPct val="112000"/>
              </a:lnSpc>
              <a:buNone/>
            </a:pPr>
            <a:r>
              <a:rPr lang="en-US" sz="1150" dirty="0">
                <a:solidFill>
                  <a:srgbClr val="9DBFA8"/>
                </a:solidFill>
                <a:latin typeface="Calibri" pitchFamily="34" charset="0"/>
                <a:ea typeface="Calibri" pitchFamily="34" charset="-122"/>
                <a:cs typeface="Calibri" pitchFamily="34" charset="-120"/>
              </a:rPr>
              <a:t>Who are you, and what may you see?</a:t>
            </a:r>
            <a:endParaRPr lang="en-US" sz="1150" dirty="0"/>
          </a:p>
        </p:txBody>
      </p:sp>
      <p:sp>
        <p:nvSpPr>
          <p:cNvPr id="13" name="Shape 11"/>
          <p:cNvSpPr/>
          <p:nvPr/>
        </p:nvSpPr>
        <p:spPr>
          <a:xfrm>
            <a:off x="5961888" y="2093976"/>
            <a:ext cx="237744" cy="182880"/>
          </a:xfrm>
          <a:prstGeom prst="rightArrow">
            <a:avLst/>
          </a:prstGeom>
          <a:solidFill>
            <a:srgbClr val="9DBFA8"/>
          </a:solidFill>
          <a:ln w="12700">
            <a:solidFill>
              <a:srgbClr val="9DBFA8"/>
            </a:solidFill>
            <a:prstDash val="solid"/>
          </a:ln>
        </p:spPr>
      </p:sp>
      <p:sp>
        <p:nvSpPr>
          <p:cNvPr id="14" name="Shape 12"/>
          <p:cNvSpPr/>
          <p:nvPr/>
        </p:nvSpPr>
        <p:spPr>
          <a:xfrm>
            <a:off x="6272784" y="1572768"/>
            <a:ext cx="2468880" cy="1225296"/>
          </a:xfrm>
          <a:prstGeom prst="roundRect">
            <a:avLst>
              <a:gd name="adj" fmla="val 5970"/>
            </a:avLst>
          </a:prstGeom>
          <a:solidFill>
            <a:srgbClr val="EDF3EF"/>
          </a:solidFill>
          <a:ln w="12700">
            <a:solidFill>
              <a:srgbClr val="EDF3EF"/>
            </a:solidFill>
            <a:prstDash val="solid"/>
          </a:ln>
        </p:spPr>
      </p:sp>
      <p:sp>
        <p:nvSpPr>
          <p:cNvPr id="15" name="Text 13"/>
          <p:cNvSpPr txBox="1"/>
          <p:nvPr/>
        </p:nvSpPr>
        <p:spPr>
          <a:xfrm>
            <a:off x="6437376" y="173736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txBox="1"/>
          <p:nvPr/>
        </p:nvSpPr>
        <p:spPr>
          <a:xfrm>
            <a:off x="6784848" y="1719072"/>
            <a:ext cx="1792224" cy="310896"/>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Working parts</a:t>
            </a:r>
            <a:endParaRPr lang="en-US" sz="1400" dirty="0"/>
          </a:p>
        </p:txBody>
      </p:sp>
      <p:sp>
        <p:nvSpPr>
          <p:cNvPr id="17" name="Text 15"/>
          <p:cNvSpPr txBox="1"/>
          <p:nvPr/>
        </p:nvSpPr>
        <p:spPr>
          <a:xfrm>
            <a:off x="6437376" y="2103120"/>
            <a:ext cx="2139696" cy="548640"/>
          </a:xfrm>
          <a:prstGeom prst="rect">
            <a:avLst/>
          </a:prstGeom>
          <a:noFill/>
          <a:ln/>
        </p:spPr>
        <p:txBody>
          <a:bodyPr wrap="square" lIns="0" tIns="0" rIns="0" bIns="0" rtlCol="0" anchor="ctr"/>
          <a:lstStyle/>
          <a:p>
            <a:pPr indent="0" marL="0">
              <a:lnSpc>
                <a:spcPct val="112000"/>
              </a:lnSpc>
              <a:buNone/>
            </a:pPr>
            <a:r>
              <a:rPr lang="en-US" sz="1150" dirty="0">
                <a:solidFill>
                  <a:srgbClr val="5E6B64"/>
                </a:solidFill>
                <a:latin typeface="Calibri" pitchFamily="34" charset="0"/>
                <a:ea typeface="Calibri" pitchFamily="34" charset="-122"/>
                <a:cs typeface="Calibri" pitchFamily="34" charset="-120"/>
              </a:rPr>
              <a:t>Fetches and saves the right data</a:t>
            </a:r>
            <a:endParaRPr lang="en-US" sz="1150" dirty="0"/>
          </a:p>
        </p:txBody>
      </p:sp>
      <p:sp>
        <p:nvSpPr>
          <p:cNvPr id="18" name="Shape 16"/>
          <p:cNvSpPr/>
          <p:nvPr/>
        </p:nvSpPr>
        <p:spPr>
          <a:xfrm>
            <a:off x="8814816" y="2093976"/>
            <a:ext cx="237744" cy="182880"/>
          </a:xfrm>
          <a:prstGeom prst="rightArrow">
            <a:avLst/>
          </a:prstGeom>
          <a:solidFill>
            <a:srgbClr val="9DBFA8"/>
          </a:solidFill>
          <a:ln w="12700">
            <a:solidFill>
              <a:srgbClr val="9DBFA8"/>
            </a:solidFill>
            <a:prstDash val="solid"/>
          </a:ln>
        </p:spPr>
      </p:sp>
      <p:sp>
        <p:nvSpPr>
          <p:cNvPr id="19" name="Shape 17"/>
          <p:cNvSpPr/>
          <p:nvPr/>
        </p:nvSpPr>
        <p:spPr>
          <a:xfrm>
            <a:off x="9125712" y="1572768"/>
            <a:ext cx="2468880" cy="1225296"/>
          </a:xfrm>
          <a:prstGeom prst="roundRect">
            <a:avLst>
              <a:gd name="adj" fmla="val 5970"/>
            </a:avLst>
          </a:prstGeom>
          <a:solidFill>
            <a:srgbClr val="EDF3EF"/>
          </a:solidFill>
          <a:ln w="12700">
            <a:solidFill>
              <a:srgbClr val="EDF3EF"/>
            </a:solidFill>
            <a:prstDash val="solid"/>
          </a:ln>
        </p:spPr>
      </p:sp>
      <p:sp>
        <p:nvSpPr>
          <p:cNvPr id="20" name="Text 18"/>
          <p:cNvSpPr txBox="1"/>
          <p:nvPr/>
        </p:nvSpPr>
        <p:spPr>
          <a:xfrm>
            <a:off x="9290304" y="173736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txBox="1"/>
          <p:nvPr/>
        </p:nvSpPr>
        <p:spPr>
          <a:xfrm>
            <a:off x="9637776" y="1719072"/>
            <a:ext cx="1792224" cy="310896"/>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Database</a:t>
            </a:r>
            <a:endParaRPr lang="en-US" sz="1400" dirty="0"/>
          </a:p>
        </p:txBody>
      </p:sp>
      <p:sp>
        <p:nvSpPr>
          <p:cNvPr id="22" name="Text 20"/>
          <p:cNvSpPr txBox="1"/>
          <p:nvPr/>
        </p:nvSpPr>
        <p:spPr>
          <a:xfrm>
            <a:off x="9290304" y="2103120"/>
            <a:ext cx="2139696" cy="548640"/>
          </a:xfrm>
          <a:prstGeom prst="rect">
            <a:avLst/>
          </a:prstGeom>
          <a:noFill/>
          <a:ln/>
        </p:spPr>
        <p:txBody>
          <a:bodyPr wrap="square" lIns="0" tIns="0" rIns="0" bIns="0" rtlCol="0" anchor="ctr"/>
          <a:lstStyle/>
          <a:p>
            <a:pPr indent="0" marL="0">
              <a:lnSpc>
                <a:spcPct val="112000"/>
              </a:lnSpc>
              <a:buNone/>
            </a:pPr>
            <a:r>
              <a:rPr lang="en-US" sz="1150" dirty="0">
                <a:solidFill>
                  <a:srgbClr val="5E6B64"/>
                </a:solidFill>
                <a:latin typeface="Calibri" pitchFamily="34" charset="0"/>
                <a:ea typeface="Calibri" pitchFamily="34" charset="-122"/>
                <a:cs typeface="Calibri" pitchFamily="34" charset="-120"/>
              </a:rPr>
              <a:t>PostgreSQL  ·  Prisma</a:t>
            </a:r>
            <a:endParaRPr lang="en-US" sz="1150" dirty="0"/>
          </a:p>
        </p:txBody>
      </p:sp>
      <p:sp>
        <p:nvSpPr>
          <p:cNvPr id="23" name="Shape 21"/>
          <p:cNvSpPr/>
          <p:nvPr/>
        </p:nvSpPr>
        <p:spPr>
          <a:xfrm>
            <a:off x="7406640" y="2834640"/>
            <a:ext cx="201168" cy="201168"/>
          </a:xfrm>
          <a:prstGeom prst="downArrow">
            <a:avLst/>
          </a:prstGeom>
          <a:solidFill>
            <a:srgbClr val="9DBFA8"/>
          </a:solidFill>
          <a:ln w="12700">
            <a:solidFill>
              <a:srgbClr val="9DBFA8"/>
            </a:solidFill>
            <a:prstDash val="solid"/>
          </a:ln>
        </p:spPr>
      </p:sp>
      <p:sp>
        <p:nvSpPr>
          <p:cNvPr id="24" name="Shape 22"/>
          <p:cNvSpPr/>
          <p:nvPr/>
        </p:nvSpPr>
        <p:spPr>
          <a:xfrm>
            <a:off x="5175504" y="3163824"/>
            <a:ext cx="4663440" cy="1060704"/>
          </a:xfrm>
          <a:prstGeom prst="roundRect">
            <a:avLst>
              <a:gd name="adj" fmla="val 6897"/>
            </a:avLst>
          </a:prstGeom>
          <a:solidFill>
            <a:srgbClr val="C08A2E"/>
          </a:solidFill>
          <a:ln w="12700">
            <a:solidFill>
              <a:srgbClr val="C08A2E"/>
            </a:solidFill>
            <a:prstDash val="solid"/>
          </a:ln>
        </p:spPr>
      </p:sp>
      <p:sp>
        <p:nvSpPr>
          <p:cNvPr id="25" name="Text 23"/>
          <p:cNvSpPr txBox="1"/>
          <p:nvPr/>
        </p:nvSpPr>
        <p:spPr>
          <a:xfrm>
            <a:off x="5358384" y="3291840"/>
            <a:ext cx="4297680" cy="292608"/>
          </a:xfrm>
          <a:prstGeom prst="rect">
            <a:avLst/>
          </a:prstGeom>
          <a:noFill/>
          <a:ln/>
        </p:spPr>
        <p:txBody>
          <a:bodyPr wrap="square" lIns="0" tIns="0" rIns="0" bIns="0" rtlCol="0" anchor="ctr"/>
          <a:lstStyle/>
          <a:p>
            <a:pPr indent="0" marL="0">
              <a:buNone/>
            </a:pPr>
            <a:r>
              <a:rPr lang="en-US" sz="1400" b="1" dirty="0">
                <a:solidFill>
                  <a:srgbClr val="2A1D05"/>
                </a:solidFill>
                <a:latin typeface="Calibri" pitchFamily="34" charset="0"/>
                <a:ea typeface="Calibri" pitchFamily="34" charset="-122"/>
                <a:cs typeface="Calibri" pitchFamily="34" charset="-120"/>
              </a:rPr>
              <a:t>The matching rules</a:t>
            </a:r>
            <a:endParaRPr lang="en-US" sz="1400" dirty="0"/>
          </a:p>
        </p:txBody>
      </p:sp>
      <p:sp>
        <p:nvSpPr>
          <p:cNvPr id="26" name="Text 24"/>
          <p:cNvSpPr txBox="1"/>
          <p:nvPr/>
        </p:nvSpPr>
        <p:spPr>
          <a:xfrm>
            <a:off x="5358384" y="3602736"/>
            <a:ext cx="4297680" cy="457200"/>
          </a:xfrm>
          <a:prstGeom prst="rect">
            <a:avLst/>
          </a:prstGeom>
          <a:noFill/>
          <a:ln/>
        </p:spPr>
        <p:txBody>
          <a:bodyPr wrap="square" lIns="0" tIns="0" rIns="0" bIns="0" rtlCol="0" anchor="ctr"/>
          <a:lstStyle/>
          <a:p>
            <a:pPr indent="0" marL="0">
              <a:buNone/>
            </a:pPr>
            <a:r>
              <a:rPr lang="en-US" sz="1150" dirty="0">
                <a:solidFill>
                  <a:srgbClr val="4A3510"/>
                </a:solidFill>
                <a:latin typeface="Calibri" pitchFamily="34" charset="0"/>
                <a:ea typeface="Calibri" pitchFamily="34" charset="-122"/>
                <a:cs typeface="Calibri" pitchFamily="34" charset="-120"/>
              </a:rPr>
              <a:t>Kept away from the database, so we can test them on their own</a:t>
            </a:r>
            <a:endParaRPr lang="en-US" sz="1150" dirty="0"/>
          </a:p>
        </p:txBody>
      </p:sp>
      <p:sp>
        <p:nvSpPr>
          <p:cNvPr id="27" name="Shape 25"/>
          <p:cNvSpPr/>
          <p:nvPr/>
        </p:nvSpPr>
        <p:spPr>
          <a:xfrm>
            <a:off x="566928" y="3163824"/>
            <a:ext cx="3291840" cy="1060704"/>
          </a:xfrm>
          <a:prstGeom prst="roundRect">
            <a:avLst>
              <a:gd name="adj" fmla="val 7759"/>
            </a:avLst>
          </a:prstGeom>
          <a:solidFill>
            <a:srgbClr val="EDF3EF"/>
          </a:solidFill>
          <a:ln w="12700">
            <a:solidFill>
              <a:srgbClr val="EDF3EF"/>
            </a:solidFill>
            <a:prstDash val="solid"/>
          </a:ln>
        </p:spPr>
      </p:sp>
      <p:sp>
        <p:nvSpPr>
          <p:cNvPr id="28" name="Text 26"/>
          <p:cNvSpPr txBox="1"/>
          <p:nvPr/>
        </p:nvSpPr>
        <p:spPr>
          <a:xfrm>
            <a:off x="804672" y="3328416"/>
            <a:ext cx="2816352"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Reading PDF forms</a:t>
            </a:r>
            <a:endParaRPr lang="en-US" sz="1450" dirty="0"/>
          </a:p>
        </p:txBody>
      </p:sp>
      <p:sp>
        <p:nvSpPr>
          <p:cNvPr id="29" name="Text 27"/>
          <p:cNvSpPr txBox="1"/>
          <p:nvPr/>
        </p:nvSpPr>
        <p:spPr>
          <a:xfrm>
            <a:off x="804672" y="3694176"/>
            <a:ext cx="2816352" cy="3657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6211C"/>
                </a:solidFill>
                <a:latin typeface="Calibri" pitchFamily="34" charset="0"/>
                <a:ea typeface="Calibri" pitchFamily="34" charset="-122"/>
                <a:cs typeface="Calibri" pitchFamily="34" charset="-120"/>
              </a:rPr>
              <a:t>pdf-lib  ·  pdfjs-dist  ·  JSZip</a:t>
            </a:r>
            <a:endParaRPr lang="en-US" sz="1150" dirty="0"/>
          </a:p>
        </p:txBody>
      </p:sp>
      <p:sp>
        <p:nvSpPr>
          <p:cNvPr id="30" name="Shape 28"/>
          <p:cNvSpPr/>
          <p:nvPr/>
        </p:nvSpPr>
        <p:spPr>
          <a:xfrm>
            <a:off x="566928" y="4718304"/>
            <a:ext cx="11027664" cy="1591056"/>
          </a:xfrm>
          <a:prstGeom prst="roundRect">
            <a:avLst>
              <a:gd name="adj" fmla="val 5172"/>
            </a:avLst>
          </a:prstGeom>
          <a:solidFill>
            <a:srgbClr val="EDF3EF"/>
          </a:solidFill>
          <a:ln w="12700">
            <a:solidFill>
              <a:srgbClr val="EDF3EF"/>
            </a:solidFill>
            <a:prstDash val="solid"/>
          </a:ln>
        </p:spPr>
      </p:sp>
      <p:sp>
        <p:nvSpPr>
          <p:cNvPr id="31" name="Text 29"/>
          <p:cNvSpPr txBox="1"/>
          <p:nvPr/>
        </p:nvSpPr>
        <p:spPr>
          <a:xfrm>
            <a:off x="841248" y="4882896"/>
            <a:ext cx="1828800" cy="274320"/>
          </a:xfrm>
          <a:prstGeom prst="rect">
            <a:avLst/>
          </a:prstGeom>
          <a:noFill/>
          <a:ln/>
        </p:spPr>
        <p:txBody>
          <a:bodyPr wrap="square" lIns="0" tIns="0" rIns="0" bIns="0" rtlCol="0" anchor="ctr"/>
          <a:lstStyle/>
          <a:p>
            <a:pPr indent="0" marL="0">
              <a:buNone/>
            </a:pPr>
            <a:r>
              <a:rPr lang="en-US" sz="1150" b="1" spc="80" kern="0" dirty="0">
                <a:solidFill>
                  <a:srgbClr val="5E6B64"/>
                </a:solidFill>
                <a:latin typeface="Calibri" pitchFamily="34" charset="0"/>
                <a:ea typeface="Calibri" pitchFamily="34" charset="-122"/>
                <a:cs typeface="Calibri" pitchFamily="34" charset="-120"/>
              </a:rPr>
              <a:t>Built with</a:t>
            </a:r>
            <a:endParaRPr lang="en-US" sz="1150" dirty="0"/>
          </a:p>
        </p:txBody>
      </p:sp>
      <p:sp>
        <p:nvSpPr>
          <p:cNvPr id="32" name="Text 30"/>
          <p:cNvSpPr txBox="1"/>
          <p:nvPr/>
        </p:nvSpPr>
        <p:spPr>
          <a:xfrm>
            <a:off x="841248" y="5266944"/>
            <a:ext cx="2436876" cy="256032"/>
          </a:xfrm>
          <a:prstGeom prst="rect">
            <a:avLst/>
          </a:prstGeom>
          <a:noFill/>
          <a:ln/>
        </p:spPr>
        <p:txBody>
          <a:bodyPr wrap="square" lIns="0" tIns="0" rIns="0" bIns="0" rtlCol="0" anchor="ctr"/>
          <a:lstStyle/>
          <a:p>
            <a:pPr indent="0" marL="0">
              <a:buNone/>
            </a:pPr>
            <a:r>
              <a:rPr lang="en-US" sz="1250" b="1" dirty="0">
                <a:solidFill>
                  <a:srgbClr val="0F5132"/>
                </a:solidFill>
                <a:latin typeface="Calibri" pitchFamily="34" charset="0"/>
                <a:ea typeface="Calibri" pitchFamily="34" charset="-122"/>
                <a:cs typeface="Calibri" pitchFamily="34" charset="-120"/>
              </a:rPr>
              <a:t>Screens</a:t>
            </a:r>
            <a:endParaRPr lang="en-US" sz="1250" dirty="0"/>
          </a:p>
        </p:txBody>
      </p:sp>
      <p:sp>
        <p:nvSpPr>
          <p:cNvPr id="33" name="Text 31"/>
          <p:cNvSpPr txBox="1"/>
          <p:nvPr/>
        </p:nvSpPr>
        <p:spPr>
          <a:xfrm>
            <a:off x="841248" y="5541264"/>
            <a:ext cx="2436876" cy="603504"/>
          </a:xfrm>
          <a:prstGeom prst="rect">
            <a:avLst/>
          </a:prstGeom>
          <a:noFill/>
          <a:ln/>
        </p:spPr>
        <p:txBody>
          <a:bodyPr wrap="square" lIns="0" tIns="0" rIns="0" bIns="0" rtlCol="0" anchor="ctr"/>
          <a:lstStyle/>
          <a:p>
            <a:pPr indent="0" marL="0">
              <a:lnSpc>
                <a:spcPct val="110000"/>
              </a:lnSpc>
              <a:buNone/>
            </a:pPr>
            <a:r>
              <a:rPr lang="en-US" sz="1100" dirty="0">
                <a:solidFill>
                  <a:srgbClr val="5E6B64"/>
                </a:solidFill>
                <a:latin typeface="Calibri" pitchFamily="34" charset="0"/>
                <a:ea typeface="Calibri" pitchFamily="34" charset="-122"/>
                <a:cs typeface="Calibri" pitchFamily="34" charset="-120"/>
              </a:rPr>
              <a:t>Next.js · React · TypeScript · Tailwind</a:t>
            </a:r>
            <a:endParaRPr lang="en-US" sz="1100" dirty="0"/>
          </a:p>
        </p:txBody>
      </p:sp>
      <p:sp>
        <p:nvSpPr>
          <p:cNvPr id="34" name="Text 32"/>
          <p:cNvSpPr txBox="1"/>
          <p:nvPr/>
        </p:nvSpPr>
        <p:spPr>
          <a:xfrm>
            <a:off x="3461004" y="5266944"/>
            <a:ext cx="2436876" cy="256032"/>
          </a:xfrm>
          <a:prstGeom prst="rect">
            <a:avLst/>
          </a:prstGeom>
          <a:noFill/>
          <a:ln/>
        </p:spPr>
        <p:txBody>
          <a:bodyPr wrap="square" lIns="0" tIns="0" rIns="0" bIns="0" rtlCol="0" anchor="ctr"/>
          <a:lstStyle/>
          <a:p>
            <a:pPr indent="0" marL="0">
              <a:buNone/>
            </a:pPr>
            <a:r>
              <a:rPr lang="en-US" sz="1250" b="1" dirty="0">
                <a:solidFill>
                  <a:srgbClr val="0F5132"/>
                </a:solidFill>
                <a:latin typeface="Calibri" pitchFamily="34" charset="0"/>
                <a:ea typeface="Calibri" pitchFamily="34" charset="-122"/>
                <a:cs typeface="Calibri" pitchFamily="34" charset="-120"/>
              </a:rPr>
              <a:t>Collecting bursaries</a:t>
            </a:r>
            <a:endParaRPr lang="en-US" sz="1250" dirty="0"/>
          </a:p>
        </p:txBody>
      </p:sp>
      <p:sp>
        <p:nvSpPr>
          <p:cNvPr id="35" name="Text 33"/>
          <p:cNvSpPr txBox="1"/>
          <p:nvPr/>
        </p:nvSpPr>
        <p:spPr>
          <a:xfrm>
            <a:off x="3461004" y="5541264"/>
            <a:ext cx="2436876" cy="603504"/>
          </a:xfrm>
          <a:prstGeom prst="rect">
            <a:avLst/>
          </a:prstGeom>
          <a:noFill/>
          <a:ln/>
        </p:spPr>
        <p:txBody>
          <a:bodyPr wrap="square" lIns="0" tIns="0" rIns="0" bIns="0" rtlCol="0" anchor="ctr"/>
          <a:lstStyle/>
          <a:p>
            <a:pPr indent="0" marL="0">
              <a:lnSpc>
                <a:spcPct val="110000"/>
              </a:lnSpc>
              <a:buNone/>
            </a:pPr>
            <a:r>
              <a:rPr lang="en-US" sz="1100" dirty="0">
                <a:solidFill>
                  <a:srgbClr val="5E6B64"/>
                </a:solidFill>
                <a:latin typeface="Calibri" pitchFamily="34" charset="0"/>
                <a:ea typeface="Calibri" pitchFamily="34" charset="-122"/>
                <a:cs typeface="Calibri" pitchFamily="34" charset="-120"/>
              </a:rPr>
              <a:t>Cheerio reads the websites we agreed on</a:t>
            </a:r>
            <a:endParaRPr lang="en-US" sz="1100" dirty="0"/>
          </a:p>
        </p:txBody>
      </p:sp>
      <p:sp>
        <p:nvSpPr>
          <p:cNvPr id="36" name="Text 34"/>
          <p:cNvSpPr txBox="1"/>
          <p:nvPr/>
        </p:nvSpPr>
        <p:spPr>
          <a:xfrm>
            <a:off x="6080760" y="5266944"/>
            <a:ext cx="2436876" cy="256032"/>
          </a:xfrm>
          <a:prstGeom prst="rect">
            <a:avLst/>
          </a:prstGeom>
          <a:noFill/>
          <a:ln/>
        </p:spPr>
        <p:txBody>
          <a:bodyPr wrap="square" lIns="0" tIns="0" rIns="0" bIns="0" rtlCol="0" anchor="ctr"/>
          <a:lstStyle/>
          <a:p>
            <a:pPr indent="0" marL="0">
              <a:buNone/>
            </a:pPr>
            <a:r>
              <a:rPr lang="en-US" sz="1250" b="1" dirty="0">
                <a:solidFill>
                  <a:srgbClr val="0F5132"/>
                </a:solidFill>
                <a:latin typeface="Calibri" pitchFamily="34" charset="0"/>
                <a:ea typeface="Calibri" pitchFamily="34" charset="-122"/>
                <a:cs typeface="Calibri" pitchFamily="34" charset="-120"/>
              </a:rPr>
              <a:t>Safety</a:t>
            </a:r>
            <a:endParaRPr lang="en-US" sz="1250" dirty="0"/>
          </a:p>
        </p:txBody>
      </p:sp>
      <p:sp>
        <p:nvSpPr>
          <p:cNvPr id="37" name="Text 35"/>
          <p:cNvSpPr txBox="1"/>
          <p:nvPr/>
        </p:nvSpPr>
        <p:spPr>
          <a:xfrm>
            <a:off x="6080760" y="5541264"/>
            <a:ext cx="2436876" cy="603504"/>
          </a:xfrm>
          <a:prstGeom prst="rect">
            <a:avLst/>
          </a:prstGeom>
          <a:noFill/>
          <a:ln/>
        </p:spPr>
        <p:txBody>
          <a:bodyPr wrap="square" lIns="0" tIns="0" rIns="0" bIns="0" rtlCol="0" anchor="ctr"/>
          <a:lstStyle/>
          <a:p>
            <a:pPr indent="0" marL="0">
              <a:lnSpc>
                <a:spcPct val="110000"/>
              </a:lnSpc>
              <a:buNone/>
            </a:pPr>
            <a:r>
              <a:rPr lang="en-US" sz="1100" dirty="0">
                <a:solidFill>
                  <a:srgbClr val="5E6B64"/>
                </a:solidFill>
                <a:latin typeface="Calibri" pitchFamily="34" charset="0"/>
                <a:ea typeface="Calibri" pitchFamily="34" charset="-122"/>
                <a:cs typeface="Calibri" pitchFamily="34" charset="-120"/>
              </a:rPr>
              <a:t>Zod checks input · bcryptjs protects passwords</a:t>
            </a:r>
            <a:endParaRPr lang="en-US" sz="1100" dirty="0"/>
          </a:p>
        </p:txBody>
      </p:sp>
      <p:sp>
        <p:nvSpPr>
          <p:cNvPr id="38" name="Text 36"/>
          <p:cNvSpPr txBox="1"/>
          <p:nvPr/>
        </p:nvSpPr>
        <p:spPr>
          <a:xfrm>
            <a:off x="8700516" y="5266944"/>
            <a:ext cx="2436876" cy="256032"/>
          </a:xfrm>
          <a:prstGeom prst="rect">
            <a:avLst/>
          </a:prstGeom>
          <a:noFill/>
          <a:ln/>
        </p:spPr>
        <p:txBody>
          <a:bodyPr wrap="square" lIns="0" tIns="0" rIns="0" bIns="0" rtlCol="0" anchor="ctr"/>
          <a:lstStyle/>
          <a:p>
            <a:pPr indent="0" marL="0">
              <a:buNone/>
            </a:pPr>
            <a:r>
              <a:rPr lang="en-US" sz="1250" b="1" dirty="0">
                <a:solidFill>
                  <a:srgbClr val="0F5132"/>
                </a:solidFill>
                <a:latin typeface="Calibri" pitchFamily="34" charset="0"/>
                <a:ea typeface="Calibri" pitchFamily="34" charset="-122"/>
                <a:cs typeface="Calibri" pitchFamily="34" charset="-120"/>
              </a:rPr>
              <a:t>Testing</a:t>
            </a:r>
            <a:endParaRPr lang="en-US" sz="1250" dirty="0"/>
          </a:p>
        </p:txBody>
      </p:sp>
      <p:sp>
        <p:nvSpPr>
          <p:cNvPr id="39" name="Text 37"/>
          <p:cNvSpPr txBox="1"/>
          <p:nvPr/>
        </p:nvSpPr>
        <p:spPr>
          <a:xfrm>
            <a:off x="8700516" y="5541264"/>
            <a:ext cx="2436876" cy="603504"/>
          </a:xfrm>
          <a:prstGeom prst="rect">
            <a:avLst/>
          </a:prstGeom>
          <a:noFill/>
          <a:ln/>
        </p:spPr>
        <p:txBody>
          <a:bodyPr wrap="square" lIns="0" tIns="0" rIns="0" bIns="0" rtlCol="0" anchor="ctr"/>
          <a:lstStyle/>
          <a:p>
            <a:pPr indent="0" marL="0">
              <a:lnSpc>
                <a:spcPct val="110000"/>
              </a:lnSpc>
              <a:buNone/>
            </a:pPr>
            <a:r>
              <a:rPr lang="en-US" sz="1100" dirty="0">
                <a:solidFill>
                  <a:srgbClr val="5E6B64"/>
                </a:solidFill>
                <a:latin typeface="Calibri" pitchFamily="34" charset="0"/>
                <a:ea typeface="Calibri" pitchFamily="34" charset="-122"/>
                <a:cs typeface="Calibri" pitchFamily="34" charset="-120"/>
              </a:rPr>
              <a:t>Playwright · Git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Key System Functionality</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Both sides, in one system</a:t>
            </a:r>
            <a:endParaRPr lang="en-US" sz="1250" dirty="0"/>
          </a:p>
        </p:txBody>
      </p:sp>
      <p:sp>
        <p:nvSpPr>
          <p:cNvPr id="4" name="Text 2"/>
          <p:cNvSpPr txBox="1"/>
          <p:nvPr/>
        </p:nvSpPr>
        <p:spPr>
          <a:xfrm>
            <a:off x="566928" y="1517904"/>
            <a:ext cx="5513832" cy="292608"/>
          </a:xfrm>
          <a:prstGeom prst="rect">
            <a:avLst/>
          </a:prstGeom>
          <a:noFill/>
          <a:ln/>
        </p:spPr>
        <p:txBody>
          <a:bodyPr wrap="square" lIns="0" tIns="0" rIns="0" bIns="0" rtlCol="0" anchor="ctr"/>
          <a:lstStyle/>
          <a:p>
            <a:pPr indent="0" marL="0">
              <a:buNone/>
            </a:pPr>
            <a:r>
              <a:rPr lang="en-US" sz="1200" b="1" spc="120" kern="0" dirty="0">
                <a:solidFill>
                  <a:srgbClr val="5E6B64"/>
                </a:solidFill>
                <a:latin typeface="Calibri" pitchFamily="34" charset="0"/>
                <a:ea typeface="Calibri" pitchFamily="34" charset="-122"/>
                <a:cs typeface="Calibri" pitchFamily="34" charset="-120"/>
              </a:rPr>
              <a:t>THE STUDENT SIDE</a:t>
            </a:r>
            <a:endParaRPr lang="en-US" sz="1200" dirty="0"/>
          </a:p>
        </p:txBody>
      </p:sp>
      <p:sp>
        <p:nvSpPr>
          <p:cNvPr id="5" name="Text 3"/>
          <p:cNvSpPr txBox="1"/>
          <p:nvPr/>
        </p:nvSpPr>
        <p:spPr>
          <a:xfrm>
            <a:off x="566928" y="195681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193852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Account and profile</a:t>
            </a:r>
            <a:endParaRPr lang="en-US" sz="1300" dirty="0"/>
          </a:p>
        </p:txBody>
      </p:sp>
      <p:sp>
        <p:nvSpPr>
          <p:cNvPr id="7" name="Text 5"/>
          <p:cNvSpPr txBox="1"/>
          <p:nvPr/>
        </p:nvSpPr>
        <p:spPr>
          <a:xfrm>
            <a:off x="969264" y="219456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Personal details, marks, subjects and family income</a:t>
            </a:r>
            <a:endParaRPr lang="en-US" sz="1150" dirty="0"/>
          </a:p>
        </p:txBody>
      </p:sp>
      <p:sp>
        <p:nvSpPr>
          <p:cNvPr id="8" name="Text 6"/>
          <p:cNvSpPr txBox="1"/>
          <p:nvPr/>
        </p:nvSpPr>
        <p:spPr>
          <a:xfrm>
            <a:off x="566928" y="2715768"/>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969264" y="2697480"/>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List of all bursaries</a:t>
            </a:r>
            <a:endParaRPr lang="en-US" sz="1300" dirty="0"/>
          </a:p>
        </p:txBody>
      </p:sp>
      <p:sp>
        <p:nvSpPr>
          <p:cNvPr id="10" name="Text 8"/>
          <p:cNvSpPr txBox="1"/>
          <p:nvPr/>
        </p:nvSpPr>
        <p:spPr>
          <a:xfrm>
            <a:off x="969264" y="2953512"/>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Every bursary we hold, each showing where it came from</a:t>
            </a:r>
            <a:endParaRPr lang="en-US" sz="1150" dirty="0"/>
          </a:p>
        </p:txBody>
      </p:sp>
      <p:sp>
        <p:nvSpPr>
          <p:cNvPr id="11" name="Text 9"/>
          <p:cNvSpPr txBox="1"/>
          <p:nvPr/>
        </p:nvSpPr>
        <p:spPr>
          <a:xfrm>
            <a:off x="566928" y="347472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ext 10"/>
          <p:cNvSpPr txBox="1"/>
          <p:nvPr/>
        </p:nvSpPr>
        <p:spPr>
          <a:xfrm>
            <a:off x="969264" y="3456432"/>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Matching</a:t>
            </a:r>
            <a:endParaRPr lang="en-US" sz="1300" dirty="0"/>
          </a:p>
        </p:txBody>
      </p:sp>
      <p:sp>
        <p:nvSpPr>
          <p:cNvPr id="13" name="Text 11"/>
          <p:cNvSpPr txBox="1"/>
          <p:nvPr/>
        </p:nvSpPr>
        <p:spPr>
          <a:xfrm>
            <a:off x="969264" y="3712464"/>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A ranked list, with the reason behind every score</a:t>
            </a:r>
            <a:endParaRPr lang="en-US" sz="1150" dirty="0"/>
          </a:p>
        </p:txBody>
      </p:sp>
      <p:sp>
        <p:nvSpPr>
          <p:cNvPr id="14" name="Text 12"/>
          <p:cNvSpPr txBox="1"/>
          <p:nvPr/>
        </p:nvSpPr>
        <p:spPr>
          <a:xfrm>
            <a:off x="566928" y="4233672"/>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969264" y="4215384"/>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Applying</a:t>
            </a:r>
            <a:endParaRPr lang="en-US" sz="1300" dirty="0"/>
          </a:p>
        </p:txBody>
      </p:sp>
      <p:sp>
        <p:nvSpPr>
          <p:cNvPr id="16" name="Text 14"/>
          <p:cNvSpPr txBox="1"/>
          <p:nvPr/>
        </p:nvSpPr>
        <p:spPr>
          <a:xfrm>
            <a:off x="969264" y="4471416"/>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Apply using saved details, attach documents once, then track progress</a:t>
            </a:r>
            <a:endParaRPr lang="en-US" sz="1150" dirty="0"/>
          </a:p>
        </p:txBody>
      </p:sp>
      <p:sp>
        <p:nvSpPr>
          <p:cNvPr id="17" name="Text 15"/>
          <p:cNvSpPr txBox="1"/>
          <p:nvPr/>
        </p:nvSpPr>
        <p:spPr>
          <a:xfrm>
            <a:off x="566928" y="4992624"/>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8" name="Text 16"/>
          <p:cNvSpPr txBox="1"/>
          <p:nvPr/>
        </p:nvSpPr>
        <p:spPr>
          <a:xfrm>
            <a:off x="969264" y="4974336"/>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Auto-Fill for PDF forms</a:t>
            </a:r>
            <a:endParaRPr lang="en-US" sz="1300" dirty="0"/>
          </a:p>
        </p:txBody>
      </p:sp>
      <p:sp>
        <p:nvSpPr>
          <p:cNvPr id="19" name="Text 17"/>
          <p:cNvSpPr txBox="1"/>
          <p:nvPr/>
        </p:nvSpPr>
        <p:spPr>
          <a:xfrm>
            <a:off x="969264" y="5230368"/>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Fills a form from the profile, and says how sure it is each time</a:t>
            </a:r>
            <a:endParaRPr lang="en-US" sz="1150" dirty="0"/>
          </a:p>
        </p:txBody>
      </p:sp>
      <p:sp>
        <p:nvSpPr>
          <p:cNvPr id="20" name="Text 18"/>
          <p:cNvSpPr txBox="1"/>
          <p:nvPr/>
        </p:nvSpPr>
        <p:spPr>
          <a:xfrm>
            <a:off x="566928" y="575157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1" name="Text 19"/>
          <p:cNvSpPr txBox="1"/>
          <p:nvPr/>
        </p:nvSpPr>
        <p:spPr>
          <a:xfrm>
            <a:off x="969264" y="573328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Motivation letter helper</a:t>
            </a:r>
            <a:endParaRPr lang="en-US" sz="1300" dirty="0"/>
          </a:p>
        </p:txBody>
      </p:sp>
      <p:sp>
        <p:nvSpPr>
          <p:cNvPr id="22" name="Text 20"/>
          <p:cNvSpPr txBox="1"/>
          <p:nvPr/>
        </p:nvSpPr>
        <p:spPr>
          <a:xfrm>
            <a:off x="969264" y="598932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Built from what the student said — it never writes for them</a:t>
            </a:r>
            <a:endParaRPr lang="en-US" sz="1150" dirty="0"/>
          </a:p>
        </p:txBody>
      </p:sp>
      <p:sp>
        <p:nvSpPr>
          <p:cNvPr id="23" name="Text 21"/>
          <p:cNvSpPr txBox="1"/>
          <p:nvPr/>
        </p:nvSpPr>
        <p:spPr>
          <a:xfrm>
            <a:off x="6446520" y="1517904"/>
            <a:ext cx="5513832" cy="292608"/>
          </a:xfrm>
          <a:prstGeom prst="rect">
            <a:avLst/>
          </a:prstGeom>
          <a:noFill/>
          <a:ln/>
        </p:spPr>
        <p:txBody>
          <a:bodyPr wrap="square" lIns="0" tIns="0" rIns="0" bIns="0" rtlCol="0" anchor="ctr"/>
          <a:lstStyle/>
          <a:p>
            <a:pPr indent="0" marL="0">
              <a:buNone/>
            </a:pPr>
            <a:r>
              <a:rPr lang="en-US" sz="1200" b="1" spc="120" kern="0" dirty="0">
                <a:solidFill>
                  <a:srgbClr val="5E6B64"/>
                </a:solidFill>
                <a:latin typeface="Calibri" pitchFamily="34" charset="0"/>
                <a:ea typeface="Calibri" pitchFamily="34" charset="-122"/>
                <a:cs typeface="Calibri" pitchFamily="34" charset="-120"/>
              </a:rPr>
              <a:t>THE COMPANY SIDE</a:t>
            </a:r>
            <a:endParaRPr lang="en-US" sz="1200" dirty="0"/>
          </a:p>
        </p:txBody>
      </p:sp>
      <p:sp>
        <p:nvSpPr>
          <p:cNvPr id="24" name="Text 22"/>
          <p:cNvSpPr txBox="1"/>
          <p:nvPr/>
        </p:nvSpPr>
        <p:spPr>
          <a:xfrm>
            <a:off x="6446520" y="195681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5" name="Text 23"/>
          <p:cNvSpPr txBox="1"/>
          <p:nvPr/>
        </p:nvSpPr>
        <p:spPr>
          <a:xfrm>
            <a:off x="6848856" y="193852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Company account</a:t>
            </a:r>
            <a:endParaRPr lang="en-US" sz="1300" dirty="0"/>
          </a:p>
        </p:txBody>
      </p:sp>
      <p:sp>
        <p:nvSpPr>
          <p:cNvPr id="26" name="Text 24"/>
          <p:cNvSpPr txBox="1"/>
          <p:nvPr/>
        </p:nvSpPr>
        <p:spPr>
          <a:xfrm>
            <a:off x="6848856" y="219456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Signing up, and the company details</a:t>
            </a:r>
            <a:endParaRPr lang="en-US" sz="1150" dirty="0"/>
          </a:p>
        </p:txBody>
      </p:sp>
      <p:sp>
        <p:nvSpPr>
          <p:cNvPr id="27" name="Text 25"/>
          <p:cNvSpPr txBox="1"/>
          <p:nvPr/>
        </p:nvSpPr>
        <p:spPr>
          <a:xfrm>
            <a:off x="6446520" y="2715768"/>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Text 26"/>
          <p:cNvSpPr txBox="1"/>
          <p:nvPr/>
        </p:nvSpPr>
        <p:spPr>
          <a:xfrm>
            <a:off x="6848856" y="2697480"/>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Advertise a bursary</a:t>
            </a:r>
            <a:endParaRPr lang="en-US" sz="1300" dirty="0"/>
          </a:p>
        </p:txBody>
      </p:sp>
      <p:sp>
        <p:nvSpPr>
          <p:cNvPr id="29" name="Text 27"/>
          <p:cNvSpPr txBox="1"/>
          <p:nvPr/>
        </p:nvSpPr>
        <p:spPr>
          <a:xfrm>
            <a:off x="6848856" y="2953512"/>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The rules are typed into boxes, not written as sentences</a:t>
            </a:r>
            <a:endParaRPr lang="en-US" sz="1150" dirty="0"/>
          </a:p>
        </p:txBody>
      </p:sp>
      <p:sp>
        <p:nvSpPr>
          <p:cNvPr id="30" name="Text 28"/>
          <p:cNvSpPr txBox="1"/>
          <p:nvPr/>
        </p:nvSpPr>
        <p:spPr>
          <a:xfrm>
            <a:off x="6446520" y="347472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6848856" y="3456432"/>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Review applicants</a:t>
            </a:r>
            <a:endParaRPr lang="en-US" sz="1300" dirty="0"/>
          </a:p>
        </p:txBody>
      </p:sp>
      <p:sp>
        <p:nvSpPr>
          <p:cNvPr id="32" name="Text 30"/>
          <p:cNvSpPr txBox="1"/>
          <p:nvPr/>
        </p:nvSpPr>
        <p:spPr>
          <a:xfrm>
            <a:off x="6848856" y="3712464"/>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Applications arrive organised, already checked against their rules</a:t>
            </a:r>
            <a:endParaRPr lang="en-US" sz="1150" dirty="0"/>
          </a:p>
        </p:txBody>
      </p:sp>
      <p:sp>
        <p:nvSpPr>
          <p:cNvPr id="33" name="Text 31"/>
          <p:cNvSpPr txBox="1"/>
          <p:nvPr/>
        </p:nvSpPr>
        <p:spPr>
          <a:xfrm>
            <a:off x="6446520" y="4233672"/>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2"/>
          <p:cNvSpPr txBox="1"/>
          <p:nvPr/>
        </p:nvSpPr>
        <p:spPr>
          <a:xfrm>
            <a:off x="6848856" y="4215384"/>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Shortlist and choose</a:t>
            </a:r>
            <a:endParaRPr lang="en-US" sz="1300" dirty="0"/>
          </a:p>
        </p:txBody>
      </p:sp>
      <p:sp>
        <p:nvSpPr>
          <p:cNvPr id="35" name="Text 33"/>
          <p:cNvSpPr txBox="1"/>
          <p:nvPr/>
        </p:nvSpPr>
        <p:spPr>
          <a:xfrm>
            <a:off x="6848856" y="4471416"/>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Every step is recorded</a:t>
            </a:r>
            <a:endParaRPr lang="en-US" sz="1150" dirty="0"/>
          </a:p>
        </p:txBody>
      </p:sp>
      <p:sp>
        <p:nvSpPr>
          <p:cNvPr id="36" name="Text 34"/>
          <p:cNvSpPr txBox="1"/>
          <p:nvPr/>
        </p:nvSpPr>
        <p:spPr>
          <a:xfrm>
            <a:off x="6446520" y="4992624"/>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7" name="Text 35"/>
          <p:cNvSpPr txBox="1"/>
          <p:nvPr/>
        </p:nvSpPr>
        <p:spPr>
          <a:xfrm>
            <a:off x="6848856" y="4974336"/>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Upload many forms at once</a:t>
            </a:r>
            <a:endParaRPr lang="en-US" sz="1300" dirty="0"/>
          </a:p>
        </p:txBody>
      </p:sp>
      <p:sp>
        <p:nvSpPr>
          <p:cNvPr id="38" name="Text 36"/>
          <p:cNvSpPr txBox="1"/>
          <p:nvPr/>
        </p:nvSpPr>
        <p:spPr>
          <a:xfrm>
            <a:off x="6848856" y="5230368"/>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Forms sent by email are read in, then checked before saving</a:t>
            </a:r>
            <a:endParaRPr lang="en-US" sz="1150" dirty="0"/>
          </a:p>
        </p:txBody>
      </p:sp>
      <p:sp>
        <p:nvSpPr>
          <p:cNvPr id="39" name="Text 37"/>
          <p:cNvSpPr txBox="1"/>
          <p:nvPr/>
        </p:nvSpPr>
        <p:spPr>
          <a:xfrm>
            <a:off x="6446520" y="575157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0" name="Text 38"/>
          <p:cNvSpPr txBox="1"/>
          <p:nvPr/>
        </p:nvSpPr>
        <p:spPr>
          <a:xfrm>
            <a:off x="6848856" y="573328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Spot duplicates</a:t>
            </a:r>
            <a:endParaRPr lang="en-US" sz="1300" dirty="0"/>
          </a:p>
        </p:txBody>
      </p:sp>
      <p:sp>
        <p:nvSpPr>
          <p:cNvPr id="41" name="Text 39"/>
          <p:cNvSpPr txBox="1"/>
          <p:nvPr/>
        </p:nvSpPr>
        <p:spPr>
          <a:xfrm>
            <a:off x="6848856" y="598932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Possible duplicates are flagged for a person to decide on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Matching and Qualifying</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Two different questions, kept apart on purpose</a:t>
            </a:r>
            <a:endParaRPr lang="en-US" sz="1250" dirty="0"/>
          </a:p>
        </p:txBody>
      </p:sp>
      <p:sp>
        <p:nvSpPr>
          <p:cNvPr id="4" name="Shape 2"/>
          <p:cNvSpPr/>
          <p:nvPr/>
        </p:nvSpPr>
        <p:spPr>
          <a:xfrm>
            <a:off x="4160520" y="1481328"/>
            <a:ext cx="3840480" cy="566928"/>
          </a:xfrm>
          <a:prstGeom prst="roundRect">
            <a:avLst>
              <a:gd name="adj" fmla="val 12903"/>
            </a:avLst>
          </a:prstGeom>
          <a:solidFill>
            <a:srgbClr val="0F5132"/>
          </a:solidFill>
          <a:ln w="12700">
            <a:solidFill>
              <a:srgbClr val="0F5132"/>
            </a:solidFill>
            <a:prstDash val="solid"/>
          </a:ln>
        </p:spPr>
      </p:sp>
      <p:sp>
        <p:nvSpPr>
          <p:cNvPr id="5" name="Text 3"/>
          <p:cNvSpPr txBox="1"/>
          <p:nvPr/>
        </p:nvSpPr>
        <p:spPr>
          <a:xfrm>
            <a:off x="4160520" y="1481328"/>
            <a:ext cx="3840480" cy="566928"/>
          </a:xfrm>
          <a:prstGeom prst="rect">
            <a:avLst/>
          </a:prstGeom>
          <a:noFill/>
          <a:ln/>
        </p:spPr>
        <p:txBody>
          <a:bodyPr wrap="square" lIns="0" tIns="0" rIns="0" bIns="0" rtlCol="0" anchor="ctr"/>
          <a:lstStyle/>
          <a:p>
            <a:pPr algn="ctr" indent="0" marL="0">
              <a:buNone/>
            </a:pPr>
            <a:r>
              <a:rPr lang="en-US" sz="1400" b="1" spc="120" kern="0" dirty="0">
                <a:solidFill>
                  <a:srgbClr val="FFFFFF"/>
                </a:solidFill>
                <a:latin typeface="Calibri" pitchFamily="34" charset="0"/>
                <a:ea typeface="Calibri" pitchFamily="34" charset="-122"/>
                <a:cs typeface="Calibri" pitchFamily="34" charset="-120"/>
              </a:rPr>
              <a:t>STUDENT PROFILE</a:t>
            </a:r>
            <a:endParaRPr lang="en-US" sz="1400" dirty="0"/>
          </a:p>
        </p:txBody>
      </p:sp>
      <p:sp>
        <p:nvSpPr>
          <p:cNvPr id="6" name="Shape 4"/>
          <p:cNvSpPr/>
          <p:nvPr/>
        </p:nvSpPr>
        <p:spPr>
          <a:xfrm>
            <a:off x="3223260" y="2157984"/>
            <a:ext cx="201168" cy="201168"/>
          </a:xfrm>
          <a:prstGeom prst="downArrow">
            <a:avLst/>
          </a:prstGeom>
          <a:solidFill>
            <a:srgbClr val="9DBFA8"/>
          </a:solidFill>
          <a:ln w="12700">
            <a:solidFill>
              <a:srgbClr val="9DBFA8"/>
            </a:solidFill>
            <a:prstDash val="solid"/>
          </a:ln>
        </p:spPr>
      </p:sp>
      <p:sp>
        <p:nvSpPr>
          <p:cNvPr id="7" name="Shape 5"/>
          <p:cNvSpPr/>
          <p:nvPr/>
        </p:nvSpPr>
        <p:spPr>
          <a:xfrm>
            <a:off x="9102852" y="2157984"/>
            <a:ext cx="201168" cy="201168"/>
          </a:xfrm>
          <a:prstGeom prst="downArrow">
            <a:avLst/>
          </a:prstGeom>
          <a:solidFill>
            <a:srgbClr val="9DBFA8"/>
          </a:solidFill>
          <a:ln w="12700">
            <a:solidFill>
              <a:srgbClr val="9DBFA8"/>
            </a:solidFill>
            <a:prstDash val="solid"/>
          </a:ln>
        </p:spPr>
      </p:sp>
      <p:sp>
        <p:nvSpPr>
          <p:cNvPr id="8" name="Text 6"/>
          <p:cNvSpPr txBox="1"/>
          <p:nvPr/>
        </p:nvSpPr>
        <p:spPr>
          <a:xfrm>
            <a:off x="566928" y="2487168"/>
            <a:ext cx="5513832" cy="566928"/>
          </a:xfrm>
          <a:prstGeom prst="roundRect">
            <a:avLst>
              <a:gd name="adj" fmla="val 12903"/>
            </a:avLst>
          </a:prstGeom>
          <a:solidFill>
            <a:srgbClr val="EDF3EF"/>
          </a:solidFill>
          <a:ln w="12700">
            <a:solidFill>
              <a:srgbClr val="9DBFA8"/>
            </a:solidFill>
          </a:ln>
        </p:spPr>
        <p:txBody>
          <a:bodyPr wrap="square" lIns="508" tIns="508" rIns="508" bIns="508" rtlCol="0" anchor="ctr"/>
          <a:lstStyle/>
          <a:p>
            <a:pPr algn="ctr" indent="0" marL="0">
              <a:buNone/>
            </a:pPr>
            <a:r>
              <a:rPr lang="en-US" sz="1450" b="1" dirty="0">
                <a:solidFill>
                  <a:srgbClr val="0F5132"/>
                </a:solidFill>
                <a:latin typeface="Calibri" pitchFamily="34" charset="0"/>
                <a:ea typeface="Calibri" pitchFamily="34" charset="-122"/>
                <a:cs typeface="Calibri" pitchFamily="34" charset="-120"/>
              </a:rPr>
              <a:t>Do they qualify?</a:t>
            </a:r>
            <a:endParaRPr lang="en-US" sz="1450" dirty="0"/>
          </a:p>
        </p:txBody>
      </p:sp>
      <p:sp>
        <p:nvSpPr>
          <p:cNvPr id="9" name="Text 7"/>
          <p:cNvSpPr txBox="1"/>
          <p:nvPr/>
        </p:nvSpPr>
        <p:spPr>
          <a:xfrm>
            <a:off x="6446520" y="2487168"/>
            <a:ext cx="5513832" cy="566928"/>
          </a:xfrm>
          <a:prstGeom prst="roundRect">
            <a:avLst>
              <a:gd name="adj" fmla="val 12903"/>
            </a:avLst>
          </a:prstGeom>
          <a:solidFill>
            <a:srgbClr val="EDF3EF"/>
          </a:solidFill>
          <a:ln w="12700">
            <a:solidFill>
              <a:srgbClr val="9DBFA8"/>
            </a:solidFill>
          </a:ln>
        </p:spPr>
        <p:txBody>
          <a:bodyPr wrap="square" lIns="508" tIns="508" rIns="508" bIns="508" rtlCol="0" anchor="ctr"/>
          <a:lstStyle/>
          <a:p>
            <a:pPr algn="ctr" indent="0" marL="0">
              <a:buNone/>
            </a:pPr>
            <a:r>
              <a:rPr lang="en-US" sz="1450" b="1" dirty="0">
                <a:solidFill>
                  <a:srgbClr val="0F5132"/>
                </a:solidFill>
                <a:latin typeface="Calibri" pitchFamily="34" charset="0"/>
                <a:ea typeface="Calibri" pitchFamily="34" charset="-122"/>
                <a:cs typeface="Calibri" pitchFamily="34" charset="-120"/>
              </a:rPr>
              <a:t>How well do they fit?</a:t>
            </a:r>
            <a:endParaRPr lang="en-US" sz="1450" dirty="0"/>
          </a:p>
        </p:txBody>
      </p:sp>
      <p:sp>
        <p:nvSpPr>
          <p:cNvPr id="10" name="Shape 8"/>
          <p:cNvSpPr/>
          <p:nvPr/>
        </p:nvSpPr>
        <p:spPr>
          <a:xfrm>
            <a:off x="3223260" y="3127248"/>
            <a:ext cx="201168" cy="201168"/>
          </a:xfrm>
          <a:prstGeom prst="downArrow">
            <a:avLst/>
          </a:prstGeom>
          <a:solidFill>
            <a:srgbClr val="9DBFA8"/>
          </a:solidFill>
          <a:ln w="12700">
            <a:solidFill>
              <a:srgbClr val="9DBFA8"/>
            </a:solidFill>
            <a:prstDash val="solid"/>
          </a:ln>
        </p:spPr>
      </p:sp>
      <p:sp>
        <p:nvSpPr>
          <p:cNvPr id="11" name="Shape 9"/>
          <p:cNvSpPr/>
          <p:nvPr/>
        </p:nvSpPr>
        <p:spPr>
          <a:xfrm>
            <a:off x="9102852" y="3127248"/>
            <a:ext cx="201168" cy="201168"/>
          </a:xfrm>
          <a:prstGeom prst="downArrow">
            <a:avLst/>
          </a:prstGeom>
          <a:solidFill>
            <a:srgbClr val="9DBFA8"/>
          </a:solidFill>
          <a:ln w="12700">
            <a:solidFill>
              <a:srgbClr val="9DBFA8"/>
            </a:solidFill>
            <a:prstDash val="solid"/>
          </a:ln>
        </p:spPr>
      </p:sp>
      <p:sp>
        <p:nvSpPr>
          <p:cNvPr id="12" name="Text 10"/>
          <p:cNvSpPr txBox="1"/>
          <p:nvPr/>
        </p:nvSpPr>
        <p:spPr>
          <a:xfrm>
            <a:off x="566928" y="3456432"/>
            <a:ext cx="1746504" cy="603504"/>
          </a:xfrm>
          <a:prstGeom prst="roundRect">
            <a:avLst>
              <a:gd name="adj" fmla="val 12121"/>
            </a:avLst>
          </a:prstGeom>
          <a:solidFill>
            <a:srgbClr val="FFFFFF"/>
          </a:solidFill>
          <a:ln w="12700">
            <a:solidFill>
              <a:srgbClr val="9DBFA8"/>
            </a:solidFill>
          </a:ln>
        </p:spPr>
        <p:txBody>
          <a:bodyPr wrap="square" lIns="508" tIns="508" rIns="508" bIns="508" rtlCol="0" anchor="ctr"/>
          <a:lstStyle/>
          <a:p>
            <a:pPr algn="ctr" indent="0" marL="0">
              <a:buNone/>
            </a:pPr>
            <a:r>
              <a:rPr lang="en-US" sz="1150" b="1" dirty="0">
                <a:solidFill>
                  <a:srgbClr val="0F5132"/>
                </a:solidFill>
                <a:latin typeface="Calibri" pitchFamily="34" charset="0"/>
                <a:ea typeface="Calibri" pitchFamily="34" charset="-122"/>
                <a:cs typeface="Calibri" pitchFamily="34" charset="-120"/>
              </a:rPr>
              <a:t>Qualifies</a:t>
            </a:r>
            <a:endParaRPr lang="en-US" sz="1150" dirty="0"/>
          </a:p>
        </p:txBody>
      </p:sp>
      <p:sp>
        <p:nvSpPr>
          <p:cNvPr id="13" name="Text 11"/>
          <p:cNvSpPr txBox="1"/>
          <p:nvPr/>
        </p:nvSpPr>
        <p:spPr>
          <a:xfrm>
            <a:off x="2450592" y="3456432"/>
            <a:ext cx="1746504" cy="603504"/>
          </a:xfrm>
          <a:prstGeom prst="roundRect">
            <a:avLst>
              <a:gd name="adj" fmla="val 12121"/>
            </a:avLst>
          </a:prstGeom>
          <a:solidFill>
            <a:srgbClr val="FFFFFF"/>
          </a:solidFill>
          <a:ln w="12700">
            <a:solidFill>
              <a:srgbClr val="9DBFA8"/>
            </a:solidFill>
          </a:ln>
        </p:spPr>
        <p:txBody>
          <a:bodyPr wrap="square" lIns="508" tIns="508" rIns="508" bIns="508" rtlCol="0" anchor="ctr"/>
          <a:lstStyle/>
          <a:p>
            <a:pPr algn="ctr" indent="0" marL="0">
              <a:buNone/>
            </a:pPr>
            <a:r>
              <a:rPr lang="en-US" sz="1150" b="1" dirty="0">
                <a:solidFill>
                  <a:srgbClr val="0F5132"/>
                </a:solidFill>
                <a:latin typeface="Calibri" pitchFamily="34" charset="0"/>
                <a:ea typeface="Calibri" pitchFamily="34" charset="-122"/>
                <a:cs typeface="Calibri" pitchFamily="34" charset="-120"/>
              </a:rPr>
              <a:t>Does not qualify</a:t>
            </a:r>
            <a:endParaRPr lang="en-US" sz="1150" dirty="0"/>
          </a:p>
        </p:txBody>
      </p:sp>
      <p:sp>
        <p:nvSpPr>
          <p:cNvPr id="14" name="Text 12"/>
          <p:cNvSpPr txBox="1"/>
          <p:nvPr/>
        </p:nvSpPr>
        <p:spPr>
          <a:xfrm>
            <a:off x="4334256" y="3456432"/>
            <a:ext cx="1746504" cy="603504"/>
          </a:xfrm>
          <a:prstGeom prst="roundRect">
            <a:avLst>
              <a:gd name="adj" fmla="val 12121"/>
            </a:avLst>
          </a:prstGeom>
          <a:solidFill>
            <a:srgbClr val="FFFFFF"/>
          </a:solidFill>
          <a:ln w="12700">
            <a:solidFill>
              <a:srgbClr val="9DBFA8"/>
            </a:solidFill>
          </a:ln>
        </p:spPr>
        <p:txBody>
          <a:bodyPr wrap="square" lIns="508" tIns="508" rIns="508" bIns="508" rtlCol="0" anchor="ctr"/>
          <a:lstStyle/>
          <a:p>
            <a:pPr algn="ctr" indent="0" marL="0">
              <a:buNone/>
            </a:pPr>
            <a:r>
              <a:rPr lang="en-US" sz="1150" b="1" dirty="0">
                <a:solidFill>
                  <a:srgbClr val="0F5132"/>
                </a:solidFill>
                <a:latin typeface="Calibri" pitchFamily="34" charset="0"/>
                <a:ea typeface="Calibri" pitchFamily="34" charset="-122"/>
                <a:cs typeface="Calibri" pitchFamily="34" charset="-120"/>
              </a:rPr>
              <a:t>Need more info</a:t>
            </a:r>
            <a:endParaRPr lang="en-US" sz="1150" dirty="0"/>
          </a:p>
        </p:txBody>
      </p:sp>
      <p:sp>
        <p:nvSpPr>
          <p:cNvPr id="15" name="Shape 13"/>
          <p:cNvSpPr/>
          <p:nvPr/>
        </p:nvSpPr>
        <p:spPr>
          <a:xfrm>
            <a:off x="6446520" y="3456432"/>
            <a:ext cx="5513832" cy="603504"/>
          </a:xfrm>
          <a:prstGeom prst="roundRect">
            <a:avLst>
              <a:gd name="adj" fmla="val 12121"/>
            </a:avLst>
          </a:prstGeom>
          <a:solidFill>
            <a:srgbClr val="C08A2E"/>
          </a:solidFill>
          <a:ln w="12700">
            <a:solidFill>
              <a:srgbClr val="C08A2E"/>
            </a:solidFill>
            <a:prstDash val="solid"/>
          </a:ln>
        </p:spPr>
      </p:sp>
      <p:sp>
        <p:nvSpPr>
          <p:cNvPr id="16" name="Text 14"/>
          <p:cNvSpPr txBox="1"/>
          <p:nvPr/>
        </p:nvSpPr>
        <p:spPr>
          <a:xfrm>
            <a:off x="6446520" y="3456432"/>
            <a:ext cx="5513832" cy="603504"/>
          </a:xfrm>
          <a:prstGeom prst="rect">
            <a:avLst/>
          </a:prstGeom>
          <a:noFill/>
          <a:ln/>
        </p:spPr>
        <p:txBody>
          <a:bodyPr wrap="square" lIns="508" tIns="508" rIns="508" bIns="508" rtlCol="0" anchor="ctr"/>
          <a:lstStyle/>
          <a:p>
            <a:pPr algn="ctr" indent="0" marL="0">
              <a:buNone/>
            </a:pPr>
            <a:r>
              <a:rPr lang="en-US" sz="1250" b="1" dirty="0">
                <a:solidFill>
                  <a:srgbClr val="2A1D05"/>
                </a:solidFill>
                <a:latin typeface="Calibri" pitchFamily="34" charset="0"/>
                <a:ea typeface="Calibri" pitchFamily="34" charset="-122"/>
                <a:cs typeface="Calibri" pitchFamily="34" charset="-120"/>
              </a:rPr>
              <a:t>A match score out of 100, with a reason for every rule</a:t>
            </a:r>
            <a:endParaRPr lang="en-US" sz="1250" dirty="0"/>
          </a:p>
        </p:txBody>
      </p:sp>
      <p:sp>
        <p:nvSpPr>
          <p:cNvPr id="17" name="Shape 15"/>
          <p:cNvSpPr/>
          <p:nvPr/>
        </p:nvSpPr>
        <p:spPr>
          <a:xfrm>
            <a:off x="566928" y="4261104"/>
            <a:ext cx="5513832" cy="1371600"/>
          </a:xfrm>
          <a:prstGeom prst="roundRect">
            <a:avLst>
              <a:gd name="adj" fmla="val 6000"/>
            </a:avLst>
          </a:prstGeom>
          <a:solidFill>
            <a:srgbClr val="EDF3EF"/>
          </a:solidFill>
          <a:ln w="12700">
            <a:solidFill>
              <a:srgbClr val="EDF3EF"/>
            </a:solidFill>
            <a:prstDash val="solid"/>
          </a:ln>
        </p:spPr>
      </p:sp>
      <p:sp>
        <p:nvSpPr>
          <p:cNvPr id="18" name="Text 16"/>
          <p:cNvSpPr txBox="1"/>
          <p:nvPr/>
        </p:nvSpPr>
        <p:spPr>
          <a:xfrm>
            <a:off x="804672" y="4425696"/>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When we cannot check a rule</a:t>
            </a:r>
            <a:endParaRPr lang="en-US" sz="1450" dirty="0"/>
          </a:p>
        </p:txBody>
      </p:sp>
      <p:sp>
        <p:nvSpPr>
          <p:cNvPr id="19" name="Text 17"/>
          <p:cNvSpPr txBox="1"/>
          <p:nvPr/>
        </p:nvSpPr>
        <p:spPr>
          <a:xfrm>
            <a:off x="804672" y="4791456"/>
            <a:ext cx="5038344" cy="67665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It still counts towards the score, but only partly</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We say so clearly. We never just mark it as failed</a:t>
            </a:r>
            <a:endParaRPr lang="en-US" sz="1250" dirty="0"/>
          </a:p>
        </p:txBody>
      </p:sp>
      <p:sp>
        <p:nvSpPr>
          <p:cNvPr id="20" name="Shape 18"/>
          <p:cNvSpPr/>
          <p:nvPr/>
        </p:nvSpPr>
        <p:spPr>
          <a:xfrm>
            <a:off x="6446520" y="4261104"/>
            <a:ext cx="5513832" cy="1371600"/>
          </a:xfrm>
          <a:prstGeom prst="roundRect">
            <a:avLst>
              <a:gd name="adj" fmla="val 6000"/>
            </a:avLst>
          </a:prstGeom>
          <a:solidFill>
            <a:srgbClr val="EDF3EF"/>
          </a:solidFill>
          <a:ln w="12700">
            <a:solidFill>
              <a:srgbClr val="EDF3EF"/>
            </a:solidFill>
            <a:prstDash val="solid"/>
          </a:ln>
        </p:spPr>
      </p:sp>
      <p:sp>
        <p:nvSpPr>
          <p:cNvPr id="21" name="Text 19"/>
          <p:cNvSpPr txBox="1"/>
          <p:nvPr/>
        </p:nvSpPr>
        <p:spPr>
          <a:xfrm>
            <a:off x="6684264" y="4425696"/>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What we compare</a:t>
            </a:r>
            <a:endParaRPr lang="en-US" sz="1450" dirty="0"/>
          </a:p>
        </p:txBody>
      </p:sp>
      <p:sp>
        <p:nvSpPr>
          <p:cNvPr id="22" name="Text 20"/>
          <p:cNvSpPr txBox="1"/>
          <p:nvPr/>
        </p:nvSpPr>
        <p:spPr>
          <a:xfrm>
            <a:off x="6684264" y="4791456"/>
            <a:ext cx="5038344" cy="67665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Course · University · Marks</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Subjects needed · Family income · Background</a:t>
            </a:r>
            <a:endParaRPr lang="en-US" sz="1250" dirty="0"/>
          </a:p>
        </p:txBody>
      </p:sp>
      <p:sp>
        <p:nvSpPr>
          <p:cNvPr id="23" name="Shape 21"/>
          <p:cNvSpPr/>
          <p:nvPr/>
        </p:nvSpPr>
        <p:spPr>
          <a:xfrm>
            <a:off x="566928" y="5815584"/>
            <a:ext cx="11027664" cy="566928"/>
          </a:xfrm>
          <a:prstGeom prst="roundRect">
            <a:avLst>
              <a:gd name="adj" fmla="val 12903"/>
            </a:avLst>
          </a:prstGeom>
          <a:solidFill>
            <a:srgbClr val="0B2E24"/>
          </a:solidFill>
          <a:ln w="12700">
            <a:solidFill>
              <a:srgbClr val="0B2E24"/>
            </a:solidFill>
            <a:prstDash val="solid"/>
          </a:ln>
        </p:spPr>
      </p:sp>
      <p:sp>
        <p:nvSpPr>
          <p:cNvPr id="24" name="Text 22"/>
          <p:cNvSpPr txBox="1"/>
          <p:nvPr/>
        </p:nvSpPr>
        <p:spPr>
          <a:xfrm>
            <a:off x="566928" y="5815584"/>
            <a:ext cx="11027664"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A high score does not mean they qualify. We check that separately.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Project Value</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What changes for the people who use it</a:t>
            </a:r>
            <a:endParaRPr lang="en-US" sz="1250" dirty="0"/>
          </a:p>
        </p:txBody>
      </p:sp>
      <p:sp>
        <p:nvSpPr>
          <p:cNvPr id="4" name="Shape 2"/>
          <p:cNvSpPr/>
          <p:nvPr/>
        </p:nvSpPr>
        <p:spPr>
          <a:xfrm>
            <a:off x="566928" y="1298448"/>
            <a:ext cx="5513832" cy="603504"/>
          </a:xfrm>
          <a:prstGeom prst="roundRect">
            <a:avLst>
              <a:gd name="adj" fmla="val 12121"/>
            </a:avLst>
          </a:prstGeom>
          <a:solidFill>
            <a:srgbClr val="0F5132"/>
          </a:solidFill>
          <a:ln w="12700">
            <a:solidFill>
              <a:srgbClr val="0F5132"/>
            </a:solidFill>
            <a:prstDash val="solid"/>
          </a:ln>
        </p:spPr>
      </p:sp>
      <p:sp>
        <p:nvSpPr>
          <p:cNvPr id="5" name="Text 3"/>
          <p:cNvSpPr txBox="1"/>
          <p:nvPr/>
        </p:nvSpPr>
        <p:spPr>
          <a:xfrm>
            <a:off x="566928" y="1298448"/>
            <a:ext cx="5513832" cy="603504"/>
          </a:xfrm>
          <a:prstGeom prst="rect">
            <a:avLst/>
          </a:prstGeom>
          <a:noFill/>
          <a:ln/>
        </p:spPr>
        <p:txBody>
          <a:bodyPr wrap="square" lIns="0" tIns="0" rIns="0" bIns="0" rtlCol="0" anchor="ctr"/>
          <a:lstStyle/>
          <a:p>
            <a:pPr algn="ctr" indent="0" marL="0">
              <a:buNone/>
            </a:pPr>
            <a:r>
              <a:rPr lang="en-US" sz="1400" b="1" spc="120" kern="0" dirty="0">
                <a:solidFill>
                  <a:srgbClr val="FFFFFF"/>
                </a:solidFill>
                <a:latin typeface="Calibri" pitchFamily="34" charset="0"/>
                <a:ea typeface="Calibri" pitchFamily="34" charset="-122"/>
                <a:cs typeface="Calibri" pitchFamily="34" charset="-120"/>
              </a:rPr>
              <a:t>FOR STUDENTS</a:t>
            </a:r>
            <a:endParaRPr lang="en-US" sz="1400" dirty="0"/>
          </a:p>
        </p:txBody>
      </p:sp>
      <p:sp>
        <p:nvSpPr>
          <p:cNvPr id="6" name="Shape 4"/>
          <p:cNvSpPr/>
          <p:nvPr/>
        </p:nvSpPr>
        <p:spPr>
          <a:xfrm>
            <a:off x="6446520" y="1298448"/>
            <a:ext cx="5513832" cy="603504"/>
          </a:xfrm>
          <a:prstGeom prst="roundRect">
            <a:avLst>
              <a:gd name="adj" fmla="val 12121"/>
            </a:avLst>
          </a:prstGeom>
          <a:solidFill>
            <a:srgbClr val="C08A2E"/>
          </a:solidFill>
          <a:ln w="12700">
            <a:solidFill>
              <a:srgbClr val="C08A2E"/>
            </a:solidFill>
            <a:prstDash val="solid"/>
          </a:ln>
        </p:spPr>
      </p:sp>
      <p:sp>
        <p:nvSpPr>
          <p:cNvPr id="7" name="Text 5"/>
          <p:cNvSpPr txBox="1"/>
          <p:nvPr/>
        </p:nvSpPr>
        <p:spPr>
          <a:xfrm>
            <a:off x="6446520" y="1298448"/>
            <a:ext cx="5513832" cy="603504"/>
          </a:xfrm>
          <a:prstGeom prst="rect">
            <a:avLst/>
          </a:prstGeom>
          <a:noFill/>
          <a:ln/>
        </p:spPr>
        <p:txBody>
          <a:bodyPr wrap="square" lIns="0" tIns="0" rIns="0" bIns="0" rtlCol="0" anchor="ctr"/>
          <a:lstStyle/>
          <a:p>
            <a:pPr algn="ctr" indent="0" marL="0">
              <a:buNone/>
            </a:pPr>
            <a:r>
              <a:rPr lang="en-US" sz="1400" b="1" spc="120" kern="0" dirty="0">
                <a:solidFill>
                  <a:srgbClr val="2A1D05"/>
                </a:solidFill>
                <a:latin typeface="Calibri" pitchFamily="34" charset="0"/>
                <a:ea typeface="Calibri" pitchFamily="34" charset="-122"/>
                <a:cs typeface="Calibri" pitchFamily="34" charset="-120"/>
              </a:rPr>
              <a:t>FOR COMPANIES</a:t>
            </a:r>
            <a:endParaRPr lang="en-US" sz="1400" dirty="0"/>
          </a:p>
        </p:txBody>
      </p:sp>
      <p:sp>
        <p:nvSpPr>
          <p:cNvPr id="8" name="Text 6"/>
          <p:cNvSpPr txBox="1"/>
          <p:nvPr/>
        </p:nvSpPr>
        <p:spPr>
          <a:xfrm>
            <a:off x="566928" y="217627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987552" y="2157984"/>
            <a:ext cx="5093208" cy="292608"/>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No more searching</a:t>
            </a:r>
            <a:endParaRPr lang="en-US" sz="1400" dirty="0"/>
          </a:p>
        </p:txBody>
      </p:sp>
      <p:sp>
        <p:nvSpPr>
          <p:cNvPr id="10" name="Text 8"/>
          <p:cNvSpPr txBox="1"/>
          <p:nvPr/>
        </p:nvSpPr>
        <p:spPr>
          <a:xfrm>
            <a:off x="987552" y="2468880"/>
            <a:ext cx="5093208" cy="512064"/>
          </a:xfrm>
          <a:prstGeom prst="rect">
            <a:avLst/>
          </a:prstGeom>
          <a:noFill/>
          <a:ln/>
        </p:spPr>
        <p:txBody>
          <a:bodyPr wrap="square" lIns="0" tIns="0" rIns="0" bIns="0" rtlCol="0" anchor="ctr"/>
          <a:lstStyle/>
          <a:p>
            <a:pPr indent="0" marL="0">
              <a:lnSpc>
                <a:spcPct val="112000"/>
              </a:lnSpc>
              <a:buNone/>
            </a:pPr>
            <a:r>
              <a:rPr lang="en-US" sz="1250" dirty="0">
                <a:solidFill>
                  <a:srgbClr val="5E6B64"/>
                </a:solidFill>
                <a:latin typeface="Calibri" pitchFamily="34" charset="0"/>
                <a:ea typeface="Calibri" pitchFamily="34" charset="-122"/>
                <a:cs typeface="Calibri" pitchFamily="34" charset="-120"/>
              </a:rPr>
              <a:t>The system finds the bursaries that fit them</a:t>
            </a:r>
            <a:endParaRPr lang="en-US" sz="1250" dirty="0"/>
          </a:p>
        </p:txBody>
      </p:sp>
      <p:sp>
        <p:nvSpPr>
          <p:cNvPr id="11" name="Text 9"/>
          <p:cNvSpPr txBox="1"/>
          <p:nvPr/>
        </p:nvSpPr>
        <p:spPr>
          <a:xfrm>
            <a:off x="566928" y="334670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987552" y="3328416"/>
            <a:ext cx="5093208" cy="292608"/>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Details typed once</a:t>
            </a:r>
            <a:endParaRPr lang="en-US" sz="1400" dirty="0"/>
          </a:p>
        </p:txBody>
      </p:sp>
      <p:sp>
        <p:nvSpPr>
          <p:cNvPr id="13" name="Text 11"/>
          <p:cNvSpPr txBox="1"/>
          <p:nvPr/>
        </p:nvSpPr>
        <p:spPr>
          <a:xfrm>
            <a:off x="987552" y="3639312"/>
            <a:ext cx="5093208" cy="512064"/>
          </a:xfrm>
          <a:prstGeom prst="rect">
            <a:avLst/>
          </a:prstGeom>
          <a:noFill/>
          <a:ln/>
        </p:spPr>
        <p:txBody>
          <a:bodyPr wrap="square" lIns="0" tIns="0" rIns="0" bIns="0" rtlCol="0" anchor="ctr"/>
          <a:lstStyle/>
          <a:p>
            <a:pPr indent="0" marL="0">
              <a:lnSpc>
                <a:spcPct val="112000"/>
              </a:lnSpc>
              <a:buNone/>
            </a:pPr>
            <a:r>
              <a:rPr lang="en-US" sz="1250" dirty="0">
                <a:solidFill>
                  <a:srgbClr val="5E6B64"/>
                </a:solidFill>
                <a:latin typeface="Calibri" pitchFamily="34" charset="0"/>
                <a:ea typeface="Calibri" pitchFamily="34" charset="-122"/>
                <a:cs typeface="Calibri" pitchFamily="34" charset="-120"/>
              </a:rPr>
              <a:t>Not again on every single form</a:t>
            </a:r>
            <a:endParaRPr lang="en-US" sz="1250" dirty="0"/>
          </a:p>
        </p:txBody>
      </p:sp>
      <p:sp>
        <p:nvSpPr>
          <p:cNvPr id="14" name="Text 12"/>
          <p:cNvSpPr txBox="1"/>
          <p:nvPr/>
        </p:nvSpPr>
        <p:spPr>
          <a:xfrm>
            <a:off x="566928" y="4517136"/>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987552" y="4498848"/>
            <a:ext cx="5093208" cy="292608"/>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They see the reasons</a:t>
            </a:r>
            <a:endParaRPr lang="en-US" sz="1400" dirty="0"/>
          </a:p>
        </p:txBody>
      </p:sp>
      <p:sp>
        <p:nvSpPr>
          <p:cNvPr id="16" name="Text 14"/>
          <p:cNvSpPr txBox="1"/>
          <p:nvPr/>
        </p:nvSpPr>
        <p:spPr>
          <a:xfrm>
            <a:off x="987552" y="4809744"/>
            <a:ext cx="5093208" cy="512064"/>
          </a:xfrm>
          <a:prstGeom prst="rect">
            <a:avLst/>
          </a:prstGeom>
          <a:noFill/>
          <a:ln/>
        </p:spPr>
        <p:txBody>
          <a:bodyPr wrap="square" lIns="0" tIns="0" rIns="0" bIns="0" rtlCol="0" anchor="ctr"/>
          <a:lstStyle/>
          <a:p>
            <a:pPr indent="0" marL="0">
              <a:lnSpc>
                <a:spcPct val="112000"/>
              </a:lnSpc>
              <a:buNone/>
            </a:pPr>
            <a:r>
              <a:rPr lang="en-US" sz="1250" dirty="0">
                <a:solidFill>
                  <a:srgbClr val="5E6B64"/>
                </a:solidFill>
                <a:latin typeface="Calibri" pitchFamily="34" charset="0"/>
                <a:ea typeface="Calibri" pitchFamily="34" charset="-122"/>
                <a:cs typeface="Calibri" pitchFamily="34" charset="-120"/>
              </a:rPr>
              <a:t>So they know what would improve their chances</a:t>
            </a:r>
            <a:endParaRPr lang="en-US" sz="1250" dirty="0"/>
          </a:p>
        </p:txBody>
      </p:sp>
      <p:sp>
        <p:nvSpPr>
          <p:cNvPr id="17" name="Text 15"/>
          <p:cNvSpPr txBox="1"/>
          <p:nvPr/>
        </p:nvSpPr>
        <p:spPr>
          <a:xfrm>
            <a:off x="6446520" y="217627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6"/>
          <p:cNvSpPr txBox="1"/>
          <p:nvPr/>
        </p:nvSpPr>
        <p:spPr>
          <a:xfrm>
            <a:off x="6867144" y="2157984"/>
            <a:ext cx="5093208" cy="292608"/>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Clear rules</a:t>
            </a:r>
            <a:endParaRPr lang="en-US" sz="1400" dirty="0"/>
          </a:p>
        </p:txBody>
      </p:sp>
      <p:sp>
        <p:nvSpPr>
          <p:cNvPr id="19" name="Text 17"/>
          <p:cNvSpPr txBox="1"/>
          <p:nvPr/>
        </p:nvSpPr>
        <p:spPr>
          <a:xfrm>
            <a:off x="6867144" y="2468880"/>
            <a:ext cx="5093208" cy="512064"/>
          </a:xfrm>
          <a:prstGeom prst="rect">
            <a:avLst/>
          </a:prstGeom>
          <a:noFill/>
          <a:ln/>
        </p:spPr>
        <p:txBody>
          <a:bodyPr wrap="square" lIns="0" tIns="0" rIns="0" bIns="0" rtlCol="0" anchor="ctr"/>
          <a:lstStyle/>
          <a:p>
            <a:pPr indent="0" marL="0">
              <a:lnSpc>
                <a:spcPct val="112000"/>
              </a:lnSpc>
              <a:buNone/>
            </a:pPr>
            <a:r>
              <a:rPr lang="en-US" sz="1250" dirty="0">
                <a:solidFill>
                  <a:srgbClr val="5E6B64"/>
                </a:solidFill>
                <a:latin typeface="Calibri" pitchFamily="34" charset="0"/>
                <a:ea typeface="Calibri" pitchFamily="34" charset="-122"/>
                <a:cs typeface="Calibri" pitchFamily="34" charset="-120"/>
              </a:rPr>
              <a:t>Set the requirements once, in boxes</a:t>
            </a:r>
            <a:endParaRPr lang="en-US" sz="1250" dirty="0"/>
          </a:p>
        </p:txBody>
      </p:sp>
      <p:sp>
        <p:nvSpPr>
          <p:cNvPr id="20" name="Text 18"/>
          <p:cNvSpPr txBox="1"/>
          <p:nvPr/>
        </p:nvSpPr>
        <p:spPr>
          <a:xfrm>
            <a:off x="6446520" y="334670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1" name="Text 19"/>
          <p:cNvSpPr txBox="1"/>
          <p:nvPr/>
        </p:nvSpPr>
        <p:spPr>
          <a:xfrm>
            <a:off x="6867144" y="3328416"/>
            <a:ext cx="5093208" cy="292608"/>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Applications arrive sorted</a:t>
            </a:r>
            <a:endParaRPr lang="en-US" sz="1400" dirty="0"/>
          </a:p>
        </p:txBody>
      </p:sp>
      <p:sp>
        <p:nvSpPr>
          <p:cNvPr id="22" name="Text 20"/>
          <p:cNvSpPr txBox="1"/>
          <p:nvPr/>
        </p:nvSpPr>
        <p:spPr>
          <a:xfrm>
            <a:off x="6867144" y="3639312"/>
            <a:ext cx="5093208" cy="512064"/>
          </a:xfrm>
          <a:prstGeom prst="rect">
            <a:avLst/>
          </a:prstGeom>
          <a:noFill/>
          <a:ln/>
        </p:spPr>
        <p:txBody>
          <a:bodyPr wrap="square" lIns="0" tIns="0" rIns="0" bIns="0" rtlCol="0" anchor="ctr"/>
          <a:lstStyle/>
          <a:p>
            <a:pPr indent="0" marL="0">
              <a:lnSpc>
                <a:spcPct val="112000"/>
              </a:lnSpc>
              <a:buNone/>
            </a:pPr>
            <a:r>
              <a:rPr lang="en-US" sz="1250" dirty="0">
                <a:solidFill>
                  <a:srgbClr val="5E6B64"/>
                </a:solidFill>
                <a:latin typeface="Calibri" pitchFamily="34" charset="0"/>
                <a:ea typeface="Calibri" pitchFamily="34" charset="-122"/>
                <a:cs typeface="Calibri" pitchFamily="34" charset="-120"/>
              </a:rPr>
              <a:t>Already checked against their own rules</a:t>
            </a:r>
            <a:endParaRPr lang="en-US" sz="1250" dirty="0"/>
          </a:p>
        </p:txBody>
      </p:sp>
      <p:sp>
        <p:nvSpPr>
          <p:cNvPr id="23" name="Text 21"/>
          <p:cNvSpPr txBox="1"/>
          <p:nvPr/>
        </p:nvSpPr>
        <p:spPr>
          <a:xfrm>
            <a:off x="6446520" y="4517136"/>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4" name="Text 22"/>
          <p:cNvSpPr txBox="1"/>
          <p:nvPr/>
        </p:nvSpPr>
        <p:spPr>
          <a:xfrm>
            <a:off x="6867144" y="4498848"/>
            <a:ext cx="5093208" cy="292608"/>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Every step recorded</a:t>
            </a:r>
            <a:endParaRPr lang="en-US" sz="1400" dirty="0"/>
          </a:p>
        </p:txBody>
      </p:sp>
      <p:sp>
        <p:nvSpPr>
          <p:cNvPr id="25" name="Text 23"/>
          <p:cNvSpPr txBox="1"/>
          <p:nvPr/>
        </p:nvSpPr>
        <p:spPr>
          <a:xfrm>
            <a:off x="6867144" y="4809744"/>
            <a:ext cx="5093208" cy="512064"/>
          </a:xfrm>
          <a:prstGeom prst="rect">
            <a:avLst/>
          </a:prstGeom>
          <a:noFill/>
          <a:ln/>
        </p:spPr>
        <p:txBody>
          <a:bodyPr wrap="square" lIns="0" tIns="0" rIns="0" bIns="0" rtlCol="0" anchor="ctr"/>
          <a:lstStyle/>
          <a:p>
            <a:pPr indent="0" marL="0">
              <a:lnSpc>
                <a:spcPct val="112000"/>
              </a:lnSpc>
              <a:buNone/>
            </a:pPr>
            <a:r>
              <a:rPr lang="en-US" sz="1250" dirty="0">
                <a:solidFill>
                  <a:srgbClr val="5E6B64"/>
                </a:solidFill>
                <a:latin typeface="Calibri" pitchFamily="34" charset="0"/>
                <a:ea typeface="Calibri" pitchFamily="34" charset="-122"/>
                <a:cs typeface="Calibri" pitchFamily="34" charset="-120"/>
              </a:rPr>
              <a:t>They can show why each decision was made</a:t>
            </a:r>
            <a:endParaRPr lang="en-US" sz="1250" dirty="0"/>
          </a:p>
        </p:txBody>
      </p:sp>
      <p:sp>
        <p:nvSpPr>
          <p:cNvPr id="26" name="Shape 24"/>
          <p:cNvSpPr/>
          <p:nvPr/>
        </p:nvSpPr>
        <p:spPr>
          <a:xfrm>
            <a:off x="566928" y="5705856"/>
            <a:ext cx="11027664" cy="658368"/>
          </a:xfrm>
          <a:prstGeom prst="roundRect">
            <a:avLst>
              <a:gd name="adj" fmla="val 11111"/>
            </a:avLst>
          </a:prstGeom>
          <a:solidFill>
            <a:srgbClr val="EDF3EF"/>
          </a:solidFill>
          <a:ln w="12700">
            <a:solidFill>
              <a:srgbClr val="EDF3EF"/>
            </a:solidFill>
            <a:prstDash val="solid"/>
          </a:ln>
        </p:spPr>
      </p:sp>
      <p:sp>
        <p:nvSpPr>
          <p:cNvPr id="27" name="Text 25"/>
          <p:cNvSpPr txBox="1"/>
          <p:nvPr/>
        </p:nvSpPr>
        <p:spPr>
          <a:xfrm>
            <a:off x="566928" y="5705856"/>
            <a:ext cx="11027664" cy="658368"/>
          </a:xfrm>
          <a:prstGeom prst="rect">
            <a:avLst/>
          </a:prstGeom>
          <a:noFill/>
          <a:ln/>
        </p:spPr>
        <p:txBody>
          <a:bodyPr wrap="square" lIns="0" tIns="0" rIns="0" bIns="0" rtlCol="0" anchor="ctr"/>
          <a:lstStyle/>
          <a:p>
            <a:pPr algn="ctr" indent="0" marL="0">
              <a:buNone/>
            </a:pPr>
            <a:r>
              <a:rPr lang="en-US" sz="1300" b="1" dirty="0">
                <a:solidFill>
                  <a:srgbClr val="0F5132"/>
                </a:solidFill>
                <a:latin typeface="Calibri" pitchFamily="34" charset="0"/>
                <a:ea typeface="Calibri" pitchFamily="34" charset="-122"/>
                <a:cs typeface="Calibri" pitchFamily="34" charset="-120"/>
              </a:rPr>
              <a:t>Telling a student why they scored what they did is something the current way never gives back.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2E24"/>
        </a:solidFill>
      </p:bgPr>
    </p:bg>
    <p:spTree>
      <p:nvGrpSpPr>
        <p:cNvPr id="1" name=""/>
        <p:cNvGrpSpPr/>
        <p:nvPr/>
      </p:nvGrpSpPr>
      <p:grpSpPr>
        <a:xfrm>
          <a:off x="0" y="0"/>
          <a:ext cx="0" cy="0"/>
          <a:chOff x="0" y="0"/>
          <a:chExt cx="0" cy="0"/>
        </a:xfrm>
      </p:grpSpPr>
      <p:sp>
        <p:nvSpPr>
          <p:cNvPr id="2" name="Text 0"/>
          <p:cNvSpPr txBox="1"/>
          <p:nvPr/>
        </p:nvSpPr>
        <p:spPr>
          <a:xfrm>
            <a:off x="566928" y="658368"/>
            <a:ext cx="11027664" cy="73152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Now let us show you the system</a:t>
            </a:r>
            <a:endParaRPr lang="en-US" sz="3100" dirty="0"/>
          </a:p>
        </p:txBody>
      </p:sp>
      <p:sp>
        <p:nvSpPr>
          <p:cNvPr id="3" name="Shape 1"/>
          <p:cNvSpPr/>
          <p:nvPr/>
        </p:nvSpPr>
        <p:spPr>
          <a:xfrm>
            <a:off x="566928" y="1828800"/>
            <a:ext cx="3602736" cy="2286000"/>
          </a:xfrm>
          <a:prstGeom prst="roundRect">
            <a:avLst>
              <a:gd name="adj" fmla="val 3600"/>
            </a:avLst>
          </a:prstGeom>
          <a:solidFill>
            <a:srgbClr val="123A2D"/>
          </a:solidFill>
          <a:ln w="12700">
            <a:solidFill>
              <a:srgbClr val="123A2D"/>
            </a:solidFill>
            <a:prstDash val="solid"/>
          </a:ln>
        </p:spPr>
      </p:sp>
      <p:sp>
        <p:nvSpPr>
          <p:cNvPr id="4" name="Text 2"/>
          <p:cNvSpPr txBox="1"/>
          <p:nvPr/>
        </p:nvSpPr>
        <p:spPr>
          <a:xfrm>
            <a:off x="822960" y="2066544"/>
            <a:ext cx="3090672" cy="292608"/>
          </a:xfrm>
          <a:prstGeom prst="rect">
            <a:avLst/>
          </a:prstGeom>
          <a:noFill/>
          <a:ln/>
        </p:spPr>
        <p:txBody>
          <a:bodyPr wrap="square" lIns="0" tIns="0" rIns="0" bIns="0" rtlCol="0" anchor="ctr"/>
          <a:lstStyle/>
          <a:p>
            <a:pPr indent="0" marL="0">
              <a:buNone/>
            </a:pPr>
            <a:r>
              <a:rPr lang="en-US" sz="1200" b="1" spc="120" kern="0" dirty="0">
                <a:solidFill>
                  <a:srgbClr val="C08A2E"/>
                </a:solidFill>
                <a:latin typeface="Calibri" pitchFamily="34" charset="0"/>
                <a:ea typeface="Calibri" pitchFamily="34" charset="-122"/>
                <a:cs typeface="Calibri" pitchFamily="34" charset="-120"/>
              </a:rPr>
              <a:t>THE PROBLEM</a:t>
            </a:r>
            <a:endParaRPr lang="en-US" sz="1200" dirty="0"/>
          </a:p>
        </p:txBody>
      </p:sp>
      <p:sp>
        <p:nvSpPr>
          <p:cNvPr id="5" name="Text 3"/>
          <p:cNvSpPr txBox="1"/>
          <p:nvPr/>
        </p:nvSpPr>
        <p:spPr>
          <a:xfrm>
            <a:off x="822960" y="2450592"/>
            <a:ext cx="3090672" cy="14630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Finding and applying for bursaries is scattered and done by hand, for students and companies alike.</a:t>
            </a:r>
            <a:endParaRPr lang="en-US" sz="1300" dirty="0"/>
          </a:p>
        </p:txBody>
      </p:sp>
      <p:sp>
        <p:nvSpPr>
          <p:cNvPr id="6" name="Shape 4"/>
          <p:cNvSpPr/>
          <p:nvPr/>
        </p:nvSpPr>
        <p:spPr>
          <a:xfrm>
            <a:off x="4434840" y="1828800"/>
            <a:ext cx="3602736" cy="2286000"/>
          </a:xfrm>
          <a:prstGeom prst="roundRect">
            <a:avLst>
              <a:gd name="adj" fmla="val 3600"/>
            </a:avLst>
          </a:prstGeom>
          <a:solidFill>
            <a:srgbClr val="123A2D"/>
          </a:solidFill>
          <a:ln w="12700">
            <a:solidFill>
              <a:srgbClr val="123A2D"/>
            </a:solidFill>
            <a:prstDash val="solid"/>
          </a:ln>
        </p:spPr>
      </p:sp>
      <p:sp>
        <p:nvSpPr>
          <p:cNvPr id="7" name="Text 5"/>
          <p:cNvSpPr txBox="1"/>
          <p:nvPr/>
        </p:nvSpPr>
        <p:spPr>
          <a:xfrm>
            <a:off x="4690872" y="2066544"/>
            <a:ext cx="3090672" cy="292608"/>
          </a:xfrm>
          <a:prstGeom prst="rect">
            <a:avLst/>
          </a:prstGeom>
          <a:noFill/>
          <a:ln/>
        </p:spPr>
        <p:txBody>
          <a:bodyPr wrap="square" lIns="0" tIns="0" rIns="0" bIns="0" rtlCol="0" anchor="ctr"/>
          <a:lstStyle/>
          <a:p>
            <a:pPr indent="0" marL="0">
              <a:buNone/>
            </a:pPr>
            <a:r>
              <a:rPr lang="en-US" sz="1200" b="1" spc="120" kern="0" dirty="0">
                <a:solidFill>
                  <a:srgbClr val="C08A2E"/>
                </a:solidFill>
                <a:latin typeface="Calibri" pitchFamily="34" charset="0"/>
                <a:ea typeface="Calibri" pitchFamily="34" charset="-122"/>
                <a:cs typeface="Calibri" pitchFamily="34" charset="-120"/>
              </a:rPr>
              <a:t>OUR SOLUTION</a:t>
            </a:r>
            <a:endParaRPr lang="en-US" sz="1200" dirty="0"/>
          </a:p>
        </p:txBody>
      </p:sp>
      <p:sp>
        <p:nvSpPr>
          <p:cNvPr id="8" name="Text 6"/>
          <p:cNvSpPr txBox="1"/>
          <p:nvPr/>
        </p:nvSpPr>
        <p:spPr>
          <a:xfrm>
            <a:off x="4690872" y="2450592"/>
            <a:ext cx="3090672" cy="14630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Bursary rules stored as data, student details stored once, and the two matched together, with reasons.</a:t>
            </a:r>
            <a:endParaRPr lang="en-US" sz="1300" dirty="0"/>
          </a:p>
        </p:txBody>
      </p:sp>
      <p:sp>
        <p:nvSpPr>
          <p:cNvPr id="9" name="Shape 7"/>
          <p:cNvSpPr/>
          <p:nvPr/>
        </p:nvSpPr>
        <p:spPr>
          <a:xfrm>
            <a:off x="8302752" y="1828800"/>
            <a:ext cx="3602736" cy="2286000"/>
          </a:xfrm>
          <a:prstGeom prst="roundRect">
            <a:avLst>
              <a:gd name="adj" fmla="val 3600"/>
            </a:avLst>
          </a:prstGeom>
          <a:solidFill>
            <a:srgbClr val="123A2D"/>
          </a:solidFill>
          <a:ln w="12700">
            <a:solidFill>
              <a:srgbClr val="123A2D"/>
            </a:solidFill>
            <a:prstDash val="solid"/>
          </a:ln>
        </p:spPr>
      </p:sp>
      <p:sp>
        <p:nvSpPr>
          <p:cNvPr id="10" name="Text 8"/>
          <p:cNvSpPr txBox="1"/>
          <p:nvPr/>
        </p:nvSpPr>
        <p:spPr>
          <a:xfrm>
            <a:off x="8558784" y="2066544"/>
            <a:ext cx="3090672" cy="292608"/>
          </a:xfrm>
          <a:prstGeom prst="rect">
            <a:avLst/>
          </a:prstGeom>
          <a:noFill/>
          <a:ln/>
        </p:spPr>
        <p:txBody>
          <a:bodyPr wrap="square" lIns="0" tIns="0" rIns="0" bIns="0" rtlCol="0" anchor="ctr"/>
          <a:lstStyle/>
          <a:p>
            <a:pPr indent="0" marL="0">
              <a:buNone/>
            </a:pPr>
            <a:r>
              <a:rPr lang="en-US" sz="1200" b="1" spc="120" kern="0" dirty="0">
                <a:solidFill>
                  <a:srgbClr val="C08A2E"/>
                </a:solidFill>
                <a:latin typeface="Calibri" pitchFamily="34" charset="0"/>
                <a:ea typeface="Calibri" pitchFamily="34" charset="-122"/>
                <a:cs typeface="Calibri" pitchFamily="34" charset="-120"/>
              </a:rPr>
              <a:t>THE DEMO</a:t>
            </a:r>
            <a:endParaRPr lang="en-US" sz="1200" dirty="0"/>
          </a:p>
        </p:txBody>
      </p:sp>
      <p:sp>
        <p:nvSpPr>
          <p:cNvPr id="11" name="Text 9"/>
          <p:cNvSpPr txBox="1"/>
          <p:nvPr/>
        </p:nvSpPr>
        <p:spPr>
          <a:xfrm>
            <a:off x="8558784" y="2450592"/>
            <a:ext cx="3090672" cy="14630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 student finding and applying for a bursary, and a company reviewing and choosing.</a:t>
            </a:r>
            <a:endParaRPr lang="en-US" sz="1300" dirty="0"/>
          </a:p>
        </p:txBody>
      </p:sp>
      <p:sp>
        <p:nvSpPr>
          <p:cNvPr id="12" name="Text 10"/>
          <p:cNvSpPr txBox="1"/>
          <p:nvPr/>
        </p:nvSpPr>
        <p:spPr>
          <a:xfrm>
            <a:off x="566928" y="4754880"/>
            <a:ext cx="11027664"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Thank you</a:t>
            </a:r>
            <a:endParaRPr lang="en-US" sz="2800" dirty="0"/>
          </a:p>
        </p:txBody>
      </p:sp>
      <p:sp>
        <p:nvSpPr>
          <p:cNvPr id="13" name="Text 11"/>
          <p:cNvSpPr txBox="1"/>
          <p:nvPr/>
        </p:nvSpPr>
        <p:spPr>
          <a:xfrm>
            <a:off x="566928" y="5413248"/>
            <a:ext cx="11027664" cy="310896"/>
          </a:xfrm>
          <a:prstGeom prst="rect">
            <a:avLst/>
          </a:prstGeom>
          <a:noFill/>
          <a:ln/>
        </p:spPr>
        <p:txBody>
          <a:bodyPr wrap="square" lIns="0" tIns="0" rIns="0" bIns="0" rtlCol="0" anchor="ctr"/>
          <a:lstStyle/>
          <a:p>
            <a:pPr indent="0" marL="0">
              <a:buNone/>
            </a:pPr>
            <a:r>
              <a:rPr lang="en-US" sz="1300" dirty="0">
                <a:solidFill>
                  <a:srgbClr val="9DBFA8"/>
                </a:solidFill>
                <a:latin typeface="Calibri" pitchFamily="34" charset="0"/>
                <a:ea typeface="Calibri" pitchFamily="34" charset="-122"/>
                <a:cs typeface="Calibri" pitchFamily="34" charset="-120"/>
              </a:rPr>
              <a:t>Group 25  ·  Supervisor: Ms Zulu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Bursary-Bridge</dc:title>
  <dc:subject>PptxGenJS Presentation</dc:subject>
  <dc:creator>Group 25</dc:creator>
  <cp:lastModifiedBy>Group 25</cp:lastModifiedBy>
  <cp:revision>1</cp:revision>
  <dcterms:created xsi:type="dcterms:W3CDTF">2026-09-30T06:25:53Z</dcterms:created>
  <dcterms:modified xsi:type="dcterms:W3CDTF">2026-09-30T06:25:53Z</dcterms:modified>
</cp:coreProperties>
</file>